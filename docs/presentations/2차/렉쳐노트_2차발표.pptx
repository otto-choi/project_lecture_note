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65" r:id="rId4"/>
    <p:sldId id="266" r:id="rId5"/>
    <p:sldId id="258" r:id="rId6"/>
    <p:sldId id="259" r:id="rId7"/>
    <p:sldId id="260" r:id="rId8"/>
    <p:sldId id="261" r:id="rId9"/>
    <p:sldId id="264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99" autoAdjust="0"/>
    <p:restoredTop sz="94610"/>
  </p:normalViewPr>
  <p:slideViewPr>
    <p:cSldViewPr snapToGrid="0" snapToObjects="1">
      <p:cViewPr>
        <p:scale>
          <a:sx n="100" d="100"/>
          <a:sy n="100" d="100"/>
        </p:scale>
        <p:origin x="970" y="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74755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707572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1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Relationship Id="rId9" Type="http://schemas.openxmlformats.org/officeDocument/2006/relationships/image" Target="../media/image1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D5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4A90C4"/>
          </a:solidFill>
          <a:ln w="12700">
            <a:solidFill>
              <a:srgbClr val="4A90C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65760" y="27432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5B9BD5"/>
                </a:solidFill>
              </a:rPr>
              <a:t>경영전략 팀 프로젝트 | 9팀 | 2차 발표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365760" y="100584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200" b="1" kern="0" spc="200" dirty="0">
                <a:solidFill>
                  <a:srgbClr val="FFFFFF"/>
                </a:solidFill>
              </a:rPr>
              <a:t>LectureNote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365760" y="178308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dirty="0">
                <a:solidFill>
                  <a:srgbClr val="5B9BD5"/>
                </a:solidFill>
              </a:rPr>
              <a:t>렉쳐노트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65760" y="2423160"/>
            <a:ext cx="4114800" cy="36576"/>
          </a:xfrm>
          <a:prstGeom prst="rect">
            <a:avLst/>
          </a:prstGeom>
          <a:solidFill>
            <a:srgbClr val="4A90C4"/>
          </a:solidFill>
          <a:ln w="12700">
            <a:solidFill>
              <a:srgbClr val="4A90C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365760" y="2560320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i="1" dirty="0">
                <a:solidFill>
                  <a:srgbClr val="CADCFC"/>
                </a:solidFill>
              </a:rPr>
              <a:t>녹음, 자료, 필기를 하나로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365760" y="297180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8090B0"/>
                </a:solidFill>
              </a:rPr>
              <a:t>시스템 설계 및 현실성 검증 보고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0" y="4480560"/>
            <a:ext cx="9144000" cy="662940"/>
          </a:xfrm>
          <a:prstGeom prst="rect">
            <a:avLst/>
          </a:prstGeom>
          <a:solidFill>
            <a:srgbClr val="152040"/>
          </a:solidFill>
          <a:ln w="12700">
            <a:solidFill>
              <a:srgbClr val="15204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365760" y="452628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8090B0"/>
                </a:solidFill>
              </a:rPr>
              <a:t>팀장: </a:t>
            </a:r>
            <a:r>
              <a:rPr lang="en-US" sz="1300" dirty="0" err="1">
                <a:solidFill>
                  <a:srgbClr val="8090B0"/>
                </a:solidFill>
              </a:rPr>
              <a:t>이병헌</a:t>
            </a:r>
            <a:r>
              <a:rPr lang="en-US" sz="1300" dirty="0">
                <a:solidFill>
                  <a:srgbClr val="8090B0"/>
                </a:solidFill>
              </a:rPr>
              <a:t>(20204163)  |  팀원: </a:t>
            </a:r>
            <a:r>
              <a:rPr lang="ko-KR" altLang="en-US" sz="1300" dirty="0" err="1">
                <a:solidFill>
                  <a:srgbClr val="8090B0"/>
                </a:solidFill>
              </a:rPr>
              <a:t>김도환</a:t>
            </a:r>
            <a:r>
              <a:rPr lang="en-US" altLang="ko-KR" sz="1300" dirty="0">
                <a:solidFill>
                  <a:srgbClr val="8090B0"/>
                </a:solidFill>
              </a:rPr>
              <a:t>(20214464)</a:t>
            </a:r>
            <a:r>
              <a:rPr lang="en-US" sz="1300" dirty="0">
                <a:solidFill>
                  <a:srgbClr val="8090B0"/>
                </a:solidFill>
              </a:rPr>
              <a:t>  |  팀원: </a:t>
            </a:r>
            <a:r>
              <a:rPr lang="ko-KR" altLang="en-US" sz="1300" dirty="0" err="1">
                <a:solidFill>
                  <a:srgbClr val="8090B0"/>
                </a:solidFill>
              </a:rPr>
              <a:t>최철원</a:t>
            </a:r>
            <a:r>
              <a:rPr lang="en-US" altLang="ko-KR" sz="1300" dirty="0">
                <a:solidFill>
                  <a:srgbClr val="8090B0"/>
                </a:solidFill>
              </a:rPr>
              <a:t>(20236563)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D5A"/>
          </a:solidFill>
          <a:ln w="12700">
            <a:solidFill>
              <a:srgbClr val="1E2D5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</a:rPr>
              <a:t>1차 발표 Recap + 이번 발표 목표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4023360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274320" y="868680"/>
            <a:ext cx="4023360" cy="411480"/>
          </a:xfrm>
          <a:prstGeom prst="rect">
            <a:avLst/>
          </a:prstGeom>
          <a:solidFill>
            <a:srgbClr val="2A3F7E"/>
          </a:solidFill>
          <a:ln w="12700">
            <a:solidFill>
              <a:srgbClr val="2A3F7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320040" y="86868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1차 발표 요약</a:t>
            </a:r>
            <a:endParaRPr lang="en-US" sz="13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508760"/>
            <a:ext cx="320040" cy="3200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14173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A2340"/>
                </a:solidFill>
              </a:rPr>
              <a:t>흐름을 놓친다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914400" y="173736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090B0"/>
                </a:solidFill>
              </a:rPr>
              <a:t>빠른 강의 속도로 필기와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8090B0"/>
                </a:solidFill>
              </a:rPr>
              <a:t>집중을 동시에 하기 어려움</a:t>
            </a:r>
            <a:endParaRPr lang="en-US" sz="100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2423160"/>
            <a:ext cx="320040" cy="32004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914400" y="23317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A2340"/>
                </a:solidFill>
              </a:rPr>
              <a:t>자료가 따로 논다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914400" y="265176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090B0"/>
                </a:solidFill>
              </a:rPr>
              <a:t>녹음·PPT·필기가 흩어져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8090B0"/>
                </a:solidFill>
              </a:rPr>
              <a:t>통합 정리가 불가능</a:t>
            </a:r>
            <a:endParaRPr lang="en-US" sz="1000" dirty="0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" y="3337560"/>
            <a:ext cx="320040" cy="32004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914400" y="32461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A2340"/>
                </a:solidFill>
              </a:rPr>
              <a:t>복습 노트가 없다</a:t>
            </a:r>
            <a:endParaRPr lang="en-US" sz="1200" dirty="0"/>
          </a:p>
        </p:txBody>
      </p:sp>
      <p:sp>
        <p:nvSpPr>
          <p:cNvPr id="15" name="Text 10"/>
          <p:cNvSpPr/>
          <p:nvPr/>
        </p:nvSpPr>
        <p:spPr>
          <a:xfrm>
            <a:off x="914400" y="356616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090B0"/>
                </a:solidFill>
              </a:rPr>
              <a:t>구조화된 요약본 없이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8090B0"/>
                </a:solidFill>
              </a:rPr>
              <a:t>매번 처음부터 정리</a:t>
            </a:r>
            <a:endParaRPr lang="en-US" sz="1000" dirty="0"/>
          </a:p>
        </p:txBody>
      </p:sp>
      <p:sp>
        <p:nvSpPr>
          <p:cNvPr id="16" name="Shape 11"/>
          <p:cNvSpPr/>
          <p:nvPr/>
        </p:nvSpPr>
        <p:spPr>
          <a:xfrm>
            <a:off x="274320" y="4297680"/>
            <a:ext cx="4023360" cy="411480"/>
          </a:xfrm>
          <a:prstGeom prst="rect">
            <a:avLst/>
          </a:prstGeom>
          <a:solidFill>
            <a:srgbClr val="F4F6FA"/>
          </a:solidFill>
          <a:ln w="12700">
            <a:solidFill>
              <a:srgbClr val="E8ECF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2"/>
          <p:cNvSpPr/>
          <p:nvPr/>
        </p:nvSpPr>
        <p:spPr>
          <a:xfrm>
            <a:off x="320040" y="429768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A3F7E"/>
                </a:solidFill>
              </a:rPr>
              <a:t>STT + PDF + 필기 → LLM → 구조화 노트</a:t>
            </a:r>
            <a:endParaRPr lang="en-US" sz="1050" dirty="0"/>
          </a:p>
        </p:txBody>
      </p:sp>
      <p:sp>
        <p:nvSpPr>
          <p:cNvPr id="18" name="Shape 13"/>
          <p:cNvSpPr/>
          <p:nvPr/>
        </p:nvSpPr>
        <p:spPr>
          <a:xfrm>
            <a:off x="4846320" y="868680"/>
            <a:ext cx="4023360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4"/>
          <p:cNvSpPr/>
          <p:nvPr/>
        </p:nvSpPr>
        <p:spPr>
          <a:xfrm>
            <a:off x="4846320" y="868680"/>
            <a:ext cx="4023360" cy="411480"/>
          </a:xfrm>
          <a:prstGeom prst="rect">
            <a:avLst/>
          </a:prstGeom>
          <a:solidFill>
            <a:srgbClr val="4A90C4"/>
          </a:solidFill>
          <a:ln w="12700">
            <a:solidFill>
              <a:srgbClr val="4A90C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5"/>
          <p:cNvSpPr/>
          <p:nvPr/>
        </p:nvSpPr>
        <p:spPr>
          <a:xfrm>
            <a:off x="4892040" y="86868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2차 발표에서 답할 질문</a:t>
            </a:r>
            <a:endParaRPr lang="en-US" sz="1300" dirty="0"/>
          </a:p>
        </p:txBody>
      </p:sp>
      <p:sp>
        <p:nvSpPr>
          <p:cNvPr id="21" name="Shape 16"/>
          <p:cNvSpPr/>
          <p:nvPr/>
        </p:nvSpPr>
        <p:spPr>
          <a:xfrm>
            <a:off x="5029200" y="1463040"/>
            <a:ext cx="3657600" cy="804672"/>
          </a:xfrm>
          <a:prstGeom prst="rect">
            <a:avLst/>
          </a:prstGeom>
          <a:solidFill>
            <a:srgbClr val="F4F6FA"/>
          </a:solidFill>
          <a:ln w="12700">
            <a:solidFill>
              <a:srgbClr val="E8ECF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17"/>
          <p:cNvSpPr/>
          <p:nvPr/>
        </p:nvSpPr>
        <p:spPr>
          <a:xfrm>
            <a:off x="5120640" y="15087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A2340"/>
                </a:solidFill>
              </a:rPr>
              <a:t>실제로 어떻게 만드나?</a:t>
            </a:r>
            <a:endParaRPr lang="en-US" sz="1200" dirty="0"/>
          </a:p>
        </p:txBody>
      </p:sp>
      <p:sp>
        <p:nvSpPr>
          <p:cNvPr id="23" name="Text 18"/>
          <p:cNvSpPr/>
          <p:nvPr/>
        </p:nvSpPr>
        <p:spPr>
          <a:xfrm>
            <a:off x="5120640" y="1847088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A90C4"/>
                </a:solidFill>
              </a:rPr>
              <a:t>→ 시스템 아키텍처 상세 설계</a:t>
            </a:r>
            <a:endParaRPr lang="en-US" sz="1100" dirty="0"/>
          </a:p>
        </p:txBody>
      </p:sp>
      <p:sp>
        <p:nvSpPr>
          <p:cNvPr id="24" name="Shape 19"/>
          <p:cNvSpPr/>
          <p:nvPr/>
        </p:nvSpPr>
        <p:spPr>
          <a:xfrm>
            <a:off x="5029200" y="2468880"/>
            <a:ext cx="3657600" cy="804672"/>
          </a:xfrm>
          <a:prstGeom prst="rect">
            <a:avLst/>
          </a:prstGeom>
          <a:solidFill>
            <a:srgbClr val="F4F6FA"/>
          </a:solidFill>
          <a:ln w="12700">
            <a:solidFill>
              <a:srgbClr val="E8ECF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0"/>
          <p:cNvSpPr/>
          <p:nvPr/>
        </p:nvSpPr>
        <p:spPr>
          <a:xfrm>
            <a:off x="5120640" y="251460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A2340"/>
                </a:solidFill>
              </a:rPr>
              <a:t>비용이 현실적인가?</a:t>
            </a:r>
            <a:endParaRPr lang="en-US" sz="1200" dirty="0"/>
          </a:p>
        </p:txBody>
      </p:sp>
      <p:sp>
        <p:nvSpPr>
          <p:cNvPr id="26" name="Text 21"/>
          <p:cNvSpPr/>
          <p:nvPr/>
        </p:nvSpPr>
        <p:spPr>
          <a:xfrm>
            <a:off x="5120640" y="2852928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A90C4"/>
                </a:solidFill>
              </a:rPr>
              <a:t>→ API 원가 분석 및 역마진 이슈</a:t>
            </a:r>
            <a:endParaRPr lang="en-US" sz="1100" dirty="0"/>
          </a:p>
        </p:txBody>
      </p:sp>
      <p:sp>
        <p:nvSpPr>
          <p:cNvPr id="27" name="Shape 22"/>
          <p:cNvSpPr/>
          <p:nvPr/>
        </p:nvSpPr>
        <p:spPr>
          <a:xfrm>
            <a:off x="5029200" y="3474720"/>
            <a:ext cx="3657600" cy="804672"/>
          </a:xfrm>
          <a:prstGeom prst="rect">
            <a:avLst/>
          </a:prstGeom>
          <a:solidFill>
            <a:srgbClr val="F4F6FA"/>
          </a:solidFill>
          <a:ln w="12700">
            <a:solidFill>
              <a:srgbClr val="E8ECF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3"/>
          <p:cNvSpPr/>
          <p:nvPr/>
        </p:nvSpPr>
        <p:spPr>
          <a:xfrm>
            <a:off x="5120640" y="352044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A2340"/>
                </a:solidFill>
              </a:rPr>
              <a:t>플랜 B는 있나?</a:t>
            </a:r>
            <a:endParaRPr lang="en-US" sz="1200" dirty="0"/>
          </a:p>
        </p:txBody>
      </p:sp>
      <p:sp>
        <p:nvSpPr>
          <p:cNvPr id="29" name="Text 24"/>
          <p:cNvSpPr/>
          <p:nvPr/>
        </p:nvSpPr>
        <p:spPr>
          <a:xfrm>
            <a:off x="5120640" y="3858768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A90C4"/>
                </a:solidFill>
              </a:rPr>
              <a:t>→ STT 엔진 비교 및 전환 전략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D5A"/>
          </a:solidFill>
          <a:ln w="12700">
            <a:solidFill>
              <a:srgbClr val="1E2D5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6400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</a:rPr>
              <a:t>SDLC 표준 모델 적용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5B9BD5"/>
                </a:solidFill>
              </a:rPr>
              <a:t>Software Development Life Cycle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4320" y="822960"/>
            <a:ext cx="3017520" cy="2148840"/>
          </a:xfrm>
          <a:prstGeom prst="rect">
            <a:avLst/>
          </a:prstGeom>
          <a:solidFill>
            <a:srgbClr val="1E2D5A"/>
          </a:solidFill>
          <a:ln w="12700">
            <a:solidFill>
              <a:srgbClr val="1E2D5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411480" y="896112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5B9BD5"/>
                </a:solidFill>
              </a:rPr>
              <a:t>왜 SDLC를 적용하는가?</a:t>
            </a:r>
            <a:endParaRPr lang="en-US" sz="125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1399032"/>
            <a:ext cx="201168" cy="20116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85800" y="137160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CADCFC"/>
                </a:solidFill>
              </a:rPr>
              <a:t>단순 아이디어 제안을 넘어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CADCFC"/>
                </a:solidFill>
              </a:rPr>
              <a:t>공학적 설계와 검증이 동반된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CADCFC"/>
                </a:solidFill>
              </a:rPr>
              <a:t>신뢰도 높은 프로젝트 구현</a:t>
            </a:r>
            <a:endParaRPr lang="en-US" sz="95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1901952"/>
            <a:ext cx="201168" cy="20116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85800" y="187452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CADCFC"/>
                </a:solidFill>
              </a:rPr>
              <a:t>폭포수(안정성) + 애자일(유연성)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CADCFC"/>
                </a:solidFill>
              </a:rPr>
              <a:t>결합으로 2주 단위 마일스톤 달성</a:t>
            </a:r>
            <a:endParaRPr lang="en-US" sz="95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2404872"/>
            <a:ext cx="201168" cy="20116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685800" y="237744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CADCFC"/>
                </a:solidFill>
              </a:rPr>
              <a:t>각 단계별 산출물 명확화로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CADCFC"/>
                </a:solidFill>
              </a:rPr>
              <a:t>팀 내 역할 분담 및 진척 관리</a:t>
            </a:r>
            <a:endParaRPr lang="en-US" sz="950" dirty="0"/>
          </a:p>
        </p:txBody>
      </p:sp>
      <p:sp>
        <p:nvSpPr>
          <p:cNvPr id="13" name="Shape 8"/>
          <p:cNvSpPr/>
          <p:nvPr/>
        </p:nvSpPr>
        <p:spPr>
          <a:xfrm>
            <a:off x="3520440" y="804672"/>
            <a:ext cx="1005840" cy="3995928"/>
          </a:xfrm>
          <a:prstGeom prst="rect">
            <a:avLst/>
          </a:prstGeom>
          <a:solidFill>
            <a:srgbClr val="D8DDE8"/>
          </a:solidFill>
          <a:ln w="12700">
            <a:solidFill>
              <a:srgbClr val="8090B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9"/>
          <p:cNvSpPr/>
          <p:nvPr/>
        </p:nvSpPr>
        <p:spPr>
          <a:xfrm>
            <a:off x="3520440" y="804672"/>
            <a:ext cx="1005840" cy="54864"/>
          </a:xfrm>
          <a:prstGeom prst="rect">
            <a:avLst/>
          </a:prstGeom>
          <a:solidFill>
            <a:srgbClr val="8090B0"/>
          </a:solidFill>
          <a:ln w="12700">
            <a:solidFill>
              <a:srgbClr val="8090B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0"/>
          <p:cNvSpPr/>
          <p:nvPr/>
        </p:nvSpPr>
        <p:spPr>
          <a:xfrm>
            <a:off x="3749040" y="987552"/>
            <a:ext cx="548640" cy="548640"/>
          </a:xfrm>
          <a:prstGeom prst="ellipse">
            <a:avLst/>
          </a:prstGeom>
          <a:solidFill>
            <a:srgbClr val="8090B0"/>
          </a:solidFill>
          <a:ln w="12700">
            <a:solidFill>
              <a:srgbClr val="8090B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49624" y="1088136"/>
            <a:ext cx="347472" cy="347472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3520440" y="1645920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8090B0"/>
                </a:solidFill>
              </a:rPr>
              <a:t>01</a:t>
            </a:r>
            <a:endParaRPr lang="en-US" sz="1100" dirty="0"/>
          </a:p>
        </p:txBody>
      </p:sp>
      <p:sp>
        <p:nvSpPr>
          <p:cNvPr id="18" name="Text 12"/>
          <p:cNvSpPr/>
          <p:nvPr/>
        </p:nvSpPr>
        <p:spPr>
          <a:xfrm>
            <a:off x="3520440" y="1920240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8090B0"/>
                </a:solidFill>
              </a:rPr>
              <a:t>요구분석</a:t>
            </a:r>
            <a:endParaRPr lang="en-US" sz="1200" dirty="0"/>
          </a:p>
        </p:txBody>
      </p:sp>
      <p:sp>
        <p:nvSpPr>
          <p:cNvPr id="19" name="Text 13"/>
          <p:cNvSpPr/>
          <p:nvPr/>
        </p:nvSpPr>
        <p:spPr>
          <a:xfrm>
            <a:off x="3520440" y="226771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090B0"/>
                </a:solidFill>
              </a:rPr>
              <a:t>Requirements</a:t>
            </a:r>
            <a:endParaRPr lang="en-US" sz="800" dirty="0"/>
          </a:p>
        </p:txBody>
      </p:sp>
      <p:sp>
        <p:nvSpPr>
          <p:cNvPr id="20" name="Shape 14"/>
          <p:cNvSpPr/>
          <p:nvPr/>
        </p:nvSpPr>
        <p:spPr>
          <a:xfrm>
            <a:off x="3630168" y="2587752"/>
            <a:ext cx="786384" cy="22860"/>
          </a:xfrm>
          <a:prstGeom prst="rect">
            <a:avLst/>
          </a:prstGeom>
          <a:solidFill>
            <a:srgbClr val="E8ECF4"/>
          </a:solidFill>
          <a:ln w="12700">
            <a:solidFill>
              <a:srgbClr val="E8ECF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5"/>
          <p:cNvSpPr/>
          <p:nvPr/>
        </p:nvSpPr>
        <p:spPr>
          <a:xfrm>
            <a:off x="3593592" y="2679192"/>
            <a:ext cx="859536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090B0"/>
                </a:solidFill>
              </a:rPr>
              <a:t>문제 정의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8090B0"/>
                </a:solidFill>
              </a:rPr>
              <a:t>사용자 니즈 조사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8090B0"/>
                </a:solidFill>
              </a:rPr>
              <a:t>시장 조사 완료</a:t>
            </a:r>
            <a:endParaRPr lang="en-US" sz="900" dirty="0"/>
          </a:p>
        </p:txBody>
      </p:sp>
      <p:sp>
        <p:nvSpPr>
          <p:cNvPr id="22" name="Shape 16"/>
          <p:cNvSpPr/>
          <p:nvPr/>
        </p:nvSpPr>
        <p:spPr>
          <a:xfrm>
            <a:off x="3630168" y="4416552"/>
            <a:ext cx="786384" cy="274320"/>
          </a:xfrm>
          <a:prstGeom prst="rect">
            <a:avLst/>
          </a:prstGeom>
          <a:solidFill>
            <a:srgbClr val="8090B0"/>
          </a:solidFill>
          <a:ln w="12700">
            <a:solidFill>
              <a:srgbClr val="8090B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17"/>
          <p:cNvSpPr/>
          <p:nvPr/>
        </p:nvSpPr>
        <p:spPr>
          <a:xfrm>
            <a:off x="3630168" y="441655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완료 ✓</a:t>
            </a:r>
            <a:endParaRPr lang="en-US" sz="900" dirty="0"/>
          </a:p>
        </p:txBody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44568" y="1188720"/>
            <a:ext cx="164592" cy="164592"/>
          </a:xfrm>
          <a:prstGeom prst="rect">
            <a:avLst/>
          </a:prstGeom>
        </p:spPr>
      </p:pic>
      <p:sp>
        <p:nvSpPr>
          <p:cNvPr id="25" name="Shape 18"/>
          <p:cNvSpPr/>
          <p:nvPr/>
        </p:nvSpPr>
        <p:spPr>
          <a:xfrm>
            <a:off x="4672584" y="804672"/>
            <a:ext cx="1005840" cy="3995928"/>
          </a:xfrm>
          <a:prstGeom prst="rect">
            <a:avLst/>
          </a:prstGeom>
          <a:solidFill>
            <a:srgbClr val="1E2D5A"/>
          </a:solidFill>
          <a:ln w="12700">
            <a:solidFill>
              <a:srgbClr val="4A90C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19"/>
          <p:cNvSpPr/>
          <p:nvPr/>
        </p:nvSpPr>
        <p:spPr>
          <a:xfrm>
            <a:off x="4672584" y="804672"/>
            <a:ext cx="1005840" cy="54864"/>
          </a:xfrm>
          <a:prstGeom prst="rect">
            <a:avLst/>
          </a:prstGeom>
          <a:solidFill>
            <a:srgbClr val="4A90C4"/>
          </a:solidFill>
          <a:ln w="12700">
            <a:solidFill>
              <a:srgbClr val="4A90C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Shape 20"/>
          <p:cNvSpPr/>
          <p:nvPr/>
        </p:nvSpPr>
        <p:spPr>
          <a:xfrm>
            <a:off x="4901184" y="987552"/>
            <a:ext cx="548640" cy="548640"/>
          </a:xfrm>
          <a:prstGeom prst="ellipse">
            <a:avLst/>
          </a:prstGeom>
          <a:solidFill>
            <a:srgbClr val="4A90C4"/>
          </a:solidFill>
          <a:ln w="12700">
            <a:solidFill>
              <a:srgbClr val="4A90C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8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01768" y="1088136"/>
            <a:ext cx="347472" cy="347472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4672584" y="1645920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5B9BD5"/>
                </a:solidFill>
              </a:rPr>
              <a:t>02</a:t>
            </a:r>
            <a:endParaRPr lang="en-US" sz="1100" dirty="0"/>
          </a:p>
        </p:txBody>
      </p:sp>
      <p:sp>
        <p:nvSpPr>
          <p:cNvPr id="30" name="Text 22"/>
          <p:cNvSpPr/>
          <p:nvPr/>
        </p:nvSpPr>
        <p:spPr>
          <a:xfrm>
            <a:off x="4672584" y="1920240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설계</a:t>
            </a:r>
            <a:endParaRPr lang="en-US" sz="1200" dirty="0"/>
          </a:p>
        </p:txBody>
      </p:sp>
      <p:sp>
        <p:nvSpPr>
          <p:cNvPr id="31" name="Text 23"/>
          <p:cNvSpPr/>
          <p:nvPr/>
        </p:nvSpPr>
        <p:spPr>
          <a:xfrm>
            <a:off x="4672584" y="226771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B9BD5"/>
                </a:solidFill>
              </a:rPr>
              <a:t>Design</a:t>
            </a:r>
            <a:endParaRPr lang="en-US" sz="800" dirty="0"/>
          </a:p>
        </p:txBody>
      </p:sp>
      <p:sp>
        <p:nvSpPr>
          <p:cNvPr id="32" name="Shape 24"/>
          <p:cNvSpPr/>
          <p:nvPr/>
        </p:nvSpPr>
        <p:spPr>
          <a:xfrm>
            <a:off x="4782312" y="2587752"/>
            <a:ext cx="786384" cy="22860"/>
          </a:xfrm>
          <a:prstGeom prst="rect">
            <a:avLst/>
          </a:prstGeom>
          <a:solidFill>
            <a:srgbClr val="4A90C4"/>
          </a:solidFill>
          <a:ln w="12700">
            <a:solidFill>
              <a:srgbClr val="4A90C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Text 25"/>
          <p:cNvSpPr/>
          <p:nvPr/>
        </p:nvSpPr>
        <p:spPr>
          <a:xfrm>
            <a:off x="4745736" y="2679192"/>
            <a:ext cx="859536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ADCFC"/>
                </a:solidFill>
              </a:rPr>
              <a:t>시스템 아키텍처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CADCFC"/>
                </a:solidFill>
              </a:rPr>
              <a:t>API 규격 확정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CADCFC"/>
                </a:solidFill>
              </a:rPr>
              <a:t>비용 구조 산출</a:t>
            </a:r>
            <a:endParaRPr lang="en-US" sz="900" dirty="0"/>
          </a:p>
        </p:txBody>
      </p:sp>
      <p:sp>
        <p:nvSpPr>
          <p:cNvPr id="34" name="Shape 26"/>
          <p:cNvSpPr/>
          <p:nvPr/>
        </p:nvSpPr>
        <p:spPr>
          <a:xfrm>
            <a:off x="4782312" y="4416552"/>
            <a:ext cx="786384" cy="274320"/>
          </a:xfrm>
          <a:prstGeom prst="rect">
            <a:avLst/>
          </a:prstGeom>
          <a:solidFill>
            <a:srgbClr val="4A90C4"/>
          </a:solidFill>
          <a:ln w="12700">
            <a:solidFill>
              <a:srgbClr val="4A90C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Text 27"/>
          <p:cNvSpPr/>
          <p:nvPr/>
        </p:nvSpPr>
        <p:spPr>
          <a:xfrm>
            <a:off x="4782312" y="4416552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진행 중 📍</a:t>
            </a:r>
            <a:endParaRPr lang="en-US" sz="900" dirty="0"/>
          </a:p>
        </p:txBody>
      </p:sp>
      <p:pic>
        <p:nvPicPr>
          <p:cNvPr id="36" name="Image 6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96712" y="1188720"/>
            <a:ext cx="164592" cy="164592"/>
          </a:xfrm>
          <a:prstGeom prst="rect">
            <a:avLst/>
          </a:prstGeom>
        </p:spPr>
      </p:pic>
      <p:sp>
        <p:nvSpPr>
          <p:cNvPr id="37" name="Shape 28"/>
          <p:cNvSpPr/>
          <p:nvPr/>
        </p:nvSpPr>
        <p:spPr>
          <a:xfrm>
            <a:off x="5824728" y="804672"/>
            <a:ext cx="1005840" cy="3995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Shape 29"/>
          <p:cNvSpPr/>
          <p:nvPr/>
        </p:nvSpPr>
        <p:spPr>
          <a:xfrm>
            <a:off x="5824728" y="804672"/>
            <a:ext cx="1005840" cy="54864"/>
          </a:xfrm>
          <a:prstGeom prst="rect">
            <a:avLst/>
          </a:prstGeom>
          <a:solidFill>
            <a:srgbClr val="E8ECF4"/>
          </a:solidFill>
          <a:ln w="12700">
            <a:solidFill>
              <a:srgbClr val="E8ECF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9" name="Shape 30"/>
          <p:cNvSpPr/>
          <p:nvPr/>
        </p:nvSpPr>
        <p:spPr>
          <a:xfrm>
            <a:off x="6053328" y="987552"/>
            <a:ext cx="548640" cy="548640"/>
          </a:xfrm>
          <a:prstGeom prst="ellipse">
            <a:avLst/>
          </a:prstGeom>
          <a:solidFill>
            <a:srgbClr val="E8ECF4"/>
          </a:solidFill>
          <a:ln w="12700">
            <a:solidFill>
              <a:srgbClr val="E8ECF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40" name="Image 7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53912" y="1088136"/>
            <a:ext cx="347472" cy="347472"/>
          </a:xfrm>
          <a:prstGeom prst="rect">
            <a:avLst/>
          </a:prstGeom>
        </p:spPr>
      </p:pic>
      <p:sp>
        <p:nvSpPr>
          <p:cNvPr id="41" name="Text 31"/>
          <p:cNvSpPr/>
          <p:nvPr/>
        </p:nvSpPr>
        <p:spPr>
          <a:xfrm>
            <a:off x="5824728" y="1645920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8090B0"/>
                </a:solidFill>
              </a:rPr>
              <a:t>03</a:t>
            </a:r>
            <a:endParaRPr lang="en-US" sz="1100" dirty="0"/>
          </a:p>
        </p:txBody>
      </p:sp>
      <p:sp>
        <p:nvSpPr>
          <p:cNvPr id="42" name="Text 32"/>
          <p:cNvSpPr/>
          <p:nvPr/>
        </p:nvSpPr>
        <p:spPr>
          <a:xfrm>
            <a:off x="5824728" y="1920240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2340"/>
                </a:solidFill>
              </a:rPr>
              <a:t>구현</a:t>
            </a:r>
            <a:endParaRPr lang="en-US" sz="1200" dirty="0"/>
          </a:p>
        </p:txBody>
      </p:sp>
      <p:sp>
        <p:nvSpPr>
          <p:cNvPr id="43" name="Text 33"/>
          <p:cNvSpPr/>
          <p:nvPr/>
        </p:nvSpPr>
        <p:spPr>
          <a:xfrm>
            <a:off x="5824728" y="226771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090B0"/>
                </a:solidFill>
              </a:rPr>
              <a:t>Implementation</a:t>
            </a:r>
            <a:endParaRPr lang="en-US" sz="800" dirty="0"/>
          </a:p>
        </p:txBody>
      </p:sp>
      <p:sp>
        <p:nvSpPr>
          <p:cNvPr id="44" name="Shape 34"/>
          <p:cNvSpPr/>
          <p:nvPr/>
        </p:nvSpPr>
        <p:spPr>
          <a:xfrm>
            <a:off x="5934456" y="2587752"/>
            <a:ext cx="786384" cy="22860"/>
          </a:xfrm>
          <a:prstGeom prst="rect">
            <a:avLst/>
          </a:prstGeom>
          <a:solidFill>
            <a:srgbClr val="E8ECF4"/>
          </a:solidFill>
          <a:ln w="12700">
            <a:solidFill>
              <a:srgbClr val="E8ECF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5" name="Text 35"/>
          <p:cNvSpPr/>
          <p:nvPr/>
        </p:nvSpPr>
        <p:spPr>
          <a:xfrm>
            <a:off x="5897880" y="2679192"/>
            <a:ext cx="859536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090B0"/>
                </a:solidFill>
              </a:rPr>
              <a:t>파이프라인 개발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8090B0"/>
                </a:solidFill>
              </a:rPr>
              <a:t>알파 빌드 완성</a:t>
            </a:r>
            <a:endParaRPr lang="en-US" sz="900" dirty="0"/>
          </a:p>
        </p:txBody>
      </p:sp>
      <p:pic>
        <p:nvPicPr>
          <p:cNvPr id="46" name="Image 8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48856" y="1188720"/>
            <a:ext cx="164592" cy="164592"/>
          </a:xfrm>
          <a:prstGeom prst="rect">
            <a:avLst/>
          </a:prstGeom>
        </p:spPr>
      </p:pic>
      <p:sp>
        <p:nvSpPr>
          <p:cNvPr id="47" name="Shape 36"/>
          <p:cNvSpPr/>
          <p:nvPr/>
        </p:nvSpPr>
        <p:spPr>
          <a:xfrm>
            <a:off x="6976872" y="804672"/>
            <a:ext cx="1005840" cy="3995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8" name="Shape 37"/>
          <p:cNvSpPr/>
          <p:nvPr/>
        </p:nvSpPr>
        <p:spPr>
          <a:xfrm>
            <a:off x="6976872" y="804672"/>
            <a:ext cx="1005840" cy="54864"/>
          </a:xfrm>
          <a:prstGeom prst="rect">
            <a:avLst/>
          </a:prstGeom>
          <a:solidFill>
            <a:srgbClr val="E8ECF4"/>
          </a:solidFill>
          <a:ln w="12700">
            <a:solidFill>
              <a:srgbClr val="E8ECF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9" name="Shape 38"/>
          <p:cNvSpPr/>
          <p:nvPr/>
        </p:nvSpPr>
        <p:spPr>
          <a:xfrm>
            <a:off x="7205472" y="987552"/>
            <a:ext cx="548640" cy="548640"/>
          </a:xfrm>
          <a:prstGeom prst="ellipse">
            <a:avLst/>
          </a:prstGeom>
          <a:solidFill>
            <a:srgbClr val="E8ECF4"/>
          </a:solidFill>
          <a:ln w="12700">
            <a:solidFill>
              <a:srgbClr val="E8ECF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50" name="Image 9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06056" y="1088136"/>
            <a:ext cx="347472" cy="347472"/>
          </a:xfrm>
          <a:prstGeom prst="rect">
            <a:avLst/>
          </a:prstGeom>
        </p:spPr>
      </p:pic>
      <p:sp>
        <p:nvSpPr>
          <p:cNvPr id="51" name="Text 39"/>
          <p:cNvSpPr/>
          <p:nvPr/>
        </p:nvSpPr>
        <p:spPr>
          <a:xfrm>
            <a:off x="6976872" y="1645920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8090B0"/>
                </a:solidFill>
              </a:rPr>
              <a:t>04</a:t>
            </a:r>
            <a:endParaRPr lang="en-US" sz="1100" dirty="0"/>
          </a:p>
        </p:txBody>
      </p:sp>
      <p:sp>
        <p:nvSpPr>
          <p:cNvPr id="52" name="Text 40"/>
          <p:cNvSpPr/>
          <p:nvPr/>
        </p:nvSpPr>
        <p:spPr>
          <a:xfrm>
            <a:off x="6976872" y="1920240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2340"/>
                </a:solidFill>
              </a:rPr>
              <a:t>테스트</a:t>
            </a:r>
            <a:endParaRPr lang="en-US" sz="1200" dirty="0"/>
          </a:p>
        </p:txBody>
      </p:sp>
      <p:sp>
        <p:nvSpPr>
          <p:cNvPr id="53" name="Text 41"/>
          <p:cNvSpPr/>
          <p:nvPr/>
        </p:nvSpPr>
        <p:spPr>
          <a:xfrm>
            <a:off x="6976872" y="226771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090B0"/>
                </a:solidFill>
              </a:rPr>
              <a:t>Testing</a:t>
            </a:r>
            <a:endParaRPr lang="en-US" sz="800" dirty="0"/>
          </a:p>
        </p:txBody>
      </p:sp>
      <p:sp>
        <p:nvSpPr>
          <p:cNvPr id="54" name="Shape 42"/>
          <p:cNvSpPr/>
          <p:nvPr/>
        </p:nvSpPr>
        <p:spPr>
          <a:xfrm>
            <a:off x="7086600" y="2587752"/>
            <a:ext cx="786384" cy="22860"/>
          </a:xfrm>
          <a:prstGeom prst="rect">
            <a:avLst/>
          </a:prstGeom>
          <a:solidFill>
            <a:srgbClr val="E8ECF4"/>
          </a:solidFill>
          <a:ln w="12700">
            <a:solidFill>
              <a:srgbClr val="E8ECF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5" name="Text 43"/>
          <p:cNvSpPr/>
          <p:nvPr/>
        </p:nvSpPr>
        <p:spPr>
          <a:xfrm>
            <a:off x="7050024" y="2679192"/>
            <a:ext cx="859536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090B0"/>
                </a:solidFill>
              </a:rPr>
              <a:t>베타 사용자 테스트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8090B0"/>
                </a:solidFill>
              </a:rPr>
              <a:t>피드백 수집·반영</a:t>
            </a:r>
            <a:endParaRPr lang="en-US" sz="900" dirty="0"/>
          </a:p>
        </p:txBody>
      </p:sp>
      <p:pic>
        <p:nvPicPr>
          <p:cNvPr id="56" name="Image 1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01000" y="1188720"/>
            <a:ext cx="164592" cy="164592"/>
          </a:xfrm>
          <a:prstGeom prst="rect">
            <a:avLst/>
          </a:prstGeom>
        </p:spPr>
      </p:pic>
      <p:sp>
        <p:nvSpPr>
          <p:cNvPr id="57" name="Shape 44"/>
          <p:cNvSpPr/>
          <p:nvPr/>
        </p:nvSpPr>
        <p:spPr>
          <a:xfrm>
            <a:off x="8129016" y="804672"/>
            <a:ext cx="1005840" cy="3995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8" name="Shape 45"/>
          <p:cNvSpPr/>
          <p:nvPr/>
        </p:nvSpPr>
        <p:spPr>
          <a:xfrm>
            <a:off x="8129016" y="804672"/>
            <a:ext cx="1005840" cy="54864"/>
          </a:xfrm>
          <a:prstGeom prst="rect">
            <a:avLst/>
          </a:prstGeom>
          <a:solidFill>
            <a:srgbClr val="E8ECF4"/>
          </a:solidFill>
          <a:ln w="12700">
            <a:solidFill>
              <a:srgbClr val="E8ECF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9" name="Shape 46"/>
          <p:cNvSpPr/>
          <p:nvPr/>
        </p:nvSpPr>
        <p:spPr>
          <a:xfrm>
            <a:off x="8357616" y="987552"/>
            <a:ext cx="548640" cy="548640"/>
          </a:xfrm>
          <a:prstGeom prst="ellipse">
            <a:avLst/>
          </a:prstGeom>
          <a:solidFill>
            <a:srgbClr val="E8ECF4"/>
          </a:solidFill>
          <a:ln w="12700">
            <a:solidFill>
              <a:srgbClr val="E8ECF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60" name="Image 11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458200" y="1088136"/>
            <a:ext cx="347472" cy="347472"/>
          </a:xfrm>
          <a:prstGeom prst="rect">
            <a:avLst/>
          </a:prstGeom>
        </p:spPr>
      </p:pic>
      <p:sp>
        <p:nvSpPr>
          <p:cNvPr id="61" name="Text 47"/>
          <p:cNvSpPr/>
          <p:nvPr/>
        </p:nvSpPr>
        <p:spPr>
          <a:xfrm>
            <a:off x="8129016" y="1645920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8090B0"/>
                </a:solidFill>
              </a:rPr>
              <a:t>05</a:t>
            </a:r>
            <a:endParaRPr lang="en-US" sz="1100" dirty="0"/>
          </a:p>
        </p:txBody>
      </p:sp>
      <p:sp>
        <p:nvSpPr>
          <p:cNvPr id="62" name="Text 48"/>
          <p:cNvSpPr/>
          <p:nvPr/>
        </p:nvSpPr>
        <p:spPr>
          <a:xfrm>
            <a:off x="8129016" y="1920240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2340"/>
                </a:solidFill>
              </a:rPr>
              <a:t>배포·운영</a:t>
            </a:r>
            <a:endParaRPr lang="en-US" sz="1200" dirty="0"/>
          </a:p>
        </p:txBody>
      </p:sp>
      <p:sp>
        <p:nvSpPr>
          <p:cNvPr id="63" name="Text 49"/>
          <p:cNvSpPr/>
          <p:nvPr/>
        </p:nvSpPr>
        <p:spPr>
          <a:xfrm>
            <a:off x="8129016" y="226771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090B0"/>
                </a:solidFill>
              </a:rPr>
              <a:t>Deployment</a:t>
            </a:r>
            <a:endParaRPr lang="en-US" sz="800" dirty="0"/>
          </a:p>
        </p:txBody>
      </p:sp>
      <p:sp>
        <p:nvSpPr>
          <p:cNvPr id="64" name="Shape 50"/>
          <p:cNvSpPr/>
          <p:nvPr/>
        </p:nvSpPr>
        <p:spPr>
          <a:xfrm>
            <a:off x="8238744" y="2587752"/>
            <a:ext cx="786384" cy="22860"/>
          </a:xfrm>
          <a:prstGeom prst="rect">
            <a:avLst/>
          </a:prstGeom>
          <a:solidFill>
            <a:srgbClr val="E8ECF4"/>
          </a:solidFill>
          <a:ln w="12700">
            <a:solidFill>
              <a:srgbClr val="E8ECF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5" name="Text 51"/>
          <p:cNvSpPr/>
          <p:nvPr/>
        </p:nvSpPr>
        <p:spPr>
          <a:xfrm>
            <a:off x="8202168" y="2679192"/>
            <a:ext cx="859536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090B0"/>
                </a:solidFill>
              </a:rPr>
              <a:t>런칭 로드맵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8090B0"/>
                </a:solidFill>
              </a:rPr>
              <a:t>최종 성과 발표</a:t>
            </a:r>
            <a:endParaRPr lang="en-US" sz="900" dirty="0"/>
          </a:p>
        </p:txBody>
      </p:sp>
      <p:sp>
        <p:nvSpPr>
          <p:cNvPr id="66" name="Shape 52"/>
          <p:cNvSpPr/>
          <p:nvPr/>
        </p:nvSpPr>
        <p:spPr>
          <a:xfrm>
            <a:off x="0" y="4727448"/>
            <a:ext cx="9144000" cy="416052"/>
          </a:xfrm>
          <a:prstGeom prst="rect">
            <a:avLst/>
          </a:prstGeom>
          <a:solidFill>
            <a:srgbClr val="152040"/>
          </a:solidFill>
          <a:ln w="12700">
            <a:solidFill>
              <a:srgbClr val="15204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7" name="Text 53"/>
          <p:cNvSpPr/>
          <p:nvPr/>
        </p:nvSpPr>
        <p:spPr>
          <a:xfrm>
            <a:off x="365760" y="4727448"/>
            <a:ext cx="8412480" cy="4160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9BD5"/>
                </a:solidFill>
              </a:rPr>
              <a:t>폭포수(Waterfall) 모델의 단계적 안정성  +  애자일(Agile)의 2주 단위 스프린트 유연성을 결합한 하이브리드 방법론 채택</a:t>
            </a:r>
            <a:endParaRPr lang="en-US" sz="1050" dirty="0"/>
          </a:p>
        </p:txBody>
      </p:sp>
    </p:spTree>
    <p:extLst>
      <p:ext uri="{BB962C8B-B14F-4D97-AF65-F5344CB8AC3E}">
        <p14:creationId xmlns:p14="http://schemas.microsoft.com/office/powerpoint/2010/main" val="39289651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D5A"/>
          </a:solidFill>
          <a:ln w="12700">
            <a:solidFill>
              <a:srgbClr val="1E2D5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6400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</a:rPr>
              <a:t>프로젝트 로드맵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5B9BD5"/>
                </a:solidFill>
              </a:rPr>
              <a:t>13주 마일스톤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906780" y="1115568"/>
            <a:ext cx="7330440" cy="0"/>
          </a:xfrm>
          <a:prstGeom prst="line">
            <a:avLst/>
          </a:prstGeom>
          <a:noFill/>
          <a:ln w="19050">
            <a:solidFill>
              <a:srgbClr val="5B9BD5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829056" y="1037844"/>
            <a:ext cx="155448" cy="155448"/>
          </a:xfrm>
          <a:prstGeom prst="ellipse">
            <a:avLst/>
          </a:prstGeom>
          <a:solidFill>
            <a:srgbClr val="8090B0"/>
          </a:solidFill>
          <a:ln w="12700">
            <a:solidFill>
              <a:srgbClr val="8090B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522732" y="722376"/>
            <a:ext cx="7680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090B0"/>
                </a:solidFill>
              </a:rPr>
              <a:t>2주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28600" y="1417320"/>
            <a:ext cx="1356360" cy="3127248"/>
          </a:xfrm>
          <a:prstGeom prst="rect">
            <a:avLst/>
          </a:prstGeom>
          <a:solidFill>
            <a:srgbClr val="D4DBE8"/>
          </a:solidFill>
          <a:ln w="12700">
            <a:solidFill>
              <a:srgbClr val="8090B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228600" y="1417320"/>
            <a:ext cx="1356360" cy="64008"/>
          </a:xfrm>
          <a:prstGeom prst="rect">
            <a:avLst/>
          </a:prstGeom>
          <a:solidFill>
            <a:srgbClr val="8090B0"/>
          </a:solidFill>
          <a:ln w="12700">
            <a:solidFill>
              <a:srgbClr val="8090B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283464" y="1508760"/>
            <a:ext cx="12466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8090B0"/>
                </a:solidFill>
              </a:rPr>
              <a:t>1차 발표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20040" y="2011680"/>
            <a:ext cx="1173480" cy="22860"/>
          </a:xfrm>
          <a:prstGeom prst="rect">
            <a:avLst/>
          </a:prstGeom>
          <a:solidFill>
            <a:srgbClr val="E8ECF4"/>
          </a:solidFill>
          <a:ln w="12700">
            <a:solidFill>
              <a:srgbClr val="E8ECF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301752" y="2112264"/>
            <a:ext cx="1210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090B0"/>
                </a:solidFill>
              </a:rPr>
              <a:t>· 문제 정의 완료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301752" y="2624328"/>
            <a:ext cx="1210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090B0"/>
                </a:solidFill>
              </a:rPr>
              <a:t>· 시장 조사 완료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301752" y="3136392"/>
            <a:ext cx="1210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090B0"/>
                </a:solidFill>
              </a:rPr>
              <a:t>· 솔루션 구조 확정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20040" y="4206240"/>
            <a:ext cx="1173480" cy="265176"/>
          </a:xfrm>
          <a:prstGeom prst="rect">
            <a:avLst/>
          </a:prstGeom>
          <a:solidFill>
            <a:srgbClr val="8090B0"/>
          </a:solidFill>
          <a:ln w="12700">
            <a:solidFill>
              <a:srgbClr val="8090B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320040" y="4206240"/>
            <a:ext cx="11734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완료 ✓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263140" y="1005840"/>
            <a:ext cx="219456" cy="219456"/>
          </a:xfrm>
          <a:prstGeom prst="ellipse">
            <a:avLst/>
          </a:prstGeom>
          <a:solidFill>
            <a:srgbClr val="4A90C4"/>
          </a:solidFill>
          <a:ln w="12700">
            <a:solidFill>
              <a:srgbClr val="4A90C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1988820" y="722376"/>
            <a:ext cx="7680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A90C4"/>
                </a:solidFill>
              </a:rPr>
              <a:t>4주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1694688" y="1417320"/>
            <a:ext cx="1356360" cy="3127248"/>
          </a:xfrm>
          <a:prstGeom prst="rect">
            <a:avLst/>
          </a:prstGeom>
          <a:solidFill>
            <a:srgbClr val="1E2D5A"/>
          </a:solidFill>
          <a:ln w="12700">
            <a:solidFill>
              <a:srgbClr val="4A90C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8"/>
          <p:cNvSpPr/>
          <p:nvPr/>
        </p:nvSpPr>
        <p:spPr>
          <a:xfrm>
            <a:off x="1694688" y="1417320"/>
            <a:ext cx="1356360" cy="64008"/>
          </a:xfrm>
          <a:prstGeom prst="rect">
            <a:avLst/>
          </a:prstGeom>
          <a:solidFill>
            <a:srgbClr val="4A90C4"/>
          </a:solidFill>
          <a:ln w="12700">
            <a:solidFill>
              <a:srgbClr val="4A90C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1749552" y="1508760"/>
            <a:ext cx="12466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5B9BD5"/>
                </a:solidFill>
              </a:rPr>
              <a:t>2차 발표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1786128" y="2011680"/>
            <a:ext cx="1173480" cy="22860"/>
          </a:xfrm>
          <a:prstGeom prst="rect">
            <a:avLst/>
          </a:prstGeom>
          <a:solidFill>
            <a:srgbClr val="4A90C4"/>
          </a:solidFill>
          <a:ln w="12700">
            <a:solidFill>
              <a:srgbClr val="4A90C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/>
          <p:nvPr/>
        </p:nvSpPr>
        <p:spPr>
          <a:xfrm>
            <a:off x="1767840" y="2112264"/>
            <a:ext cx="1210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ADCFC"/>
                </a:solidFill>
              </a:rPr>
              <a:t>· 아키텍처 확정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1767840" y="2624328"/>
            <a:ext cx="1210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ADCFC"/>
                </a:solidFill>
              </a:rPr>
              <a:t>· API 비용 분석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1767840" y="3136392"/>
            <a:ext cx="1210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ADCFC"/>
                </a:solidFill>
              </a:rPr>
              <a:t>· STT 전략 수립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1786128" y="4206240"/>
            <a:ext cx="1173480" cy="265176"/>
          </a:xfrm>
          <a:prstGeom prst="rect">
            <a:avLst/>
          </a:prstGeom>
          <a:solidFill>
            <a:srgbClr val="4A90C4"/>
          </a:solidFill>
          <a:ln w="12700">
            <a:solidFill>
              <a:srgbClr val="4A90C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/>
          <p:nvPr/>
        </p:nvSpPr>
        <p:spPr>
          <a:xfrm>
            <a:off x="1786128" y="4206240"/>
            <a:ext cx="11734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현재 📍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3761232" y="1037844"/>
            <a:ext cx="155448" cy="155448"/>
          </a:xfrm>
          <a:prstGeom prst="ellipse">
            <a:avLst/>
          </a:prstGeom>
          <a:solidFill>
            <a:srgbClr val="2A3F7E"/>
          </a:solidFill>
          <a:ln w="12700">
            <a:solidFill>
              <a:srgbClr val="2A3F7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7"/>
          <p:cNvSpPr/>
          <p:nvPr/>
        </p:nvSpPr>
        <p:spPr>
          <a:xfrm>
            <a:off x="3454908" y="722376"/>
            <a:ext cx="7680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2340"/>
                </a:solidFill>
              </a:rPr>
              <a:t>6주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160776" y="1417320"/>
            <a:ext cx="1356360" cy="3127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Shape 29"/>
          <p:cNvSpPr/>
          <p:nvPr/>
        </p:nvSpPr>
        <p:spPr>
          <a:xfrm>
            <a:off x="3160776" y="1417320"/>
            <a:ext cx="1356360" cy="64008"/>
          </a:xfrm>
          <a:prstGeom prst="rect">
            <a:avLst/>
          </a:prstGeom>
          <a:solidFill>
            <a:srgbClr val="E8ECF4"/>
          </a:solidFill>
          <a:ln w="12700">
            <a:solidFill>
              <a:srgbClr val="E8ECF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Text 30"/>
          <p:cNvSpPr/>
          <p:nvPr/>
        </p:nvSpPr>
        <p:spPr>
          <a:xfrm>
            <a:off x="3215640" y="1508760"/>
            <a:ext cx="12466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A2340"/>
                </a:solidFill>
              </a:rPr>
              <a:t>3차 발표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3252216" y="2011680"/>
            <a:ext cx="1173480" cy="22860"/>
          </a:xfrm>
          <a:prstGeom prst="rect">
            <a:avLst/>
          </a:prstGeom>
          <a:solidFill>
            <a:srgbClr val="E8ECF4"/>
          </a:solidFill>
          <a:ln w="12700">
            <a:solidFill>
              <a:srgbClr val="E8ECF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Text 32"/>
          <p:cNvSpPr/>
          <p:nvPr/>
        </p:nvSpPr>
        <p:spPr>
          <a:xfrm>
            <a:off x="3233928" y="2112264"/>
            <a:ext cx="1210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090B0"/>
                </a:solidFill>
              </a:rPr>
              <a:t>· CLOVA–Gemini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3233928" y="2624328"/>
            <a:ext cx="1210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090B0"/>
                </a:solidFill>
              </a:rPr>
              <a:t>· 파이프라인 연동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3233928" y="3136392"/>
            <a:ext cx="1210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090B0"/>
                </a:solidFill>
              </a:rPr>
              <a:t>· 데이터 흐름 시연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5227320" y="1037844"/>
            <a:ext cx="155448" cy="155448"/>
          </a:xfrm>
          <a:prstGeom prst="ellipse">
            <a:avLst/>
          </a:prstGeom>
          <a:solidFill>
            <a:srgbClr val="2A3F7E"/>
          </a:solidFill>
          <a:ln w="12700">
            <a:solidFill>
              <a:srgbClr val="2A3F7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Text 36"/>
          <p:cNvSpPr/>
          <p:nvPr/>
        </p:nvSpPr>
        <p:spPr>
          <a:xfrm>
            <a:off x="4920996" y="722376"/>
            <a:ext cx="7680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2340"/>
                </a:solidFill>
              </a:rPr>
              <a:t>8주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626864" y="1417320"/>
            <a:ext cx="1356360" cy="3127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0" name="Shape 38"/>
          <p:cNvSpPr/>
          <p:nvPr/>
        </p:nvSpPr>
        <p:spPr>
          <a:xfrm>
            <a:off x="4626864" y="1417320"/>
            <a:ext cx="1356360" cy="64008"/>
          </a:xfrm>
          <a:prstGeom prst="rect">
            <a:avLst/>
          </a:prstGeom>
          <a:solidFill>
            <a:srgbClr val="E8ECF4"/>
          </a:solidFill>
          <a:ln w="12700">
            <a:solidFill>
              <a:srgbClr val="E8ECF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1" name="Text 39"/>
          <p:cNvSpPr/>
          <p:nvPr/>
        </p:nvSpPr>
        <p:spPr>
          <a:xfrm>
            <a:off x="4681728" y="1508760"/>
            <a:ext cx="12466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A2340"/>
                </a:solidFill>
              </a:rPr>
              <a:t>알파 빌드</a:t>
            </a:r>
            <a:endParaRPr lang="en-US" sz="1150" dirty="0"/>
          </a:p>
        </p:txBody>
      </p:sp>
      <p:sp>
        <p:nvSpPr>
          <p:cNvPr id="42" name="Shape 40"/>
          <p:cNvSpPr/>
          <p:nvPr/>
        </p:nvSpPr>
        <p:spPr>
          <a:xfrm>
            <a:off x="4718304" y="2011680"/>
            <a:ext cx="1173480" cy="22860"/>
          </a:xfrm>
          <a:prstGeom prst="rect">
            <a:avLst/>
          </a:prstGeom>
          <a:solidFill>
            <a:srgbClr val="E8ECF4"/>
          </a:solidFill>
          <a:ln w="12700">
            <a:solidFill>
              <a:srgbClr val="E8ECF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3" name="Text 41"/>
          <p:cNvSpPr/>
          <p:nvPr/>
        </p:nvSpPr>
        <p:spPr>
          <a:xfrm>
            <a:off x="4700016" y="2112264"/>
            <a:ext cx="1210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090B0"/>
                </a:solidFill>
              </a:rPr>
              <a:t>· 통합 요약 기능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4700016" y="2624328"/>
            <a:ext cx="1210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090B0"/>
                </a:solidFill>
              </a:rPr>
              <a:t>· 구동 완성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4700016" y="3136392"/>
            <a:ext cx="1210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090B0"/>
                </a:solidFill>
              </a:rPr>
              <a:t>· 내부 테스트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6693408" y="1037844"/>
            <a:ext cx="155448" cy="155448"/>
          </a:xfrm>
          <a:prstGeom prst="ellipse">
            <a:avLst/>
          </a:prstGeom>
          <a:solidFill>
            <a:srgbClr val="2A3F7E"/>
          </a:solidFill>
          <a:ln w="12700">
            <a:solidFill>
              <a:srgbClr val="2A3F7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7" name="Text 45"/>
          <p:cNvSpPr/>
          <p:nvPr/>
        </p:nvSpPr>
        <p:spPr>
          <a:xfrm>
            <a:off x="6387084" y="722376"/>
            <a:ext cx="7680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2340"/>
                </a:solidFill>
              </a:rPr>
              <a:t>10주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6092952" y="1417320"/>
            <a:ext cx="1356360" cy="3127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9" name="Shape 47"/>
          <p:cNvSpPr/>
          <p:nvPr/>
        </p:nvSpPr>
        <p:spPr>
          <a:xfrm>
            <a:off x="6092952" y="1417320"/>
            <a:ext cx="1356360" cy="64008"/>
          </a:xfrm>
          <a:prstGeom prst="rect">
            <a:avLst/>
          </a:prstGeom>
          <a:solidFill>
            <a:srgbClr val="E8ECF4"/>
          </a:solidFill>
          <a:ln w="12700">
            <a:solidFill>
              <a:srgbClr val="E8ECF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0" name="Text 48"/>
          <p:cNvSpPr/>
          <p:nvPr/>
        </p:nvSpPr>
        <p:spPr>
          <a:xfrm>
            <a:off x="6147816" y="1508760"/>
            <a:ext cx="12466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A2340"/>
                </a:solidFill>
              </a:rPr>
              <a:t>베타 테스트</a:t>
            </a:r>
            <a:endParaRPr lang="en-US" sz="1150" dirty="0"/>
          </a:p>
        </p:txBody>
      </p:sp>
      <p:sp>
        <p:nvSpPr>
          <p:cNvPr id="51" name="Shape 49"/>
          <p:cNvSpPr/>
          <p:nvPr/>
        </p:nvSpPr>
        <p:spPr>
          <a:xfrm>
            <a:off x="6184392" y="2011680"/>
            <a:ext cx="1173480" cy="22860"/>
          </a:xfrm>
          <a:prstGeom prst="rect">
            <a:avLst/>
          </a:prstGeom>
          <a:solidFill>
            <a:srgbClr val="E8ECF4"/>
          </a:solidFill>
          <a:ln w="12700">
            <a:solidFill>
              <a:srgbClr val="E8ECF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2" name="Text 50"/>
          <p:cNvSpPr/>
          <p:nvPr/>
        </p:nvSpPr>
        <p:spPr>
          <a:xfrm>
            <a:off x="6166104" y="2112264"/>
            <a:ext cx="1210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090B0"/>
                </a:solidFill>
              </a:rPr>
              <a:t>· 사용자 피드백</a:t>
            </a:r>
            <a:endParaRPr lang="en-US" sz="950" dirty="0"/>
          </a:p>
        </p:txBody>
      </p:sp>
      <p:sp>
        <p:nvSpPr>
          <p:cNvPr id="53" name="Text 51"/>
          <p:cNvSpPr/>
          <p:nvPr/>
        </p:nvSpPr>
        <p:spPr>
          <a:xfrm>
            <a:off x="6166104" y="2624328"/>
            <a:ext cx="1210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090B0"/>
                </a:solidFill>
              </a:rPr>
              <a:t>· 수집 및 분석</a:t>
            </a:r>
            <a:endParaRPr lang="en-US" sz="950" dirty="0"/>
          </a:p>
        </p:txBody>
      </p:sp>
      <p:sp>
        <p:nvSpPr>
          <p:cNvPr id="54" name="Text 52"/>
          <p:cNvSpPr/>
          <p:nvPr/>
        </p:nvSpPr>
        <p:spPr>
          <a:xfrm>
            <a:off x="6166104" y="3136392"/>
            <a:ext cx="1210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090B0"/>
                </a:solidFill>
              </a:rPr>
              <a:t>· 기능 개선 반영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8159496" y="1037844"/>
            <a:ext cx="155448" cy="155448"/>
          </a:xfrm>
          <a:prstGeom prst="ellipse">
            <a:avLst/>
          </a:prstGeom>
          <a:solidFill>
            <a:srgbClr val="2A3F7E"/>
          </a:solidFill>
          <a:ln w="12700">
            <a:solidFill>
              <a:srgbClr val="2A3F7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6" name="Text 54"/>
          <p:cNvSpPr/>
          <p:nvPr/>
        </p:nvSpPr>
        <p:spPr>
          <a:xfrm>
            <a:off x="7853172" y="722376"/>
            <a:ext cx="7680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2340"/>
                </a:solidFill>
              </a:rPr>
              <a:t>13주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7559040" y="1417320"/>
            <a:ext cx="1356360" cy="3127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8" name="Shape 56"/>
          <p:cNvSpPr/>
          <p:nvPr/>
        </p:nvSpPr>
        <p:spPr>
          <a:xfrm>
            <a:off x="7559040" y="1417320"/>
            <a:ext cx="1356360" cy="64008"/>
          </a:xfrm>
          <a:prstGeom prst="rect">
            <a:avLst/>
          </a:prstGeom>
          <a:solidFill>
            <a:srgbClr val="E8ECF4"/>
          </a:solidFill>
          <a:ln w="12700">
            <a:solidFill>
              <a:srgbClr val="E8ECF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9" name="Text 57"/>
          <p:cNvSpPr/>
          <p:nvPr/>
        </p:nvSpPr>
        <p:spPr>
          <a:xfrm>
            <a:off x="7613904" y="1508760"/>
            <a:ext cx="12466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A2340"/>
                </a:solidFill>
              </a:rPr>
              <a:t>최종 발표</a:t>
            </a:r>
            <a:endParaRPr lang="en-US" sz="1150" dirty="0"/>
          </a:p>
        </p:txBody>
      </p:sp>
      <p:sp>
        <p:nvSpPr>
          <p:cNvPr id="60" name="Shape 58"/>
          <p:cNvSpPr/>
          <p:nvPr/>
        </p:nvSpPr>
        <p:spPr>
          <a:xfrm>
            <a:off x="7650480" y="2011680"/>
            <a:ext cx="1173480" cy="22860"/>
          </a:xfrm>
          <a:prstGeom prst="rect">
            <a:avLst/>
          </a:prstGeom>
          <a:solidFill>
            <a:srgbClr val="E8ECF4"/>
          </a:solidFill>
          <a:ln w="12700">
            <a:solidFill>
              <a:srgbClr val="E8ECF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1" name="Text 59"/>
          <p:cNvSpPr/>
          <p:nvPr/>
        </p:nvSpPr>
        <p:spPr>
          <a:xfrm>
            <a:off x="7632192" y="2112264"/>
            <a:ext cx="1210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090B0"/>
                </a:solidFill>
              </a:rPr>
              <a:t>· 성과 보고</a:t>
            </a:r>
            <a:endParaRPr lang="en-US" sz="950" dirty="0"/>
          </a:p>
        </p:txBody>
      </p:sp>
      <p:sp>
        <p:nvSpPr>
          <p:cNvPr id="62" name="Text 60"/>
          <p:cNvSpPr/>
          <p:nvPr/>
        </p:nvSpPr>
        <p:spPr>
          <a:xfrm>
            <a:off x="7632192" y="2624328"/>
            <a:ext cx="1210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090B0"/>
                </a:solidFill>
              </a:rPr>
              <a:t>· 런칭 로드맵</a:t>
            </a:r>
            <a:endParaRPr lang="en-US" sz="950" dirty="0"/>
          </a:p>
        </p:txBody>
      </p:sp>
      <p:sp>
        <p:nvSpPr>
          <p:cNvPr id="63" name="Text 61"/>
          <p:cNvSpPr/>
          <p:nvPr/>
        </p:nvSpPr>
        <p:spPr>
          <a:xfrm>
            <a:off x="7632192" y="3136392"/>
            <a:ext cx="1210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090B0"/>
                </a:solidFill>
              </a:rPr>
              <a:t>· 발표</a:t>
            </a:r>
            <a:endParaRPr lang="en-US" sz="950" dirty="0"/>
          </a:p>
        </p:txBody>
      </p:sp>
      <p:sp>
        <p:nvSpPr>
          <p:cNvPr id="64" name="Shape 62"/>
          <p:cNvSpPr/>
          <p:nvPr/>
        </p:nvSpPr>
        <p:spPr>
          <a:xfrm>
            <a:off x="228600" y="4575048"/>
            <a:ext cx="2822448" cy="274320"/>
          </a:xfrm>
          <a:prstGeom prst="rect">
            <a:avLst/>
          </a:prstGeom>
          <a:solidFill>
            <a:srgbClr val="2A3F7E"/>
          </a:solidFill>
          <a:ln w="12700">
            <a:solidFill>
              <a:srgbClr val="2A3F7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5" name="Text 63"/>
          <p:cNvSpPr/>
          <p:nvPr/>
        </p:nvSpPr>
        <p:spPr>
          <a:xfrm>
            <a:off x="228600" y="4575048"/>
            <a:ext cx="2822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설계</a:t>
            </a:r>
            <a:endParaRPr lang="en-US" sz="950" dirty="0"/>
          </a:p>
        </p:txBody>
      </p:sp>
      <p:sp>
        <p:nvSpPr>
          <p:cNvPr id="66" name="Shape 64"/>
          <p:cNvSpPr/>
          <p:nvPr/>
        </p:nvSpPr>
        <p:spPr>
          <a:xfrm>
            <a:off x="3160776" y="4575048"/>
            <a:ext cx="2822448" cy="274320"/>
          </a:xfrm>
          <a:prstGeom prst="rect">
            <a:avLst/>
          </a:prstGeom>
          <a:solidFill>
            <a:srgbClr val="4A90C4"/>
          </a:solidFill>
          <a:ln w="12700">
            <a:solidFill>
              <a:srgbClr val="4A90C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7" name="Text 65"/>
          <p:cNvSpPr/>
          <p:nvPr/>
        </p:nvSpPr>
        <p:spPr>
          <a:xfrm>
            <a:off x="3160776" y="4575048"/>
            <a:ext cx="2822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구현</a:t>
            </a:r>
            <a:endParaRPr lang="en-US" sz="950" dirty="0"/>
          </a:p>
        </p:txBody>
      </p:sp>
      <p:sp>
        <p:nvSpPr>
          <p:cNvPr id="68" name="Shape 66"/>
          <p:cNvSpPr/>
          <p:nvPr/>
        </p:nvSpPr>
        <p:spPr>
          <a:xfrm>
            <a:off x="6092952" y="4575048"/>
            <a:ext cx="1356360" cy="27432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9" name="Text 67"/>
          <p:cNvSpPr/>
          <p:nvPr/>
        </p:nvSpPr>
        <p:spPr>
          <a:xfrm>
            <a:off x="6092952" y="4575048"/>
            <a:ext cx="1356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검증</a:t>
            </a:r>
            <a:endParaRPr lang="en-US" sz="950" dirty="0"/>
          </a:p>
        </p:txBody>
      </p:sp>
      <p:sp>
        <p:nvSpPr>
          <p:cNvPr id="70" name="Shape 68"/>
          <p:cNvSpPr/>
          <p:nvPr/>
        </p:nvSpPr>
        <p:spPr>
          <a:xfrm>
            <a:off x="7559040" y="4575048"/>
            <a:ext cx="1356360" cy="27432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1" name="Text 69"/>
          <p:cNvSpPr/>
          <p:nvPr/>
        </p:nvSpPr>
        <p:spPr>
          <a:xfrm>
            <a:off x="7559040" y="4575048"/>
            <a:ext cx="1356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고도화</a:t>
            </a:r>
            <a:endParaRPr lang="en-US" sz="950" dirty="0"/>
          </a:p>
        </p:txBody>
      </p:sp>
      <p:sp>
        <p:nvSpPr>
          <p:cNvPr id="72" name="Shape 70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152040"/>
          </a:solidFill>
          <a:ln w="12700">
            <a:solidFill>
              <a:srgbClr val="15204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3" name="Text 71"/>
          <p:cNvSpPr/>
          <p:nvPr/>
        </p:nvSpPr>
        <p:spPr>
          <a:xfrm>
            <a:off x="365760" y="4873752"/>
            <a:ext cx="8412480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B9BD5"/>
                </a:solidFill>
              </a:rPr>
              <a:t>2주 단위 발표 · 검토 사이클  |  각 마일스톤 산출물 기반 다음 단계 진입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2D5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52040"/>
          </a:solidFill>
          <a:ln w="12700">
            <a:solidFill>
              <a:srgbClr val="15204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</a:rPr>
              <a:t>시스템 아키텍처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5B9BD5"/>
                </a:solidFill>
              </a:rPr>
              <a:t>데이터 흐름 설계도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28600" y="77724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300" dirty="0">
                <a:solidFill>
                  <a:srgbClr val="5B9BD5"/>
                </a:solidFill>
              </a:rPr>
              <a:t>INPUT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383280" y="77724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300" dirty="0">
                <a:solidFill>
                  <a:srgbClr val="5B9BD5"/>
                </a:solidFill>
              </a:rPr>
              <a:t>PROCESSING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766560" y="7772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300" dirty="0">
                <a:solidFill>
                  <a:srgbClr val="5B9BD5"/>
                </a:solidFill>
              </a:rPr>
              <a:t>OUTPUT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28600" y="1188720"/>
            <a:ext cx="2834640" cy="1005840"/>
          </a:xfrm>
          <a:prstGeom prst="rect">
            <a:avLst/>
          </a:prstGeom>
          <a:solidFill>
            <a:srgbClr val="4A90C4"/>
          </a:solidFill>
          <a:ln w="12700">
            <a:solidFill>
              <a:srgbClr val="4A90C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1444752"/>
            <a:ext cx="365760" cy="36576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868680" y="1298448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</a:rPr>
              <a:t>음성 녹음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868680" y="164592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ADCFC"/>
                </a:solidFill>
              </a:rPr>
              <a:t>CLOVA Speech API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228600" y="2359152"/>
            <a:ext cx="2834640" cy="1005840"/>
          </a:xfrm>
          <a:prstGeom prst="rect">
            <a:avLst/>
          </a:prstGeom>
          <a:solidFill>
            <a:srgbClr val="2A3F7E"/>
          </a:solidFill>
          <a:ln w="12700">
            <a:solidFill>
              <a:srgbClr val="2A3F7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" y="2615184"/>
            <a:ext cx="365760" cy="36576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868680" y="246888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</a:rPr>
              <a:t>수업 PDF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868680" y="2816352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ADCFC"/>
                </a:solidFill>
              </a:rPr>
              <a:t>Document Parser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228600" y="3529584"/>
            <a:ext cx="2834640" cy="1005840"/>
          </a:xfrm>
          <a:prstGeom prst="rect">
            <a:avLst/>
          </a:prstGeom>
          <a:solidFill>
            <a:srgbClr val="2A3F7E"/>
          </a:solidFill>
          <a:ln w="12700">
            <a:solidFill>
              <a:srgbClr val="2A3F7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1480" y="3785616"/>
            <a:ext cx="365760" cy="36576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68680" y="3639312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</a:rPr>
              <a:t>필기 노트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868680" y="3986784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ADCFC"/>
                </a:solidFill>
              </a:rPr>
              <a:t>직접 입력 (선택)</a:t>
            </a:r>
            <a:endParaRPr lang="en-US" sz="1000" dirty="0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90672" y="1542288"/>
            <a:ext cx="274320" cy="274320"/>
          </a:xfrm>
          <a:prstGeom prst="rect">
            <a:avLst/>
          </a:prstGeom>
        </p:spPr>
      </p:pic>
      <p:sp>
        <p:nvSpPr>
          <p:cNvPr id="22" name="Shape 16"/>
          <p:cNvSpPr/>
          <p:nvPr/>
        </p:nvSpPr>
        <p:spPr>
          <a:xfrm>
            <a:off x="3429000" y="1188720"/>
            <a:ext cx="2834640" cy="960120"/>
          </a:xfrm>
          <a:prstGeom prst="rect">
            <a:avLst/>
          </a:prstGeom>
          <a:solidFill>
            <a:srgbClr val="2A3F7E"/>
          </a:solidFill>
          <a:ln w="12700">
            <a:solidFill>
              <a:srgbClr val="4A90C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66160" y="1298448"/>
            <a:ext cx="347472" cy="347472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4005072" y="1216152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</a:rPr>
              <a:t>Data Aggregator</a:t>
            </a:r>
            <a:endParaRPr lang="en-US" sz="1200" dirty="0"/>
          </a:p>
        </p:txBody>
      </p:sp>
      <p:sp>
        <p:nvSpPr>
          <p:cNvPr id="25" name="Text 18"/>
          <p:cNvSpPr/>
          <p:nvPr/>
        </p:nvSpPr>
        <p:spPr>
          <a:xfrm>
            <a:off x="4005072" y="1536192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CADCFC"/>
                </a:solidFill>
              </a:rPr>
              <a:t>세 소스를 시간·주제별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CADCFC"/>
                </a:solidFill>
              </a:rPr>
              <a:t>병합(Merging)</a:t>
            </a:r>
            <a:endParaRPr lang="en-US" sz="950" dirty="0"/>
          </a:p>
        </p:txBody>
      </p:sp>
      <p:pic>
        <p:nvPicPr>
          <p:cNvPr id="27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5400000">
            <a:off x="4718304" y="2196465"/>
            <a:ext cx="256032" cy="256032"/>
          </a:xfrm>
          <a:prstGeom prst="rect">
            <a:avLst/>
          </a:prstGeom>
        </p:spPr>
      </p:pic>
      <p:sp>
        <p:nvSpPr>
          <p:cNvPr id="28" name="Shape 20"/>
          <p:cNvSpPr/>
          <p:nvPr/>
        </p:nvSpPr>
        <p:spPr>
          <a:xfrm>
            <a:off x="3429000" y="2514600"/>
            <a:ext cx="2834640" cy="1417320"/>
          </a:xfrm>
          <a:prstGeom prst="rect">
            <a:avLst/>
          </a:prstGeom>
          <a:solidFill>
            <a:srgbClr val="0D47A1"/>
          </a:solidFill>
          <a:ln w="12700">
            <a:solidFill>
              <a:srgbClr val="4A90C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29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566160" y="2633472"/>
            <a:ext cx="365760" cy="365760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4023360" y="2560320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</a:rPr>
              <a:t>Gemini 1.5 API</a:t>
            </a:r>
            <a:endParaRPr lang="en-US" sz="1300" dirty="0"/>
          </a:p>
        </p:txBody>
      </p:sp>
      <p:sp>
        <p:nvSpPr>
          <p:cNvPr id="31" name="Text 22"/>
          <p:cNvSpPr/>
          <p:nvPr/>
        </p:nvSpPr>
        <p:spPr>
          <a:xfrm>
            <a:off x="4023360" y="2926080"/>
            <a:ext cx="2103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F1C40F"/>
                </a:solidFill>
              </a:rPr>
              <a:t>1M 토큰</a:t>
            </a:r>
            <a:r>
              <a:rPr lang="en-US" sz="950" dirty="0">
                <a:solidFill>
                  <a:srgbClr val="CADCFC"/>
                </a:solidFill>
              </a:rPr>
              <a:t> 컨텍스트 수용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CADCFC"/>
                </a:solidFill>
              </a:rPr>
              <a:t>맥락 분석·구조화 요약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CADCFC"/>
                </a:solidFill>
              </a:rPr>
              <a:t>예상 문제 자동 생성</a:t>
            </a:r>
            <a:endParaRPr lang="en-US" sz="950" dirty="0"/>
          </a:p>
        </p:txBody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91072" y="2615184"/>
            <a:ext cx="274320" cy="274320"/>
          </a:xfrm>
          <a:prstGeom prst="rect">
            <a:avLst/>
          </a:prstGeom>
        </p:spPr>
      </p:pic>
      <p:sp>
        <p:nvSpPr>
          <p:cNvPr id="33" name="Shape 23"/>
          <p:cNvSpPr/>
          <p:nvPr/>
        </p:nvSpPr>
        <p:spPr>
          <a:xfrm>
            <a:off x="6629400" y="1188720"/>
            <a:ext cx="2240280" cy="2926080"/>
          </a:xfrm>
          <a:prstGeom prst="rect">
            <a:avLst/>
          </a:prstGeom>
          <a:solidFill>
            <a:srgbClr val="2A3F7E"/>
          </a:solidFill>
          <a:ln w="12700">
            <a:solidFill>
              <a:srgbClr val="4A90C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34" name="Image 8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812280" y="1325880"/>
            <a:ext cx="347472" cy="347472"/>
          </a:xfrm>
          <a:prstGeom prst="rect">
            <a:avLst/>
          </a:prstGeom>
        </p:spPr>
      </p:pic>
      <p:sp>
        <p:nvSpPr>
          <p:cNvPr id="35" name="Text 24"/>
          <p:cNvSpPr/>
          <p:nvPr/>
        </p:nvSpPr>
        <p:spPr>
          <a:xfrm>
            <a:off x="7223760" y="129844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5B9BD5"/>
                </a:solidFill>
              </a:rPr>
              <a:t>OUTPUT</a:t>
            </a:r>
            <a:endParaRPr lang="en-US" sz="1100" dirty="0"/>
          </a:p>
        </p:txBody>
      </p:sp>
      <p:sp>
        <p:nvSpPr>
          <p:cNvPr id="36" name="Shape 25"/>
          <p:cNvSpPr/>
          <p:nvPr/>
        </p:nvSpPr>
        <p:spPr>
          <a:xfrm>
            <a:off x="6766560" y="1783080"/>
            <a:ext cx="1965960" cy="621792"/>
          </a:xfrm>
          <a:prstGeom prst="rect">
            <a:avLst/>
          </a:prstGeom>
          <a:solidFill>
            <a:srgbClr val="1E2D5A"/>
          </a:solidFill>
          <a:ln w="12700">
            <a:solidFill>
              <a:srgbClr val="4A90C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Text 26"/>
          <p:cNvSpPr/>
          <p:nvPr/>
        </p:nvSpPr>
        <p:spPr>
          <a:xfrm>
            <a:off x="6812280" y="1819656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</a:rPr>
              <a:t>과목별 구조화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</a:rPr>
              <a:t>강의 노트 자동 생성</a:t>
            </a:r>
            <a:endParaRPr lang="en-US" sz="950" dirty="0"/>
          </a:p>
        </p:txBody>
      </p:sp>
      <p:sp>
        <p:nvSpPr>
          <p:cNvPr id="38" name="Shape 27"/>
          <p:cNvSpPr/>
          <p:nvPr/>
        </p:nvSpPr>
        <p:spPr>
          <a:xfrm>
            <a:off x="6766560" y="2532888"/>
            <a:ext cx="1965960" cy="621792"/>
          </a:xfrm>
          <a:prstGeom prst="rect">
            <a:avLst/>
          </a:prstGeom>
          <a:solidFill>
            <a:srgbClr val="1E2D5A"/>
          </a:solidFill>
          <a:ln w="12700">
            <a:solidFill>
              <a:srgbClr val="4A90C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9" name="Text 28"/>
          <p:cNvSpPr/>
          <p:nvPr/>
        </p:nvSpPr>
        <p:spPr>
          <a:xfrm>
            <a:off x="6812280" y="2569464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</a:rPr>
              <a:t>시험 대비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</a:rPr>
              <a:t>예상 문제 추출</a:t>
            </a:r>
            <a:endParaRPr lang="en-US" sz="950" dirty="0"/>
          </a:p>
        </p:txBody>
      </p:sp>
      <p:sp>
        <p:nvSpPr>
          <p:cNvPr id="40" name="Shape 29"/>
          <p:cNvSpPr/>
          <p:nvPr/>
        </p:nvSpPr>
        <p:spPr>
          <a:xfrm>
            <a:off x="6766560" y="3282696"/>
            <a:ext cx="1965960" cy="621792"/>
          </a:xfrm>
          <a:prstGeom prst="rect">
            <a:avLst/>
          </a:prstGeom>
          <a:solidFill>
            <a:srgbClr val="1E2D5A"/>
          </a:solidFill>
          <a:ln w="12700">
            <a:solidFill>
              <a:srgbClr val="4A90C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1" name="Text 30"/>
          <p:cNvSpPr/>
          <p:nvPr/>
        </p:nvSpPr>
        <p:spPr>
          <a:xfrm>
            <a:off x="6812280" y="3319272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</a:rPr>
              <a:t>PDF·과목별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</a:rPr>
              <a:t>폴더 저장</a:t>
            </a:r>
            <a:endParaRPr lang="en-US" sz="950" dirty="0"/>
          </a:p>
        </p:txBody>
      </p:sp>
      <p:sp>
        <p:nvSpPr>
          <p:cNvPr id="42" name="Shape 31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152040"/>
          </a:solidFill>
          <a:ln w="12700">
            <a:solidFill>
              <a:srgbClr val="15204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3" name="Text 32"/>
          <p:cNvSpPr/>
          <p:nvPr/>
        </p:nvSpPr>
        <p:spPr>
          <a:xfrm>
            <a:off x="365760" y="4709160"/>
            <a:ext cx="841248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9BD5"/>
                </a:solidFill>
              </a:rPr>
              <a:t>💡  1M 토큰 = 1~2시간 강의 전체를 한 번의 API 호출로 처리 가능  |  세 소스 통합으로 클로바노트 단독 대비 요약 품질 대폭 향상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D5A"/>
          </a:solidFill>
          <a:ln w="12700">
            <a:solidFill>
              <a:srgbClr val="1E2D5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</a:rPr>
              <a:t>원가 구조 분석 — 문제 발견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5B9BD5"/>
                </a:solidFill>
              </a:rPr>
              <a:t>회원 1인 · 월 10회 강의 기준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4320" y="822960"/>
            <a:ext cx="5303520" cy="384048"/>
          </a:xfrm>
          <a:prstGeom prst="rect">
            <a:avLst/>
          </a:prstGeom>
          <a:solidFill>
            <a:srgbClr val="1E2D5A"/>
          </a:solidFill>
          <a:ln w="12700">
            <a:solidFill>
              <a:srgbClr val="1E2D5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320040" y="822960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</a:rPr>
              <a:t>항목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783080" y="822960"/>
            <a:ext cx="2240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</a:rPr>
              <a:t>세부 내역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069080" y="82296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</a:rPr>
              <a:t>비용(인당/월)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74320" y="1207008"/>
            <a:ext cx="530352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274320" y="1207008"/>
            <a:ext cx="73152" cy="51206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411480" y="1234440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A2340"/>
                </a:solidFill>
              </a:rPr>
              <a:t>STT (CLOVA Speech)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1783080" y="123444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090B0"/>
                </a:solidFill>
              </a:rPr>
              <a:t>분당 20원 × 600분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069080" y="123444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C0392B"/>
                </a:solidFill>
              </a:rPr>
              <a:t>12,000원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74320" y="1737360"/>
            <a:ext cx="5303520" cy="512064"/>
          </a:xfrm>
          <a:prstGeom prst="rect">
            <a:avLst/>
          </a:prstGeom>
          <a:solidFill>
            <a:srgbClr val="F4F6FA"/>
          </a:solidFill>
          <a:ln w="12700">
            <a:solidFill>
              <a:srgbClr val="E8ECF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3"/>
          <p:cNvSpPr/>
          <p:nvPr/>
        </p:nvSpPr>
        <p:spPr>
          <a:xfrm>
            <a:off x="274320" y="1737360"/>
            <a:ext cx="73152" cy="512064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411480" y="1764792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A2340"/>
                </a:solidFill>
              </a:rPr>
              <a:t>LLM (Gemini 1.5)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1783080" y="1764792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090B0"/>
                </a:solidFill>
              </a:rPr>
              <a:t>1M토큰당 $0.075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069080" y="1764792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27AE60"/>
                </a:solidFill>
              </a:rPr>
              <a:t>500원 미만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74320" y="2267712"/>
            <a:ext cx="530352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8"/>
          <p:cNvSpPr/>
          <p:nvPr/>
        </p:nvSpPr>
        <p:spPr>
          <a:xfrm>
            <a:off x="274320" y="2267712"/>
            <a:ext cx="73152" cy="512064"/>
          </a:xfrm>
          <a:prstGeom prst="rect">
            <a:avLst/>
          </a:prstGeom>
          <a:solidFill>
            <a:srgbClr val="4A90C4"/>
          </a:solidFill>
          <a:ln w="12700">
            <a:solidFill>
              <a:srgbClr val="4A90C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411480" y="2295144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A2340"/>
                </a:solidFill>
              </a:rPr>
              <a:t>서버 / 인프라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1783080" y="2295144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090B0"/>
                </a:solidFill>
              </a:rPr>
              <a:t>AWS 마이크로 인스턴스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069080" y="2295144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4A90C4"/>
                </a:solidFill>
              </a:rPr>
              <a:t>300원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74320" y="2798064"/>
            <a:ext cx="5303520" cy="512064"/>
          </a:xfrm>
          <a:prstGeom prst="rect">
            <a:avLst/>
          </a:prstGeom>
          <a:solidFill>
            <a:srgbClr val="F4F6FA"/>
          </a:solidFill>
          <a:ln w="12700">
            <a:solidFill>
              <a:srgbClr val="E8ECF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23"/>
          <p:cNvSpPr/>
          <p:nvPr/>
        </p:nvSpPr>
        <p:spPr>
          <a:xfrm>
            <a:off x="274320" y="2798064"/>
            <a:ext cx="73152" cy="512064"/>
          </a:xfrm>
          <a:prstGeom prst="rect">
            <a:avLst/>
          </a:prstGeom>
          <a:solidFill>
            <a:srgbClr val="8090B0"/>
          </a:solidFill>
          <a:ln w="12700">
            <a:solidFill>
              <a:srgbClr val="8090B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/>
          <p:cNvSpPr/>
          <p:nvPr/>
        </p:nvSpPr>
        <p:spPr>
          <a:xfrm>
            <a:off x="411480" y="2825496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A2340"/>
                </a:solidFill>
              </a:rPr>
              <a:t>기타 (수수료 등)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1783080" y="2825496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090B0"/>
                </a:solidFill>
              </a:rPr>
              <a:t>결제 수수료 · 운영비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069080" y="2825496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8090B0"/>
                </a:solidFill>
              </a:rPr>
              <a:t>500원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274320" y="3310128"/>
            <a:ext cx="5303520" cy="475488"/>
          </a:xfrm>
          <a:prstGeom prst="rect">
            <a:avLst/>
          </a:prstGeom>
          <a:solidFill>
            <a:srgbClr val="1E2D5A"/>
          </a:solidFill>
          <a:ln w="12700">
            <a:solidFill>
              <a:srgbClr val="1E2D5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8"/>
          <p:cNvSpPr/>
          <p:nvPr/>
        </p:nvSpPr>
        <p:spPr>
          <a:xfrm>
            <a:off x="411480" y="3310128"/>
            <a:ext cx="1325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</a:rPr>
              <a:t>합계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1783080" y="3310128"/>
            <a:ext cx="2240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9BD5"/>
                </a:solidFill>
              </a:rPr>
              <a:t>월 10회 강의 기준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069080" y="3310128"/>
            <a:ext cx="1371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1C40F"/>
                </a:solidFill>
              </a:rPr>
              <a:t>약 13,300원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852160" y="82296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2340"/>
                </a:solidFill>
              </a:rPr>
              <a:t>원가 구성 비율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5943600" y="1234440"/>
            <a:ext cx="2551176" cy="5029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Shape 33"/>
          <p:cNvSpPr/>
          <p:nvPr/>
        </p:nvSpPr>
        <p:spPr>
          <a:xfrm>
            <a:off x="8494776" y="1234440"/>
            <a:ext cx="113386" cy="50292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Shape 34"/>
          <p:cNvSpPr/>
          <p:nvPr/>
        </p:nvSpPr>
        <p:spPr>
          <a:xfrm>
            <a:off x="8608162" y="1234440"/>
            <a:ext cx="56693" cy="502920"/>
          </a:xfrm>
          <a:prstGeom prst="rect">
            <a:avLst/>
          </a:prstGeom>
          <a:solidFill>
            <a:srgbClr val="4A90C4"/>
          </a:solidFill>
          <a:ln w="12700">
            <a:solidFill>
              <a:srgbClr val="4A90C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Shape 35"/>
          <p:cNvSpPr/>
          <p:nvPr/>
        </p:nvSpPr>
        <p:spPr>
          <a:xfrm>
            <a:off x="8664854" y="1234440"/>
            <a:ext cx="113386" cy="502920"/>
          </a:xfrm>
          <a:prstGeom prst="rect">
            <a:avLst/>
          </a:prstGeom>
          <a:solidFill>
            <a:srgbClr val="8090B0"/>
          </a:solidFill>
          <a:ln w="12700">
            <a:solidFill>
              <a:srgbClr val="8090B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Text 36"/>
          <p:cNvSpPr/>
          <p:nvPr/>
        </p:nvSpPr>
        <p:spPr>
          <a:xfrm>
            <a:off x="5943600" y="1755648"/>
            <a:ext cx="2551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C0392B"/>
                </a:solidFill>
              </a:rPr>
              <a:t>STT 90%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5943600" y="2039112"/>
            <a:ext cx="201168" cy="20116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0" name="Text 38"/>
          <p:cNvSpPr/>
          <p:nvPr/>
        </p:nvSpPr>
        <p:spPr>
          <a:xfrm>
            <a:off x="6236208" y="196596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A2340"/>
                </a:solidFill>
              </a:rPr>
              <a:t>CLOVA STT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7498080" y="196596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090B0"/>
                </a:solidFill>
              </a:rPr>
              <a:t>90% — 12,000원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5943600" y="2514600"/>
            <a:ext cx="201168" cy="201168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3" name="Text 41"/>
          <p:cNvSpPr/>
          <p:nvPr/>
        </p:nvSpPr>
        <p:spPr>
          <a:xfrm>
            <a:off x="6236208" y="2441448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A2340"/>
                </a:solidFill>
              </a:rPr>
              <a:t>Gemini LLM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7498080" y="2441448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090B0"/>
                </a:solidFill>
              </a:rPr>
              <a:t>4% — 500원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5943600" y="2990088"/>
            <a:ext cx="201168" cy="201168"/>
          </a:xfrm>
          <a:prstGeom prst="rect">
            <a:avLst/>
          </a:prstGeom>
          <a:solidFill>
            <a:srgbClr val="4A90C4"/>
          </a:solidFill>
          <a:ln w="12700">
            <a:solidFill>
              <a:srgbClr val="4A90C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6" name="Text 44"/>
          <p:cNvSpPr/>
          <p:nvPr/>
        </p:nvSpPr>
        <p:spPr>
          <a:xfrm>
            <a:off x="6236208" y="2916936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A2340"/>
                </a:solidFill>
              </a:rPr>
              <a:t>인프라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7498080" y="2916936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090B0"/>
                </a:solidFill>
              </a:rPr>
              <a:t>2% — 300원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5943600" y="3465576"/>
            <a:ext cx="201168" cy="201168"/>
          </a:xfrm>
          <a:prstGeom prst="rect">
            <a:avLst/>
          </a:prstGeom>
          <a:solidFill>
            <a:srgbClr val="8090B0"/>
          </a:solidFill>
          <a:ln w="12700">
            <a:solidFill>
              <a:srgbClr val="8090B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9" name="Text 47"/>
          <p:cNvSpPr/>
          <p:nvPr/>
        </p:nvSpPr>
        <p:spPr>
          <a:xfrm>
            <a:off x="6236208" y="3392424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A2340"/>
                </a:solidFill>
              </a:rPr>
              <a:t>기타</a:t>
            </a:r>
            <a:endParaRPr lang="en-US" sz="1050" dirty="0"/>
          </a:p>
        </p:txBody>
      </p:sp>
      <p:sp>
        <p:nvSpPr>
          <p:cNvPr id="50" name="Text 48"/>
          <p:cNvSpPr/>
          <p:nvPr/>
        </p:nvSpPr>
        <p:spPr>
          <a:xfrm>
            <a:off x="7498080" y="3392424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090B0"/>
                </a:solidFill>
              </a:rPr>
              <a:t>4% — 500원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274320" y="3931920"/>
            <a:ext cx="8595360" cy="960120"/>
          </a:xfrm>
          <a:prstGeom prst="rect">
            <a:avLst/>
          </a:prstGeom>
          <a:solidFill>
            <a:srgbClr val="FFF3F3"/>
          </a:solidFill>
          <a:ln w="12700">
            <a:solidFill>
              <a:srgbClr val="C0392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5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4069080"/>
            <a:ext cx="384048" cy="384048"/>
          </a:xfrm>
          <a:prstGeom prst="rect">
            <a:avLst/>
          </a:prstGeom>
        </p:spPr>
      </p:pic>
      <p:sp>
        <p:nvSpPr>
          <p:cNvPr id="53" name="Text 50"/>
          <p:cNvSpPr/>
          <p:nvPr/>
        </p:nvSpPr>
        <p:spPr>
          <a:xfrm>
            <a:off x="960120" y="3931920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C0392B"/>
                </a:solidFill>
              </a:rPr>
              <a:t>문제 발견: 역마진 구조</a:t>
            </a:r>
            <a:endParaRPr lang="en-US" sz="1300" dirty="0"/>
          </a:p>
        </p:txBody>
      </p:sp>
      <p:sp>
        <p:nvSpPr>
          <p:cNvPr id="54" name="Text 51"/>
          <p:cNvSpPr/>
          <p:nvPr/>
        </p:nvSpPr>
        <p:spPr>
          <a:xfrm>
            <a:off x="960120" y="4315968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C0392B"/>
                </a:solidFill>
              </a:rPr>
              <a:t>CLOVA 분당 20원 → 월 10회 강의 시 STT 비용만 12,000원  |  구독료 3,000~5,000원과 비교하면 역마진 — 사업화 단계에서 그대로 사용 불가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D5A"/>
          </a:solidFill>
          <a:ln w="12700">
            <a:solidFill>
              <a:srgbClr val="1E2D5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</a:rPr>
              <a:t>STT 엔진 비교 분석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5B9BD5"/>
                </a:solidFill>
              </a:rPr>
              <a:t>1시간 강의 기준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4320" y="804672"/>
            <a:ext cx="8595360" cy="384048"/>
          </a:xfrm>
          <a:prstGeom prst="rect">
            <a:avLst/>
          </a:prstGeom>
          <a:solidFill>
            <a:srgbClr val="1E2D5A"/>
          </a:solidFill>
          <a:ln w="12700">
            <a:solidFill>
              <a:srgbClr val="1E2D5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320040" y="804672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FFFF"/>
                </a:solidFill>
              </a:rPr>
              <a:t>엔진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1874520" y="804672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FFFF"/>
                </a:solidFill>
              </a:rPr>
              <a:t>1시간 비용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154680" y="804672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FFFF"/>
                </a:solidFill>
              </a:rPr>
              <a:t>한국어 정확도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617720" y="804672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FFFF"/>
                </a:solidFill>
              </a:rPr>
              <a:t>강점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766560" y="804672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FFFF"/>
                </a:solidFill>
              </a:rPr>
              <a:t>한계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74320" y="1207008"/>
            <a:ext cx="8595360" cy="1115568"/>
          </a:xfrm>
          <a:prstGeom prst="rect">
            <a:avLst/>
          </a:prstGeom>
          <a:solidFill>
            <a:srgbClr val="EEF4FF"/>
          </a:solidFill>
          <a:ln w="12700">
            <a:solidFill>
              <a:srgbClr val="4A90C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274320" y="1207008"/>
            <a:ext cx="91440" cy="1115568"/>
          </a:xfrm>
          <a:prstGeom prst="rect">
            <a:avLst/>
          </a:prstGeom>
          <a:solidFill>
            <a:srgbClr val="4A90C4"/>
          </a:solidFill>
          <a:ln w="12700">
            <a:solidFill>
              <a:srgbClr val="4A90C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408432" y="1344168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A2340"/>
                </a:solidFill>
              </a:rPr>
              <a:t>CLOVA Speech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74520" y="1298448"/>
            <a:ext cx="1234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A2340"/>
                </a:solidFill>
              </a:rPr>
              <a:t>1,200원</a:t>
            </a:r>
            <a:endParaRPr lang="en-US" sz="1050" dirty="0"/>
          </a:p>
          <a:p>
            <a:pPr marL="0" indent="0" algn="l">
              <a:buNone/>
            </a:pPr>
            <a:r>
              <a:rPr lang="en-US" sz="1050" b="1" dirty="0">
                <a:solidFill>
                  <a:srgbClr val="1A2340"/>
                </a:solidFill>
              </a:rPr>
              <a:t>(분당 20원)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3154680" y="1298448"/>
            <a:ext cx="1417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27AE60"/>
                </a:solidFill>
              </a:rPr>
              <a:t>90%+  ★최상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617720" y="1298448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1A2340"/>
                </a:solidFill>
              </a:rPr>
              <a:t>한국어 특화 학습 데이터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1A2340"/>
                </a:solidFill>
              </a:rPr>
              <a:t>추임새·고유명사 처리 탁월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6766560" y="1298448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8090B0"/>
                </a:solidFill>
              </a:rPr>
              <a:t>단가 가장 높음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8090B0"/>
                </a:solidFill>
              </a:rPr>
              <a:t>사업화 시 역마진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274320" y="2395728"/>
            <a:ext cx="8595360" cy="1115568"/>
          </a:xfrm>
          <a:prstGeom prst="rect">
            <a:avLst/>
          </a:prstGeom>
          <a:solidFill>
            <a:srgbClr val="F4F6FA"/>
          </a:solidFill>
          <a:ln w="12700">
            <a:solidFill>
              <a:srgbClr val="E8ECF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347472" y="2532888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A2340"/>
                </a:solidFill>
              </a:rPr>
              <a:t>OpenAI Whisper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874520" y="2487168"/>
            <a:ext cx="1234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A2340"/>
                </a:solidFill>
              </a:rPr>
              <a:t>400원</a:t>
            </a:r>
            <a:endParaRPr lang="en-US" sz="1050" dirty="0"/>
          </a:p>
          <a:p>
            <a:pPr marL="0" indent="0" algn="l">
              <a:buNone/>
            </a:pPr>
            <a:r>
              <a:rPr lang="en-US" sz="1050" b="1" dirty="0">
                <a:solidFill>
                  <a:srgbClr val="1A2340"/>
                </a:solidFill>
              </a:rPr>
              <a:t>(또는 0원*)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154680" y="2487168"/>
            <a:ext cx="1417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4A90C4"/>
                </a:solidFill>
              </a:rPr>
              <a:t>85~90%  ★상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617720" y="2487168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1A2340"/>
                </a:solidFill>
              </a:rPr>
              <a:t>오픈소스 — 자체 서버 시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1A2340"/>
                </a:solidFill>
              </a:rPr>
              <a:t>API 비용 완전 제거 가능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6766560" y="2487168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8090B0"/>
                </a:solidFill>
              </a:rPr>
              <a:t>실시간 스트리밍 다소 무거움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8090B0"/>
                </a:solidFill>
              </a:rPr>
              <a:t>사투리 오인식 가능성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274320" y="3584448"/>
            <a:ext cx="859536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3"/>
          <p:cNvSpPr/>
          <p:nvPr/>
        </p:nvSpPr>
        <p:spPr>
          <a:xfrm>
            <a:off x="347472" y="3721608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A2340"/>
                </a:solidFill>
              </a:rPr>
              <a:t>Google STT</a:t>
            </a:r>
            <a:endParaRPr lang="en-US" sz="1100" dirty="0"/>
          </a:p>
          <a:p>
            <a:pPr marL="0" indent="0" algn="l">
              <a:buNone/>
            </a:pPr>
            <a:r>
              <a:rPr lang="en-US" sz="1100" b="1" dirty="0">
                <a:solidFill>
                  <a:srgbClr val="1A2340"/>
                </a:solidFill>
              </a:rPr>
              <a:t>(Chirp)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874520" y="3675888"/>
            <a:ext cx="1234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A2340"/>
                </a:solidFill>
              </a:rPr>
              <a:t>900~1,100원</a:t>
            </a:r>
            <a:endParaRPr lang="en-US" sz="1050" dirty="0"/>
          </a:p>
          <a:p>
            <a:pPr marL="0" indent="0" algn="l">
              <a:buNone/>
            </a:pPr>
            <a:r>
              <a:rPr lang="en-US" sz="1050" b="1" dirty="0">
                <a:solidFill>
                  <a:srgbClr val="1A2340"/>
                </a:solidFill>
              </a:rPr>
              <a:t>($0.016/분)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3154680" y="3675888"/>
            <a:ext cx="1417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E67E22"/>
                </a:solidFill>
              </a:rPr>
              <a:t>80~85%  ★중상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617720" y="3675888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1A2340"/>
                </a:solidFill>
              </a:rPr>
              <a:t>Gemini와 같은 생태계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1A2340"/>
                </a:solidFill>
              </a:rPr>
              <a:t>연동 단순·안정성 높음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6766560" y="3675888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8090B0"/>
                </a:solidFill>
              </a:rPr>
              <a:t>전문 용어 인식률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8090B0"/>
                </a:solidFill>
              </a:rPr>
              <a:t>클로바 대비 소폭 낮음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365760" y="475488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i="1" dirty="0">
                <a:solidFill>
                  <a:srgbClr val="8090B0"/>
                </a:solidFill>
              </a:rPr>
              <a:t>* Whisper 오픈소스를 자체 서버(AWS EC2 등)에 직접 배포 시 API 호출 비용 없음 — 서버 고정비만 발생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2D5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52040"/>
          </a:solidFill>
          <a:ln w="12700">
            <a:solidFill>
              <a:srgbClr val="15204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</a:rPr>
              <a:t>그래도 지금은 CLOVA로 — 그리고 플랜 B는 준비됐다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28600" y="822960"/>
            <a:ext cx="2788920" cy="3566160"/>
          </a:xfrm>
          <a:prstGeom prst="rect">
            <a:avLst/>
          </a:prstGeom>
          <a:solidFill>
            <a:srgbClr val="2A3F7E"/>
          </a:solidFill>
          <a:ln w="12700">
            <a:solidFill>
              <a:srgbClr val="4A90C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338328" y="886968"/>
            <a:ext cx="502920" cy="502920"/>
          </a:xfrm>
          <a:prstGeom prst="ellipse">
            <a:avLst/>
          </a:prstGeom>
          <a:solidFill>
            <a:srgbClr val="4A90C4"/>
          </a:solidFill>
          <a:ln w="12700">
            <a:solidFill>
              <a:srgbClr val="4A90C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338328" y="8869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20040" y="1435608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</a:rPr>
              <a:t>지금 당장 비용 문제 없음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0040" y="2029968"/>
            <a:ext cx="2606040" cy="27432"/>
          </a:xfrm>
          <a:prstGeom prst="rect">
            <a:avLst/>
          </a:prstGeom>
          <a:solidFill>
            <a:srgbClr val="4A90C4"/>
          </a:solidFill>
          <a:ln w="12700">
            <a:solidFill>
              <a:srgbClr val="4A90C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320040" y="2121408"/>
            <a:ext cx="260604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CADCFC"/>
                </a:solidFill>
              </a:rPr>
              <a:t>알파 단계는 NCP(네이버) 신규 가입 무료 크레딧 + Google API 무료 티어 활용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CADCFC"/>
                </a:solidFill>
              </a:rPr>
              <a:t>→ 실제 지출 비용 0원, 개발 속도 우선 확보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154680" y="822960"/>
            <a:ext cx="2788920" cy="3566160"/>
          </a:xfrm>
          <a:prstGeom prst="rect">
            <a:avLst/>
          </a:prstGeom>
          <a:solidFill>
            <a:srgbClr val="2A3F7E"/>
          </a:solidFill>
          <a:ln w="12700">
            <a:solidFill>
              <a:srgbClr val="4A90C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3264408" y="886968"/>
            <a:ext cx="502920" cy="502920"/>
          </a:xfrm>
          <a:prstGeom prst="ellipse">
            <a:avLst/>
          </a:prstGeom>
          <a:solidFill>
            <a:srgbClr val="4A90C4"/>
          </a:solidFill>
          <a:ln w="12700">
            <a:solidFill>
              <a:srgbClr val="4A90C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3264408" y="8869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246120" y="1435608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</a:rPr>
              <a:t>알파 단계엔 CLOVA여야 한다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246120" y="2029968"/>
            <a:ext cx="2606040" cy="27432"/>
          </a:xfrm>
          <a:prstGeom prst="rect">
            <a:avLst/>
          </a:prstGeom>
          <a:solidFill>
            <a:srgbClr val="4A90C4"/>
          </a:solidFill>
          <a:ln w="12700">
            <a:solidFill>
              <a:srgbClr val="4A90C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3246120" y="2121408"/>
            <a:ext cx="260604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CADCFC"/>
                </a:solidFill>
              </a:rPr>
              <a:t>정확도 90%+ → MVP 품질 기준점 확보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CADCFC"/>
                </a:solidFill>
              </a:rPr>
              <a:t>STT 인식률이 낮으면 LLM 요약 품질도 무너짐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CADCFC"/>
                </a:solidFill>
              </a:rPr>
              <a:t>→ 정확도 검증이 기능 검증보다 선행되어야 함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080760" y="822960"/>
            <a:ext cx="2788920" cy="3566160"/>
          </a:xfrm>
          <a:prstGeom prst="rect">
            <a:avLst/>
          </a:prstGeom>
          <a:solidFill>
            <a:srgbClr val="2A3F7E"/>
          </a:solidFill>
          <a:ln w="12700">
            <a:solidFill>
              <a:srgbClr val="4A90C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5"/>
          <p:cNvSpPr/>
          <p:nvPr/>
        </p:nvSpPr>
        <p:spPr>
          <a:xfrm>
            <a:off x="6190488" y="886968"/>
            <a:ext cx="502920" cy="502920"/>
          </a:xfrm>
          <a:prstGeom prst="ellipse">
            <a:avLst/>
          </a:prstGeom>
          <a:solidFill>
            <a:srgbClr val="4A90C4"/>
          </a:solidFill>
          <a:ln w="12700">
            <a:solidFill>
              <a:srgbClr val="4A90C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6190488" y="8869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172200" y="1435608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</a:rPr>
              <a:t>플랜 B는 차선책이 아님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172200" y="2029968"/>
            <a:ext cx="2606040" cy="27432"/>
          </a:xfrm>
          <a:prstGeom prst="rect">
            <a:avLst/>
          </a:prstGeom>
          <a:solidFill>
            <a:srgbClr val="4A90C4"/>
          </a:solidFill>
          <a:ln w="12700">
            <a:solidFill>
              <a:srgbClr val="4A90C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6172200" y="2121408"/>
            <a:ext cx="260604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CADCFC"/>
                </a:solidFill>
              </a:rPr>
              <a:t>Whisper V3: 정확도 85~90%로 클로바와 실질 차이 미미 + 오픈소스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CADCFC"/>
                </a:solidFill>
              </a:rPr>
              <a:t>Google STT: Gemini 동일 생태계 → 연동 단순, 단가 저렴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CADCFC"/>
                </a:solidFill>
              </a:rPr>
              <a:t>자체 서버(AWS EC2) 배포 시 API 비용 소멸 + 규모의 경제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228600" y="4526280"/>
            <a:ext cx="8686800" cy="502920"/>
          </a:xfrm>
          <a:prstGeom prst="rect">
            <a:avLst/>
          </a:prstGeom>
          <a:solidFill>
            <a:srgbClr val="4A90C4"/>
          </a:solidFill>
          <a:ln w="12700">
            <a:solidFill>
              <a:srgbClr val="4A90C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/>
          <p:nvPr/>
        </p:nvSpPr>
        <p:spPr>
          <a:xfrm>
            <a:off x="274320" y="452628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초기엔 API로 빠르게 검증  →  스케일업 시 자체 인프라로 전환  |  AI 스타트업의 전형적인 원가 최적화 경로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2D5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52040"/>
          </a:solidFill>
          <a:ln w="12700">
            <a:solidFill>
              <a:srgbClr val="15204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</a:rPr>
              <a:t>결론 및 다음 목표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82296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</a:rPr>
              <a:t>우리가 직접 겪는 문제,</a:t>
            </a:r>
            <a:endParaRPr lang="en-US" sz="2600" dirty="0"/>
          </a:p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</a:rPr>
              <a:t>가장 현실적인 기술로 해결합니다.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286000" y="2176272"/>
            <a:ext cx="4572000" cy="36576"/>
          </a:xfrm>
          <a:prstGeom prst="rect">
            <a:avLst/>
          </a:prstGeom>
          <a:solidFill>
            <a:srgbClr val="4A90C4"/>
          </a:solidFill>
          <a:ln w="12700">
            <a:solidFill>
              <a:srgbClr val="4A90C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457200" y="2377440"/>
            <a:ext cx="2560320" cy="2103120"/>
          </a:xfrm>
          <a:prstGeom prst="rect">
            <a:avLst/>
          </a:prstGeom>
          <a:solidFill>
            <a:srgbClr val="2A3F7E"/>
          </a:solidFill>
          <a:ln w="12700">
            <a:solidFill>
              <a:srgbClr val="4A90C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2487168"/>
            <a:ext cx="347472" cy="34747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48640" y="2907792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5B9BD5"/>
                </a:solidFill>
              </a:rPr>
              <a:t>설계 완료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48640" y="3310128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ADCFC"/>
                </a:solidFill>
              </a:rPr>
              <a:t>시스템 아키텍처·API 규격·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CADCFC"/>
                </a:solidFill>
              </a:rPr>
              <a:t>비용 구조 산출까지 끝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3246120" y="2377440"/>
            <a:ext cx="2560320" cy="2103120"/>
          </a:xfrm>
          <a:prstGeom prst="rect">
            <a:avLst/>
          </a:prstGeom>
          <a:solidFill>
            <a:srgbClr val="2A3F7E"/>
          </a:solidFill>
          <a:ln w="12700">
            <a:solidFill>
              <a:srgbClr val="4A90C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3280" y="2487168"/>
            <a:ext cx="347472" cy="34747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337560" y="2907792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5B9BD5"/>
                </a:solidFill>
              </a:rPr>
              <a:t>STT 전략 확정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3337560" y="3310128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ADCFC"/>
                </a:solidFill>
              </a:rPr>
              <a:t>알파는 CLOVA,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CADCFC"/>
                </a:solidFill>
              </a:rPr>
              <a:t>사업화는 자체 인프라로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6035040" y="2377440"/>
            <a:ext cx="2560320" cy="2103120"/>
          </a:xfrm>
          <a:prstGeom prst="rect">
            <a:avLst/>
          </a:prstGeom>
          <a:solidFill>
            <a:srgbClr val="2A3F7E"/>
          </a:solidFill>
          <a:ln w="12700">
            <a:solidFill>
              <a:srgbClr val="4A90C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2200" y="2487168"/>
            <a:ext cx="347472" cy="347472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126480" y="2907792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5B9BD5"/>
                </a:solidFill>
              </a:rPr>
              <a:t>다음 목표</a:t>
            </a:r>
            <a:endParaRPr lang="en-US" sz="1300" dirty="0"/>
          </a:p>
        </p:txBody>
      </p:sp>
      <p:sp>
        <p:nvSpPr>
          <p:cNvPr id="17" name="Text 12"/>
          <p:cNvSpPr/>
          <p:nvPr/>
        </p:nvSpPr>
        <p:spPr>
          <a:xfrm>
            <a:off x="6126480" y="3310128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ADCFC"/>
                </a:solidFill>
              </a:rPr>
              <a:t>6주차 — CLOVA-Gemini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CADCFC"/>
                </a:solidFill>
              </a:rPr>
              <a:t>파이프라인 실제 시연</a:t>
            </a:r>
            <a:endParaRPr lang="en-US" sz="1050" dirty="0"/>
          </a:p>
        </p:txBody>
      </p:sp>
      <p:sp>
        <p:nvSpPr>
          <p:cNvPr id="18" name="Shape 13"/>
          <p:cNvSpPr/>
          <p:nvPr/>
        </p:nvSpPr>
        <p:spPr>
          <a:xfrm>
            <a:off x="0" y="4681728"/>
            <a:ext cx="9144000" cy="461772"/>
          </a:xfrm>
          <a:prstGeom prst="rect">
            <a:avLst/>
          </a:prstGeom>
          <a:solidFill>
            <a:srgbClr val="4A90C4"/>
          </a:solidFill>
          <a:ln w="12700">
            <a:solidFill>
              <a:srgbClr val="4A90C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4"/>
          <p:cNvSpPr/>
          <p:nvPr/>
        </p:nvSpPr>
        <p:spPr>
          <a:xfrm>
            <a:off x="365760" y="4681728"/>
            <a:ext cx="8412480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Q &amp; A  |  경영전략 팀 프로젝트 9팀  |  이병헌 · 최철원 · 김도환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942</Words>
  <Application>Microsoft Office PowerPoint</Application>
  <PresentationFormat>화면 슬라이드 쇼(16:9)</PresentationFormat>
  <Paragraphs>233</Paragraphs>
  <Slides>9</Slides>
  <Notes>9</Notes>
  <HiddenSlides>0</HiddenSlides>
  <MMClips>0</MMClips>
  <ScaleCrop>false</ScaleCrop>
  <HeadingPairs>
    <vt:vector size="6" baseType="variant">
      <vt:variant>
        <vt:lpstr>사용한 글꼴</vt:lpstr>
      </vt:variant>
      <vt:variant>
        <vt:i4>1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1" baseType="lpstr"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렉쳐노트 2차 발표</dc:title>
  <dc:subject>PptxGenJS Presentation</dc:subject>
  <dc:creator>PptxGenJS</dc:creator>
  <cp:lastModifiedBy>Moira Wide</cp:lastModifiedBy>
  <cp:revision>3</cp:revision>
  <dcterms:created xsi:type="dcterms:W3CDTF">2026-04-07T02:15:52Z</dcterms:created>
  <dcterms:modified xsi:type="dcterms:W3CDTF">2026-04-07T02:38:07Z</dcterms:modified>
</cp:coreProperties>
</file>