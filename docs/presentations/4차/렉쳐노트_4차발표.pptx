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14" y="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85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안녕하세요, 경영전략 9팀입니다.</a:t>
            </a:r>
          </a:p>
          <a:p>
            <a:r>
              <a:t>저희는 강의 녹음·수업 자료·개인 필기를 결합해 AI가 통합 요약 노트를 자동 생성하는 서비스 '렉처노트'를 개발하고 있습니다.</a:t>
            </a:r>
          </a:p>
          <a:p>
            <a:r>
              <a:t>이번 4차 발표에서는 3차 발표에서 약속드린 8주차 목표, 즉 사용자가 코드 없이 사용할 수 있는 웹 프론트엔드와 원클릭 녹음 기능이 완성된 알파 빌드를 직접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 발표는 크게 세 파트로 구성됩니다.</a:t>
            </a:r>
          </a:p>
          <a:p>
            <a:r>
              <a:t>첫 번째로 현재 개발 진행 상황과 로드맵 업데이트를 말씀드리겠습니다.</a:t>
            </a:r>
          </a:p>
          <a:p>
            <a:r>
              <a:t>두 번째로 이번에 완성된 알파 빌드의 주요 기능을 실제 화면 데모로 보여드리겠습니다.</a:t>
            </a:r>
          </a:p>
          <a:p>
            <a:r>
              <a:t>마지막으로 다음 단계인 10주차 베타 테스트 계획을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저희는 폭포수+애자일 하이브리드 방식으로 개발하고 있습니다.</a:t>
            </a:r>
          </a:p>
          <a:p>
            <a:r>
              <a:t>3차 발표에서 구현 단계 35%라고 말씀드렸는데, 이번에 75%까지 완료했습니다.</a:t>
            </a:r>
          </a:p>
          <a:p>
            <a:r>
              <a:t>가장 큰 변화는 3차 발표에서 미착수였던 프론트엔드 UI가 이번에 완성됐다는 점입니다.</a:t>
            </a:r>
          </a:p>
          <a:p>
            <a:r>
              <a:t>SSE 실시간 스트리밍, 인앱 녹음, 노트 편집/삭제까지 모두 동작 확인이 끝났습니다.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화면의 로드맵에서 별표 표시가 현재 저희 위치입니다. 8주차, 4차 발표 시점입니다.</a:t>
            </a:r>
          </a:p>
          <a:p>
            <a:r>
              <a:t>3차 발표에서 8주차 목표로 설정한 네 가지 항목을 모두 달성했습니다.</a:t>
            </a:r>
          </a:p>
          <a:p>
            <a:r>
              <a:t>특히 원클릭 녹음과 실시간 스트리밍은 저희 서비스의 핵심 차별화 기능입니다.</a:t>
            </a:r>
          </a:p>
          <a:p>
            <a:r>
              <a:t>다음 목표는 10주차 베타 테스트로, 외부 사용자에게 실제로 써보게 하고 피드백을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이번 알파 빌드에서 완성된 세 가지 핵심 기능을 소개하겠습니다.</a:t>
            </a:r>
          </a:p>
          <a:p>
            <a:r>
              <a:t>첫 번째는 모바일 앱 스타일 UI입니다. 스마트폰처럼 보이는 최대 430px 앱 셸에 하단 네비게이션 바를 적용해서, PC에서도 앱처럼 사용할 수 있습니다.</a:t>
            </a:r>
          </a:p>
          <a:p>
            <a:r>
              <a:t>두 번째는 원클릭 강의 등록입니다. 강의계획서를 업로드하면 과목명과 교수명을 자동으로 추출하고 전체 커리큘럼을 분석해서 Step 0 로드맵을 만들어줍니다.</a:t>
            </a:r>
          </a:p>
          <a:p>
            <a:r>
              <a:t>세 번째는 실시간 스트리밍입니다. 기존에는 노트 생성에 1~2분을 기다려야 했는데, 이제는 첫 문장이 나오는 순간부터 실시간으로 화면에 표시됩니다.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강의 등록은 학기 초 한 번만 하는 과정입니다.</a:t>
            </a:r>
          </a:p>
          <a:p>
            <a:r>
              <a:t>강의계획서 PDF를 드래그앤드롭하면 Gemini가 전체 커리큘럼을 읽고 과목명과 교수명을 자동으로 추출합니다.</a:t>
            </a:r>
          </a:p>
          <a:p>
            <a:r>
              <a:t>이어서 주차별 핵심 개념, 시험 출제 포인트 등 Step 0 로드맵이 생성됩니다.</a:t>
            </a:r>
          </a:p>
          <a:p>
            <a:r>
              <a:t>이 로드맵은 이후 매주 노트를 생성할 때 자동으로 맥락으로 주입됩니다. 사용자가 별도로 프롬프트를 작성할 필요가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화면은 강의계획서 분석 결과 화면입니다.</a:t>
            </a:r>
          </a:p>
          <a:p>
            <a:r>
              <a:t>Gemini가 강의계획서를 읽고 세 가지 정보를 자동으로 생성합니다.</a:t>
            </a:r>
          </a:p>
          <a:p>
            <a:r>
              <a:t>첫째, 전체 강의 흐름입니다. 주차별 주제와 연결 구조를 파악합니다.</a:t>
            </a:r>
          </a:p>
          <a:p>
            <a:r>
              <a:t>둘째, 핵심 개념 목록입니다. 이 정보는 이후 노트 생성 시 중요도 별점에 반영됩니다.</a:t>
            </a:r>
          </a:p>
          <a:p>
            <a:r>
              <a:t>셋째, 시험 포인트 예측입니다. 이것이 셀프 시험 문제 생성의 기준이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노트 생성 과정을 단계별로 보여드리겠습니다.</a:t>
            </a:r>
          </a:p>
          <a:p>
            <a:r>
              <a:t>첫 번째로 강의를 선택합니다. 등록된 강의 카드 목록에서 해당 강의를 탭합니다.</a:t>
            </a:r>
          </a:p>
          <a:p>
            <a:r>
              <a:t>두 번째로 자료를 입력합니다. 수업 PDF를 올리고, 인앱 녹음 버튼을 누르거나 파일을 업로드합니다. 주차 번호도 입력합니다.</a:t>
            </a:r>
          </a:p>
          <a:p>
            <a:r>
              <a:t>세 번째로 음성이 변환됩니다. Gemini 멀티모달이 음성 파일을 한국어 텍스트로 받아씁니다.</a:t>
            </a:r>
          </a:p>
          <a:p>
            <a:r>
              <a:t>네 번째가 핵심입니다. 노트가 타이핑되듯 실시간으로 화면에 표시되고, 완료되면 브라우저 알림이 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생성된 노트는 세 가지 방법으로 관리할 수 있습니다.</a:t>
            </a:r>
          </a:p>
          <a:p>
            <a:r>
              <a:t>첫 번째로 노트 조회입니다. 강의별로 주차 노트 목록을 확인하고, 클릭하면 5섹션으로 구성된 노트 내용이 펼쳐집니다.</a:t>
            </a:r>
          </a:p>
          <a:p>
            <a:r>
              <a:t>두 번째로 인라인 편집입니다. 편집 버튼을 누르면 textarea로 전환되어 앱 안에서 바로 수정하고 저장할 수 있습니다.</a:t>
            </a:r>
          </a:p>
          <a:p>
            <a:r>
              <a:t>세 번째로 노트 맨 아래 셀프 시험 섹션입니다. 서술형 2문제와 객관식 3문제가 강의계획서 기반으로 자동 생성됩니다. 시험 직전에 복습 도구로 쓸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3차 발표에서는 백엔드와 AI 계층만 있었다면, 이번에 프론트엔드 계층이 추가됐습니다.</a:t>
            </a:r>
          </a:p>
          <a:p>
            <a:r>
              <a:t>특히 빌드 도구 없이 단일 HTML 파일로 구성된 SPA는 서버에 별도 정적 파일 서빙이 필요 없어서, 파일을 브라우저에서 열기만 하면 바로 사용 가능합니다.</a:t>
            </a:r>
          </a:p>
          <a:p>
            <a:r>
              <a:t>MediaRecorder API를 활용한 원클릭 녹음은 별도 앱 설치 없이 브라우저에서 바로 작동합니다.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이번 알파 빌드 완성으로 저희는 '코드로 증명'하는 단계를 마쳤습니다.</a:t>
            </a:r>
          </a:p>
          <a:p>
            <a:r>
              <a:t>다음 단계인 10주차에는 외부 사용자 베타 테스트를 진행합니다. 실제 학생들이 수업에 써보고 피드백을 받겠습니다.</a:t>
            </a:r>
          </a:p>
          <a:p>
            <a:r>
              <a:t>12주차에는 칠판 사진 OCR, PWA 패키징 등 고도화 기능을 추가합니다.</a:t>
            </a:r>
          </a:p>
          <a:p>
            <a:r>
              <a:t>13주차 최종 발표에서는 서비스 런칭 로드맵과 수익 구조 최종안을 발표하겠습니다.</a:t>
            </a:r>
          </a:p>
          <a:p>
            <a:r>
              <a:t>이상으로 렉처노트 4차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64008" cy="3840480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143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6E73"/>
                </a:solidFill>
                <a:latin typeface="맑은 고딕"/>
              </a:rPr>
              <a:t>경영전략 9팀  |  4차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  <a:latin typeface="맑은 고딕"/>
              </a:rPr>
              <a:t>LectureNote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97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4B82C5"/>
                </a:solidFill>
                <a:latin typeface="맑은 고딕"/>
              </a:rPr>
              <a:t>렉처노트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364992"/>
            <a:ext cx="5029200" cy="54864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493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맑은 고딕"/>
              </a:rPr>
              <a:t>알파 빌드 달성 — 웹 UI + 원클릭 녹음 완성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41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6E6E73"/>
                </a:solidFill>
                <a:latin typeface="맑은 고딕"/>
              </a:rPr>
              <a:t>3차 </a:t>
            </a:r>
            <a:r>
              <a:rPr sz="1600" b="0" i="1" dirty="0" err="1">
                <a:solidFill>
                  <a:srgbClr val="6E6E73"/>
                </a:solidFill>
                <a:latin typeface="맑은 고딕"/>
              </a:rPr>
              <a:t>발표에서</a:t>
            </a:r>
            <a:r>
              <a:rPr sz="1600" b="0" i="1" dirty="0">
                <a:solidFill>
                  <a:srgbClr val="6E6E73"/>
                </a:solidFill>
                <a:latin typeface="맑은 고딕"/>
              </a:rPr>
              <a:t> </a:t>
            </a:r>
            <a:r>
              <a:rPr sz="1600" b="0" i="1" dirty="0" err="1">
                <a:solidFill>
                  <a:srgbClr val="6E6E73"/>
                </a:solidFill>
                <a:latin typeface="맑은 고딕"/>
              </a:rPr>
              <a:t>예고한</a:t>
            </a:r>
            <a:r>
              <a:rPr sz="1600" b="0" i="1" dirty="0">
                <a:solidFill>
                  <a:srgbClr val="6E6E73"/>
                </a:solidFill>
                <a:latin typeface="맑은 고딕"/>
              </a:rPr>
              <a:t> 8주차 </a:t>
            </a:r>
            <a:r>
              <a:rPr sz="1600" b="0" i="1" dirty="0" err="1">
                <a:solidFill>
                  <a:srgbClr val="6E6E73"/>
                </a:solidFill>
                <a:latin typeface="맑은 고딕"/>
              </a:rPr>
              <a:t>목표</a:t>
            </a:r>
            <a:r>
              <a:rPr sz="1600" b="0" i="1" dirty="0">
                <a:solidFill>
                  <a:srgbClr val="6E6E73"/>
                </a:solidFill>
                <a:latin typeface="맑은 고딕"/>
              </a:rPr>
              <a:t> </a:t>
            </a:r>
            <a:r>
              <a:rPr sz="1600" b="0" i="1" dirty="0" err="1">
                <a:solidFill>
                  <a:srgbClr val="6E6E73"/>
                </a:solidFill>
                <a:latin typeface="맑은 고딕"/>
              </a:rPr>
              <a:t>완료</a:t>
            </a:r>
            <a:endParaRPr sz="1600" b="0" i="1" dirty="0">
              <a:solidFill>
                <a:srgbClr val="6E6E73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507492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6E6E73"/>
                </a:solidFill>
                <a:latin typeface="맑은 고딕"/>
              </a:rPr>
              <a:t>이병헌</a:t>
            </a:r>
            <a:r>
              <a:rPr lang="en-US" sz="1600" b="0" i="0" dirty="0">
                <a:solidFill>
                  <a:srgbClr val="6E6E73"/>
                </a:solidFill>
                <a:latin typeface="맑은 고딕"/>
              </a:rPr>
              <a:t>(</a:t>
            </a:r>
            <a:r>
              <a:rPr lang="ko-KR" altLang="en-US" sz="1600" b="0" i="0" dirty="0">
                <a:solidFill>
                  <a:srgbClr val="6E6E73"/>
                </a:solidFill>
                <a:latin typeface="맑은 고딕"/>
              </a:rPr>
              <a:t>팀장</a:t>
            </a:r>
            <a:r>
              <a:rPr lang="en-US" altLang="ko-KR" sz="1600" b="0" i="0" dirty="0">
                <a:solidFill>
                  <a:srgbClr val="6E6E73"/>
                </a:solidFill>
                <a:latin typeface="맑은 고딕"/>
              </a:rPr>
              <a:t>)</a:t>
            </a:r>
            <a:r>
              <a:rPr sz="1600" b="0" i="0" dirty="0">
                <a:solidFill>
                  <a:srgbClr val="6E6E73"/>
                </a:solidFill>
                <a:latin typeface="맑은 고딕"/>
              </a:rPr>
              <a:t> · </a:t>
            </a:r>
            <a:r>
              <a:rPr sz="1600" b="0" i="0" dirty="0" err="1">
                <a:solidFill>
                  <a:srgbClr val="6E6E73"/>
                </a:solidFill>
                <a:latin typeface="맑은 고딕"/>
              </a:rPr>
              <a:t>김도환</a:t>
            </a:r>
            <a:r>
              <a:rPr sz="1600" b="0" i="0" dirty="0">
                <a:solidFill>
                  <a:srgbClr val="6E6E73"/>
                </a:solidFill>
                <a:latin typeface="맑은 고딕"/>
              </a:rPr>
              <a:t> · </a:t>
            </a:r>
            <a:r>
              <a:rPr sz="1600" b="0" i="0" dirty="0" err="1">
                <a:solidFill>
                  <a:srgbClr val="6E6E73"/>
                </a:solidFill>
                <a:latin typeface="맑은 고딕"/>
              </a:rPr>
              <a:t>최철원</a:t>
            </a:r>
            <a:r>
              <a:rPr sz="1600" b="0" i="0" dirty="0">
                <a:solidFill>
                  <a:srgbClr val="6E6E73"/>
                </a:solidFill>
                <a:latin typeface="맑은 고딕"/>
              </a:rPr>
              <a:t>  |  2026년 5월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0" y="6336792"/>
            <a:ext cx="12191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경영전략 팀 프로젝트 | 9팀 4차 발표 |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맑은 고딕"/>
              </a:rPr>
              <a:t>발표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577840" cy="132588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30352" y="1490472"/>
            <a:ext cx="502920" cy="502920"/>
          </a:xfrm>
          <a:prstGeom prst="ellipse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595738"/>
            <a:ext cx="502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0759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SDLC 진행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013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맑은 고딕"/>
              </a:rPr>
              <a:t>3차 대비 구현 단계 진척도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5577840" cy="132588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73952" y="1490472"/>
            <a:ext cx="502920" cy="502920"/>
          </a:xfrm>
          <a:prstGeom prst="ellipse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595738"/>
            <a:ext cx="502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30759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프로젝트 로드맵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013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맑은 고딕"/>
              </a:rPr>
              <a:t>8주차 알파 빌드 목표 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51760"/>
            <a:ext cx="5577840" cy="132588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0352" y="2999232"/>
            <a:ext cx="502920" cy="502920"/>
          </a:xfrm>
          <a:prstGeom prst="ellipse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3104498"/>
            <a:ext cx="502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81635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알파 빌드 주요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10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맑은 고딕"/>
              </a:rPr>
              <a:t>3가지 핵심 기능 완성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651760"/>
            <a:ext cx="5577840" cy="132588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73952" y="2999232"/>
            <a:ext cx="502920" cy="502920"/>
          </a:xfrm>
          <a:prstGeom prst="ellipse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3104498"/>
            <a:ext cx="502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81635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데모 — 강의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310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맑은 고딕"/>
              </a:rPr>
              <a:t>강의계획서 업로드 → Step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60520"/>
            <a:ext cx="5577840" cy="132588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30352" y="4507992"/>
            <a:ext cx="502920" cy="502920"/>
          </a:xfrm>
          <a:prstGeom prst="ellipse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4613258"/>
            <a:ext cx="502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32511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데모 — 노트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188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맑은 고딕"/>
              </a:rPr>
              <a:t>원클릭 녹음 → 실시간 스트리밍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160520"/>
            <a:ext cx="5577840" cy="132588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73952" y="4507992"/>
            <a:ext cx="502920" cy="502920"/>
          </a:xfrm>
          <a:prstGeom prst="ellipse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4613258"/>
            <a:ext cx="502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32511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다음 단계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8188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맑은 고딕"/>
              </a:rPr>
              <a:t>10주차 베타 테스트 계획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0" y="6336792"/>
            <a:ext cx="12191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 err="1">
                <a:solidFill>
                  <a:srgbClr val="FFFFFF"/>
                </a:solidFill>
                <a:latin typeface="맑은 고딕"/>
              </a:rPr>
              <a:t>경영전략</a:t>
            </a:r>
            <a:r>
              <a:rPr sz="1300" b="0" i="0" dirty="0">
                <a:solidFill>
                  <a:srgbClr val="FFFFFF"/>
                </a:solidFill>
                <a:latin typeface="맑은 고딕"/>
              </a:rPr>
              <a:t> 팀 </a:t>
            </a:r>
            <a:r>
              <a:rPr sz="1300" b="0" i="0" dirty="0" err="1">
                <a:solidFill>
                  <a:srgbClr val="FFFFFF"/>
                </a:solidFill>
                <a:latin typeface="맑은 고딕"/>
              </a:rPr>
              <a:t>프로젝트</a:t>
            </a:r>
            <a:r>
              <a:rPr sz="1300" b="0" i="0" dirty="0">
                <a:solidFill>
                  <a:srgbClr val="FFFFFF"/>
                </a:solidFill>
                <a:latin typeface="맑은 고딕"/>
              </a:rPr>
              <a:t> | 9팀 4차 </a:t>
            </a:r>
            <a:r>
              <a:rPr sz="1300" b="0" i="0" dirty="0" err="1">
                <a:solidFill>
                  <a:srgbClr val="FFFFFF"/>
                </a:solidFill>
                <a:latin typeface="맑은 고딕"/>
              </a:rPr>
              <a:t>발표</a:t>
            </a:r>
            <a:r>
              <a:rPr sz="1300" b="0" i="0" dirty="0">
                <a:solidFill>
                  <a:srgbClr val="FFFFFF"/>
                </a:solidFill>
                <a:latin typeface="맑은 고딕"/>
              </a:rPr>
              <a:t> | 2026.05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D5E"/>
                </a:solidFill>
                <a:latin typeface="맑은 고딕"/>
              </a:rPr>
              <a:t>SDLC 진행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 err="1">
                <a:solidFill>
                  <a:srgbClr val="6E6E73"/>
                </a:solidFill>
                <a:latin typeface="맑은 고딕"/>
              </a:rPr>
              <a:t>구현</a:t>
            </a:r>
            <a:r>
              <a:rPr sz="1700" b="0" i="0" dirty="0">
                <a:solidFill>
                  <a:srgbClr val="6E6E73"/>
                </a:solidFill>
                <a:latin typeface="맑은 고딕"/>
              </a:rPr>
              <a:t>(Implementation) </a:t>
            </a:r>
            <a:r>
              <a:rPr sz="1700" b="0" i="0" dirty="0" err="1">
                <a:solidFill>
                  <a:srgbClr val="6E6E73"/>
                </a:solidFill>
                <a:latin typeface="맑은 고딕"/>
              </a:rPr>
              <a:t>단계</a:t>
            </a:r>
            <a:r>
              <a:rPr sz="1700" b="0" i="0" dirty="0">
                <a:solidFill>
                  <a:srgbClr val="6E6E73"/>
                </a:solidFill>
                <a:latin typeface="맑은 고딕"/>
              </a:rPr>
              <a:t> — 75% </a:t>
            </a:r>
            <a:r>
              <a:rPr sz="1700" b="0" i="0" dirty="0" err="1">
                <a:solidFill>
                  <a:srgbClr val="6E6E73"/>
                </a:solidFill>
                <a:latin typeface="맑은 고딕"/>
              </a:rPr>
              <a:t>완료</a:t>
            </a:r>
            <a:endParaRPr sz="1700" b="0" i="0" dirty="0">
              <a:solidFill>
                <a:srgbClr val="6E6E73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41732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맑은 고딕"/>
              </a:rPr>
              <a:t>요구분석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472184"/>
            <a:ext cx="6583680" cy="256032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920240" y="1472184"/>
            <a:ext cx="658368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41080" y="141732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맑은 고딕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✓ 완료 (3주차)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4767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맑은 고딕"/>
              </a:rPr>
              <a:t>시스템설계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002536"/>
            <a:ext cx="6583680" cy="256032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20240" y="2002536"/>
            <a:ext cx="658368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194767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맑은 고딕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9476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✓ 완료 (4주차)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47802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맑은 고딕"/>
              </a:rPr>
              <a:t>구   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532888"/>
            <a:ext cx="6583680" cy="256032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20240" y="2532888"/>
            <a:ext cx="493776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2478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맑은 고딕"/>
              </a:rPr>
              <a:t>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4780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◀ 현재 — 알파 빌드 완성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00837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맑은 고딕"/>
              </a:rPr>
              <a:t>테스트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063240"/>
            <a:ext cx="6583680" cy="256032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300837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맑은 고딕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0083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예정 (10주차)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53872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맑은 고딕"/>
              </a:rPr>
              <a:t>배   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593592"/>
            <a:ext cx="6583680" cy="256032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41080" y="353872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맑은 고딕"/>
              </a:rP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5387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예정 (13주차)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2519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D5E"/>
                </a:solidFill>
                <a:latin typeface="맑은 고딕"/>
              </a:rPr>
              <a:t>구현 75% 세부 근거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63440"/>
            <a:ext cx="5486400" cy="30175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4681727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맑은 고딕"/>
              </a:rPr>
              <a:t>백엔드 API 서버 (FastAPI, 엔드포인트 9개)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681727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맑은 고딕"/>
              </a:rPr>
              <a:t>✅ 완료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663440"/>
            <a:ext cx="5486400" cy="30175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73368" y="4681727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맑은 고딕"/>
              </a:rPr>
              <a:t>데이터베이스 스키마 (SQLite + SQLAlchemy)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4681727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맑은 고딕"/>
              </a:rPr>
              <a:t>✅ 완료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10912"/>
            <a:ext cx="5486400" cy="30175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5029199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맑은 고딕"/>
              </a:rPr>
              <a:t>PDF 파서 / STT / 데이터 병합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029199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맑은 고딕"/>
              </a:rPr>
              <a:t>✅ 완료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010912"/>
            <a:ext cx="5486400" cy="30175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73368" y="5029199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맑은 고딕"/>
              </a:rPr>
              <a:t>LLM 연동 + 프롬프트 + SSE 스트리밍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5029199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맑은 고딕"/>
              </a:rPr>
              <a:t>✅ 완료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358383"/>
            <a:ext cx="5486400" cy="30175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" y="5376671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맑은 고딕"/>
              </a:rPr>
              <a:t>프론트엔드 UI (모바일 앱 스타일)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37667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맑은 고딕"/>
              </a:rPr>
              <a:t>✅ 완료  ← 신규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5358383"/>
            <a:ext cx="5486400" cy="301752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73368" y="5376671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맑은 고딕"/>
              </a:rPr>
              <a:t>서버 배포 / 인프라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537667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6E73"/>
                </a:solidFill>
                <a:latin typeface="맑은 고딕"/>
              </a:rPr>
              <a:t>⬜ 미착수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705856"/>
            <a:ext cx="5486400" cy="301752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5488" y="5724144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맑은 고딕"/>
              </a:rPr>
              <a:t>외부 사용자 테스트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572414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6E73"/>
                </a:solidFill>
                <a:latin typeface="맑은 고딕"/>
              </a:rPr>
              <a:t>⬜ 미착수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맑은 고딕"/>
              </a:rPr>
              <a:t>프로젝트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B82C5"/>
                </a:solidFill>
                <a:latin typeface="맑은 고딕"/>
              </a:rPr>
              <a:t>4차 발표 마일스톤 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783080" cy="384048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1차 발표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417320"/>
            <a:ext cx="1783080" cy="384048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14173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2차 발표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417320"/>
            <a:ext cx="1783080" cy="384048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3차 발표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417320"/>
            <a:ext cx="17830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14173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4차 발표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965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맑은 고딕"/>
              </a:rPr>
              <a:t>1-2주차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799" y="1965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맑은 고딕"/>
              </a:rPr>
              <a:t>3주차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65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4주차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965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5주차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965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8주차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965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10주차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1965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13주차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542032"/>
            <a:ext cx="10698480" cy="4572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85216" y="2395728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31136" y="2395728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877056" y="2395728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614416" y="2395728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260336" y="239572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20116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  <a:latin typeface="맑은 고딕"/>
              </a:rPr>
              <a:t>★</a:t>
            </a:r>
          </a:p>
        </p:txBody>
      </p:sp>
      <p:sp>
        <p:nvSpPr>
          <p:cNvPr id="27" name="Oval 26"/>
          <p:cNvSpPr/>
          <p:nvPr/>
        </p:nvSpPr>
        <p:spPr>
          <a:xfrm>
            <a:off x="9272016" y="2395728"/>
            <a:ext cx="292608" cy="292608"/>
          </a:xfrm>
          <a:prstGeom prst="ellipse">
            <a:avLst/>
          </a:prstGeom>
          <a:noFill/>
          <a:ln w="19050">
            <a:solidFill>
              <a:srgbClr val="6E6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100816" y="2395728"/>
            <a:ext cx="292608" cy="292608"/>
          </a:xfrm>
          <a:prstGeom prst="ellipse">
            <a:avLst/>
          </a:prstGeom>
          <a:noFill/>
          <a:ln w="19050">
            <a:solidFill>
              <a:srgbClr val="6E6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" y="278892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아이디어
기획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79" y="278892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요구분석
완료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8999" y="278892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시스템설계
완료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278892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백엔드MVP
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78892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알파빌드
완료 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78892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베타테스트
피드백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278892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최종발표
런칭로드맵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611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B82C5"/>
                </a:solidFill>
                <a:latin typeface="맑은 고딕"/>
              </a:rPr>
              <a:t>이번 마일스톤 달성 항목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412394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0690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</a:rPr>
              <a:t>웹 프론트엔드 개발 완성 — 사용자가 코드 없이 사용 가능한 UI</a:t>
            </a:r>
          </a:p>
        </p:txBody>
      </p:sp>
      <p:sp>
        <p:nvSpPr>
          <p:cNvPr id="39" name="Oval 38"/>
          <p:cNvSpPr/>
          <p:nvPr/>
        </p:nvSpPr>
        <p:spPr>
          <a:xfrm>
            <a:off x="457200" y="4562855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50799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브라우저</a:t>
            </a:r>
            <a:r>
              <a:rPr sz="1400" b="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인앱</a:t>
            </a:r>
            <a:r>
              <a:rPr sz="1400" b="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녹음</a:t>
            </a:r>
            <a:r>
              <a:rPr sz="1400" b="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기능</a:t>
            </a:r>
            <a:r>
              <a:rPr sz="1400" b="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통합</a:t>
            </a:r>
            <a:r>
              <a:rPr sz="1400" b="0" i="0" dirty="0">
                <a:solidFill>
                  <a:srgbClr val="FFFFFF"/>
                </a:solidFill>
                <a:latin typeface="맑은 고딕"/>
              </a:rPr>
              <a:t> — 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원클릭</a:t>
            </a:r>
            <a:r>
              <a:rPr sz="1400" b="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시작</a:t>
            </a:r>
            <a:r>
              <a:rPr sz="1400" b="0" i="0" dirty="0">
                <a:solidFill>
                  <a:srgbClr val="FFFFFF"/>
                </a:solidFill>
                <a:latin typeface="맑은 고딕"/>
              </a:rPr>
              <a:t>/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중지</a:t>
            </a:r>
            <a:endParaRPr sz="1400" b="0" i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57200" y="5001768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494690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</a:rPr>
              <a:t>SSE 실시간 스트리밍 — 노트가 타이핑되듯 실시간 표시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544068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538581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</a:rPr>
              <a:t>노트 조회·편집·삭제·다운로드 전체 기능 완성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맑은 고딕"/>
              </a:rPr>
              <a:t>알파 빌드 주요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B82C5"/>
                </a:solidFill>
                <a:latin typeface="맑은 고딕"/>
              </a:rPr>
              <a:t>사용자가 코드 없이 쓸 수 있는 완성 빌드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703320" cy="443484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703320" cy="109728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1600200"/>
            <a:ext cx="640080" cy="640080"/>
          </a:xfrm>
          <a:prstGeom prst="ellipse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1750963"/>
            <a:ext cx="640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</a:rPr>
              <a:t>모바일 앱 스타일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44368"/>
            <a:ext cx="3154680" cy="36576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2F7"/>
                </a:solidFill>
                <a:latin typeface="맑은 고딕"/>
              </a:rPr>
              <a:t>최대 430px 앱 셸
하단 네비게이션 바
터치 최적화 버튼 크기
카드 기반 레이아웃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703320" cy="443484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7033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52160" y="160020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60" y="1750963"/>
            <a:ext cx="640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59152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</a:rPr>
              <a:t>원클릭 강의 등록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944368"/>
            <a:ext cx="31546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2F7"/>
                </a:solidFill>
                <a:latin typeface="맑은 고딕"/>
              </a:rPr>
              <a:t>강의계획서 PDF 업로드
Gemini가 커리큘럼 전체 분석
과목명·교수명 자동 추출
주차별 Step 0 로드맵 즉시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3703320" cy="443484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417320"/>
            <a:ext cx="37033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38360" y="16002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38360" y="1750963"/>
            <a:ext cx="640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59152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</a:rPr>
              <a:t>실시간 스트리밍 노트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944368"/>
            <a:ext cx="3154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200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2F7"/>
                </a:solidFill>
                <a:latin typeface="맑은 고딕"/>
              </a:rPr>
              <a:t>음성·PDF·필기 동시 업로드
인앱 원클릭 녹음 지원
노트가 타이핑되듯 실시간 표시
완료 시 브라우저 알림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61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6E73"/>
                </a:solidFill>
                <a:latin typeface="맑은 고딕"/>
              </a:rPr>
              <a:t>추가 기능: 노트 인라인 편집 · 개별 삭제 · HTML 다운로드 · 탭 자동 연결 · 완료 알림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336792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3가지 핵심 기능 + 9개 API 엔드포인트 완성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D5E"/>
                </a:solidFill>
                <a:latin typeface="맑은 고딕"/>
              </a:rPr>
              <a:t>데모 ① — 강의 등록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E6E73"/>
                </a:solidFill>
                <a:latin typeface="맑은 고딕"/>
              </a:rPr>
              <a:t>강의계획서 PDF 업로드 → AI 자동 분석</a:t>
            </a:r>
          </a:p>
        </p:txBody>
      </p:sp>
      <p:pic>
        <p:nvPicPr>
          <p:cNvPr id="4" name="Picture 3" descr="01_강의계획서 등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" y="1280160"/>
            <a:ext cx="3474720" cy="7070651"/>
          </a:xfrm>
          <a:prstGeom prst="rect">
            <a:avLst/>
          </a:prstGeom>
        </p:spPr>
      </p:pic>
      <p:pic>
        <p:nvPicPr>
          <p:cNvPr id="5" name="Picture 4" descr="02_강의계획서 등록중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640" y="1280160"/>
            <a:ext cx="3474720" cy="7070651"/>
          </a:xfrm>
          <a:prstGeom prst="rect">
            <a:avLst/>
          </a:prstGeom>
        </p:spPr>
      </p:pic>
      <p:pic>
        <p:nvPicPr>
          <p:cNvPr id="6" name="Picture 5" descr="03_강의계획서 등록완료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240" y="1280160"/>
            <a:ext cx="3474720" cy="70706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1040" y="4800600"/>
            <a:ext cx="3474720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chemeClr val="bg1"/>
                </a:solidFill>
                <a:latin typeface="맑은 고딕"/>
              </a:rPr>
              <a:t>①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강의계획서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PDF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드래그앤드롭</a:t>
            </a:r>
            <a:endParaRPr sz="1200" b="0" i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58640" y="4800600"/>
            <a:ext cx="3474720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chemeClr val="bg1"/>
                </a:solidFill>
                <a:latin typeface="맑은 고딕"/>
              </a:rPr>
              <a:t>②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업로드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중 —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로딩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표시</a:t>
            </a:r>
            <a:endParaRPr sz="1200" b="0" i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16240" y="4800600"/>
            <a:ext cx="3474720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chemeClr val="bg1"/>
                </a:solidFill>
                <a:latin typeface="맑은 고딕"/>
              </a:rPr>
              <a:t>③ 등록 완료 — 과목명·교수명 자동 추출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5669280"/>
            <a:ext cx="11612880" cy="118872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7680" y="573328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D5E"/>
                </a:solidFill>
                <a:latin typeface="맑은 고딕"/>
              </a:rPr>
              <a:t>Step 0 출력 (강의 로드맵)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" y="610819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E"/>
                </a:solidFill>
                <a:latin typeface="맑은 고딕"/>
              </a:rPr>
              <a:t>과목 전체 흐름 · 주차별 핵심 개념 · 시험 출제 가능 포인트 자동 분석 → 이후 매주 노트 생성 시 맥락으로 자동 주입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D5E"/>
                </a:solidFill>
                <a:latin typeface="맑은 고딕"/>
              </a:rPr>
              <a:t>데모 ② — Step 0 강의 분석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8500" y="394528"/>
            <a:ext cx="7310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 err="1">
                <a:solidFill>
                  <a:srgbClr val="6E6E73"/>
                </a:solidFill>
                <a:latin typeface="맑은 고딕"/>
              </a:rPr>
              <a:t>교수님</a:t>
            </a:r>
            <a:r>
              <a:rPr sz="1700" b="0" i="0" dirty="0">
                <a:solidFill>
                  <a:srgbClr val="6E6E73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6E6E73"/>
                </a:solidFill>
                <a:latin typeface="맑은 고딕"/>
              </a:rPr>
              <a:t>커리큘럼</a:t>
            </a:r>
            <a:r>
              <a:rPr sz="1700" b="0" i="0" dirty="0">
                <a:solidFill>
                  <a:srgbClr val="6E6E73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6E6E73"/>
                </a:solidFill>
                <a:latin typeface="맑은 고딕"/>
              </a:rPr>
              <a:t>기반</a:t>
            </a:r>
            <a:r>
              <a:rPr sz="1700" b="0" i="0" dirty="0">
                <a:solidFill>
                  <a:srgbClr val="6E6E73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6E6E73"/>
                </a:solidFill>
                <a:latin typeface="맑은 고딕"/>
              </a:rPr>
              <a:t>맥락</a:t>
            </a:r>
            <a:r>
              <a:rPr sz="1700" b="0" i="0" dirty="0">
                <a:solidFill>
                  <a:srgbClr val="6E6E73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6E6E73"/>
                </a:solidFill>
                <a:latin typeface="맑은 고딕"/>
              </a:rPr>
              <a:t>자동</a:t>
            </a:r>
            <a:r>
              <a:rPr sz="1700" b="0" i="0" dirty="0">
                <a:solidFill>
                  <a:srgbClr val="6E6E73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6E6E73"/>
                </a:solidFill>
                <a:latin typeface="맑은 고딕"/>
              </a:rPr>
              <a:t>생성</a:t>
            </a:r>
            <a:endParaRPr sz="1700" b="0" i="0" dirty="0">
              <a:solidFill>
                <a:srgbClr val="6E6E73"/>
              </a:solidFill>
              <a:latin typeface="맑은 고딕"/>
            </a:endParaRPr>
          </a:p>
        </p:txBody>
      </p:sp>
      <p:pic>
        <p:nvPicPr>
          <p:cNvPr id="4" name="Picture 3" descr="04_강의계획서 분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640" y="935812"/>
            <a:ext cx="2910332" cy="59221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0" y="1280160"/>
            <a:ext cx="6309360" cy="1463040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0" y="1280160"/>
            <a:ext cx="109728" cy="1463040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0" y="1444751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D5E"/>
                </a:solidFill>
                <a:latin typeface="맑은 고딕"/>
              </a:rPr>
              <a:t>전체 강의 흐름 파악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938528"/>
            <a:ext cx="5852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맑은 고딕"/>
              </a:rPr>
              <a:t>주차별 주제와 흐름을 한눈에
시험까지 전체 맥락 이해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2880360"/>
            <a:ext cx="6309360" cy="1463040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0" y="2880360"/>
            <a:ext cx="109728" cy="1463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0" y="304495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D5E"/>
                </a:solidFill>
                <a:latin typeface="맑은 고딕"/>
              </a:rPr>
              <a:t>핵심 개념 사전 식별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538728"/>
            <a:ext cx="5852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맑은 고딕"/>
              </a:rPr>
              <a:t>어떤 개념이 중요한지
미리 파악 → 노트 중요도 반영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4480560"/>
            <a:ext cx="6309360" cy="1463040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0" y="4480560"/>
            <a:ext cx="109728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0" y="464515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D5E"/>
                </a:solidFill>
                <a:latin typeface="맑은 고딕"/>
              </a:rPr>
              <a:t>시험 포인트 예측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5138928"/>
            <a:ext cx="5852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맑은 고딕"/>
              </a:rPr>
              <a:t>출제 빈도 높은 단원 표시
셀프 시험 문제 생성 기준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D5E"/>
                </a:solidFill>
                <a:latin typeface="맑은 고딕"/>
              </a:rPr>
              <a:t>데모 ③ — 노트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E6E73"/>
                </a:solidFill>
                <a:latin typeface="맑은 고딕"/>
              </a:rPr>
              <a:t>원클릭 녹음 → STT → 실시간 스트리밍 노트</a:t>
            </a:r>
          </a:p>
        </p:txBody>
      </p:sp>
      <p:pic>
        <p:nvPicPr>
          <p:cNvPr id="4" name="Picture 3" descr="05_강의 선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2651760" cy="5396023"/>
          </a:xfrm>
          <a:prstGeom prst="rect">
            <a:avLst/>
          </a:prstGeom>
        </p:spPr>
      </p:pic>
      <p:pic>
        <p:nvPicPr>
          <p:cNvPr id="5" name="Picture 4" descr="06_강의 자료 입력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371600"/>
            <a:ext cx="2651760" cy="5396023"/>
          </a:xfrm>
          <a:prstGeom prst="rect">
            <a:avLst/>
          </a:prstGeom>
        </p:spPr>
      </p:pic>
      <p:pic>
        <p:nvPicPr>
          <p:cNvPr id="6" name="Picture 5" descr="07_음성변환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371600"/>
            <a:ext cx="2651760" cy="5396023"/>
          </a:xfrm>
          <a:prstGeom prst="rect">
            <a:avLst/>
          </a:prstGeom>
        </p:spPr>
      </p:pic>
      <p:pic>
        <p:nvPicPr>
          <p:cNvPr id="7" name="Picture 6" descr="08_노트 생성 완료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1371600"/>
            <a:ext cx="2651760" cy="53960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846320"/>
            <a:ext cx="2743200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chemeClr val="bg1"/>
                </a:solidFill>
                <a:latin typeface="맑은 고딕"/>
              </a:rPr>
              <a:t>①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강의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선택</a:t>
            </a:r>
            <a:endParaRPr sz="1200" b="0" i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08960" y="4846320"/>
            <a:ext cx="2743200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chemeClr val="bg1"/>
                </a:solidFill>
                <a:latin typeface="맑은 고딕"/>
              </a:rPr>
              <a:t>② 자료·녹음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846320"/>
            <a:ext cx="2743200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chemeClr val="bg1"/>
                </a:solidFill>
                <a:latin typeface="맑은 고딕"/>
              </a:rPr>
              <a:t>③ 음성 → 텍스트 변환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846320"/>
            <a:ext cx="2743200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chemeClr val="bg1"/>
                </a:solidFill>
                <a:latin typeface="맑은 고딕"/>
              </a:rPr>
              <a:t>④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실시간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스트리밍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완료</a:t>
            </a:r>
            <a:endParaRPr sz="1200" b="0" i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5321808"/>
            <a:ext cx="11612880" cy="10241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5321808"/>
            <a:ext cx="91440" cy="10241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5394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맑은 고딕"/>
              </a:rPr>
              <a:t>핵심 UX — SSE 실시간 스트리밍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155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E"/>
                </a:solidFill>
                <a:latin typeface="맑은 고딕"/>
              </a:rPr>
              <a:t>기존: 1~2분 기다린 뒤 노트 일괄 표시  →  이제: 첫 문장부터 타이핑되듯 실시간 표시 (완료 시 브라우저 알림)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D5E"/>
                </a:solidFill>
                <a:latin typeface="맑은 고딕"/>
              </a:rPr>
              <a:t>데모 ④ — 노트 조회 · 편집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E6E73"/>
                </a:solidFill>
                <a:latin typeface="맑은 고딕"/>
              </a:rPr>
              <a:t>생성된 노트 조회 · 인라인 편집 · 다운로드</a:t>
            </a:r>
          </a:p>
        </p:txBody>
      </p:sp>
      <p:pic>
        <p:nvPicPr>
          <p:cNvPr id="4" name="Picture 3" descr="09_노트 조회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280161"/>
            <a:ext cx="2713990" cy="5522654"/>
          </a:xfrm>
          <a:prstGeom prst="rect">
            <a:avLst/>
          </a:prstGeom>
        </p:spPr>
      </p:pic>
      <p:pic>
        <p:nvPicPr>
          <p:cNvPr id="5" name="Picture 4" descr="10_노트 편집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1280161"/>
            <a:ext cx="2713990" cy="5522654"/>
          </a:xfrm>
          <a:prstGeom prst="rect">
            <a:avLst/>
          </a:prstGeom>
        </p:spPr>
      </p:pic>
      <p:pic>
        <p:nvPicPr>
          <p:cNvPr id="6" name="Picture 5" descr="11_복습문제 예시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1280161"/>
            <a:ext cx="2713990" cy="5522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53540" y="4892041"/>
            <a:ext cx="2429459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chemeClr val="bg1"/>
                </a:solidFill>
                <a:latin typeface="맑은 고딕"/>
              </a:rPr>
              <a:t>⑤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노트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조회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—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주차별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목록</a:t>
            </a:r>
            <a:endParaRPr sz="1200" b="0" i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37100" y="4907789"/>
            <a:ext cx="2490256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chemeClr val="bg1"/>
                </a:solidFill>
                <a:latin typeface="맑은 고딕"/>
              </a:rPr>
              <a:t>⑥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인라인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편집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·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저장</a:t>
            </a:r>
            <a:endParaRPr sz="1200" b="0" i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24470" y="4945565"/>
            <a:ext cx="2482960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chemeClr val="bg1"/>
                </a:solidFill>
                <a:latin typeface="맑은 고딕"/>
              </a:rPr>
              <a:t>⑦ 5섹션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노트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+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셀프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시험</a:t>
            </a:r>
            <a:r>
              <a:rPr sz="12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맑은 고딕"/>
              </a:rPr>
              <a:t>문제</a:t>
            </a:r>
            <a:endParaRPr sz="1200" b="0" i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5394960"/>
            <a:ext cx="11612880" cy="102412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5394960"/>
            <a:ext cx="91440" cy="10241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54681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맑은 고딕"/>
              </a:rPr>
              <a:t>노트 관리 기능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704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E"/>
                </a:solidFill>
                <a:latin typeface="맑은 고딕"/>
              </a:rPr>
              <a:t>조회 · 인라인 편집/저장 · 개별 삭제 · HTML 다운로드 (브라우저 Ctrl+P → PDF) · 완료 후 탭 자동 이동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맑은 고딕"/>
              </a:rPr>
              <a:t>기술 스택 업데이트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B82C5"/>
                </a:solidFill>
                <a:latin typeface="맑은 고딕"/>
              </a:rPr>
              <a:t>3차 발표 대비 프론트엔드 계층 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96012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91440" cy="960120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0">
                <a:solidFill>
                  <a:srgbClr val="4B82C5"/>
                </a:solidFill>
                <a:latin typeface="맑은 고딕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4447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Gemini 2.5-flash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LLM 노트 생성 · STT 음성 변환 · 강의계획서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96012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91440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44752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0">
                <a:solidFill>
                  <a:srgbClr val="22C55E"/>
                </a:solidFill>
                <a:latin typeface="맑은 고딕"/>
              </a:rPr>
              <a:t>백엔드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4447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FastAPI +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01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REST API · SSE 스트리밍 · 9개 엔드포인트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50591"/>
            <a:ext cx="5577840" cy="96012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450591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523744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0" dirty="0" err="1">
                <a:solidFill>
                  <a:srgbClr val="F59E0B"/>
                </a:solidFill>
                <a:latin typeface="맑은 고딕"/>
              </a:rPr>
              <a:t>데이터</a:t>
            </a:r>
            <a:endParaRPr sz="1200" i="0" dirty="0">
              <a:solidFill>
                <a:srgbClr val="F59E0B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80360" y="25237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SQLite + SQLAlchemy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809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강의 · 노트 · 소스 3테이블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50591"/>
            <a:ext cx="5577840" cy="96012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2450591"/>
            <a:ext cx="91440" cy="960120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2523744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0">
                <a:solidFill>
                  <a:srgbClr val="4B82C5"/>
                </a:solidFill>
                <a:latin typeface="맑은 고딕"/>
              </a:rPr>
              <a:t>PDF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5237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PyMuPDF (fitz)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9809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PDF → 텍스트 추출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29584"/>
            <a:ext cx="5577840" cy="96012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529584"/>
            <a:ext cx="91440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602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맑은 고딕"/>
              </a:rPr>
              <a:t>프론트엔드 ★ 신규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6027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Vanilla HTML/CSS/JS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05993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단일 파일 SPA · 빌드 도구 없음 · 모바일 430px 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529584"/>
            <a:ext cx="5577840" cy="96012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529584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3602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맑은 고딕"/>
              </a:rPr>
              <a:t>마크다운 ★ 신규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6027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marked.js (CDN)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05993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생성 노트 실시간 렌더링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08576"/>
            <a:ext cx="5577840" cy="96012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4608576"/>
            <a:ext cx="91440" cy="960120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4681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82C5"/>
                </a:solidFill>
                <a:latin typeface="맑은 고딕"/>
              </a:rPr>
              <a:t>녹음 ★ 신규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6817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MediaRecorder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1389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맑은 고딕"/>
              </a:rPr>
              <a:t>브라우저 내 원클릭 음성 녹음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맑은 고딕"/>
              </a:rPr>
              <a:t>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B82C5"/>
                </a:solidFill>
                <a:latin typeface="맑은 고딕"/>
              </a:rPr>
              <a:t>베타 테스트 → 최종 발표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703320" cy="466344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703320" cy="109728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1554480"/>
            <a:ext cx="640080" cy="640080"/>
          </a:xfrm>
          <a:prstGeom prst="ellipse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1743715"/>
            <a:ext cx="6400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10주차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베타 테스트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3154680" cy="36576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외부 사용자 5~10명 모집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19856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실제 수업에 적용 · 피드백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95344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사용성 개선 및 오류 수정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7083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Whisper 오픈소스 전환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3703320" cy="466344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1371600"/>
            <a:ext cx="37033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52160" y="155448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0" y="1743715"/>
            <a:ext cx="6400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12주차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30428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고도화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834640"/>
            <a:ext cx="31546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294436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사진(칠판 필기) 업로드 — Gemini 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419856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노트 키워드 검색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895344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PWA 패키징 — 실제 앱 아이콘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37083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비용 구조 재검증 (역마진 해소)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371600"/>
            <a:ext cx="3703320" cy="4663440"/>
          </a:xfrm>
          <a:prstGeom prst="rect">
            <a:avLst/>
          </a:prstGeom>
          <a:solidFill>
            <a:srgbClr val="22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7033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738360" y="15544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38360" y="1743715"/>
            <a:ext cx="6400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13주차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30428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최종 발표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834640"/>
            <a:ext cx="3154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294436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서비스 런칭 로드맵 발표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419856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누적 테스트 사용자 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895344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수익 구조 최종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37083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2F7"/>
                </a:solidFill>
                <a:latin typeface="맑은 고딕"/>
              </a:rPr>
              <a:t>• 시장 진출 전략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4B8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1555</Words>
  <Application>Microsoft Office PowerPoint</Application>
  <PresentationFormat>와이드스크린</PresentationFormat>
  <Paragraphs>216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Moira Wide</cp:lastModifiedBy>
  <cp:revision>3</cp:revision>
  <dcterms:created xsi:type="dcterms:W3CDTF">2013-01-27T09:14:16Z</dcterms:created>
  <dcterms:modified xsi:type="dcterms:W3CDTF">2026-05-11T15:25:27Z</dcterms:modified>
  <cp:category/>
</cp:coreProperties>
</file>