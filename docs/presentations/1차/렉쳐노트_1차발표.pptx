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7990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microsoft.com/office/2007/relationships/hdphoto" Target="../media/hdphoto2.wdp"/><Relationship Id="rId4" Type="http://schemas.microsoft.com/office/2007/relationships/hdphoto" Target="../media/hdphoto1.wdp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1167617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72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LectureNote</a:t>
            </a:r>
            <a:endParaRPr lang="en-US" altLang="ko-KR" sz="72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493497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400" b="1" dirty="0" err="1">
                <a:solidFill>
                  <a:schemeClr val="bg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렉쳐노트</a:t>
            </a:r>
            <a:endParaRPr lang="en-U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133577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Calibri" pitchFamily="34" charset="-120"/>
              </a:rPr>
              <a:t>"녹음, 자료, 필기 — 모두 하나의 노트로"</a:t>
            </a:r>
            <a:endParaRPr lang="en-US" sz="18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7200" y="4736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경영전략 팀 프로젝트  |  9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발표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대학생이라면 누구나 겪는 강의 복습의 어려움</a:t>
            </a:r>
            <a:endParaRPr lang="en-US" sz="2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060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0604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41832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01</a:t>
            </a:r>
            <a:endParaRPr lang="en-US" sz="2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20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흐름</a:t>
            </a:r>
            <a:r>
              <a:rPr lang="en-US" sz="20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을 놓친다</a:t>
            </a:r>
            <a:endParaRPr lang="en-US" sz="2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325880" y="2212848"/>
            <a:ext cx="6858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30352" y="2340864"/>
            <a:ext cx="22860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교수님이 빠르게 말할 때 필기와 집중을 동시에 하는 건 불가능에 가깝다</a:t>
            </a:r>
            <a:endParaRPr lang="en-US" sz="145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6060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60604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0" y="941832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02</a:t>
            </a:r>
            <a:endParaRPr lang="en-US" sz="2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37560" y="1627632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자료가 따로 논다</a:t>
            </a:r>
            <a:endParaRPr lang="en-US" sz="2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160520" y="2212848"/>
            <a:ext cx="6858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64992" y="2340864"/>
            <a:ext cx="22860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녹음 파일, 수업 PPT, </a:t>
            </a:r>
            <a:r>
              <a:rPr lang="en-US" sz="1450" dirty="0" err="1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필기노트가</a:t>
            </a:r>
            <a:r>
              <a:rPr lang="en-US" sz="145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 제각각 흩어져 통합 정리가 안 된다</a:t>
            </a:r>
            <a:endParaRPr lang="en-US" sz="145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35040" y="914400"/>
            <a:ext cx="26060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35040" y="914400"/>
            <a:ext cx="260604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35040" y="941832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03</a:t>
            </a:r>
            <a:endParaRPr lang="en-US" sz="2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72200" y="1627632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복습 노트가 없다</a:t>
            </a:r>
            <a:endParaRPr lang="en-US" sz="2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995160" y="2212848"/>
            <a:ext cx="6858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199632" y="2340864"/>
            <a:ext cx="22860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시험 전 구조화된 요약본이 없어 매번 처음부터 다시 정리해야 한다</a:t>
            </a:r>
            <a:endParaRPr lang="en-US" sz="145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65760" y="4343400"/>
            <a:ext cx="841248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437083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국내 대학생 200만 명  ·  수도권 70만 명</a:t>
            </a:r>
            <a:r>
              <a:rPr lang="ko-KR" altLang="en-US" sz="1300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이 겪는</a:t>
            </a:r>
            <a:r>
              <a:rPr lang="en-US" sz="1300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  매 학기 반복되는 구조적 문제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기존 </a:t>
            </a:r>
            <a:r>
              <a:rPr lang="en-US" sz="2400" b="1" dirty="0" err="1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서비스의</a:t>
            </a:r>
            <a:r>
              <a:rPr lang="en-US" sz="24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 한</a:t>
            </a:r>
            <a:r>
              <a:rPr lang="ko-KR" altLang="en-US" sz="24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계</a:t>
            </a:r>
            <a:endParaRPr lang="en-US" sz="2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26060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-730758" y="1993392"/>
            <a:ext cx="164690" cy="117043"/>
          </a:xfrm>
          <a:prstGeom prst="rect">
            <a:avLst/>
          </a:prstGeom>
          <a:solidFill>
            <a:srgbClr val="F8F9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438912" y="192024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직접 필기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(Word / 굿노트)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48640" y="2724912"/>
            <a:ext cx="182880" cy="182880"/>
          </a:xfrm>
          <a:prstGeom prst="rect">
            <a:avLst/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6"/>
          <p:cNvSpPr/>
          <p:nvPr/>
        </p:nvSpPr>
        <p:spPr>
          <a:xfrm>
            <a:off x="804672" y="26517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강의 중 말을 놓칠 수 있음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48640" y="3383280"/>
            <a:ext cx="182880" cy="182880"/>
          </a:xfrm>
          <a:prstGeom prst="rect">
            <a:avLst/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04672" y="33101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구조화된 개념 정리 어려움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48640" y="4041648"/>
            <a:ext cx="182880" cy="182880"/>
          </a:xfrm>
          <a:prstGeom prst="rect">
            <a:avLst/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804672" y="39684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자료와 필기의 통합 불가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182112" y="914400"/>
            <a:ext cx="26060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3182112" y="914400"/>
            <a:ext cx="2606040" cy="914400"/>
          </a:xfrm>
          <a:prstGeom prst="rect">
            <a:avLst/>
          </a:prstGeom>
          <a:solidFill>
            <a:srgbClr val="F8F9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3273552" y="192024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클로바노트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3383280" y="2724912"/>
            <a:ext cx="182880" cy="182880"/>
          </a:xfrm>
          <a:prstGeom prst="rect">
            <a:avLst/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3639312" y="26517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맥락·언어 파악 부족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3383280" y="3383280"/>
            <a:ext cx="182880" cy="182880"/>
          </a:xfrm>
          <a:prstGeom prst="rect">
            <a:avLst/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3639312" y="33101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쌩뚱맞은</a:t>
            </a:r>
            <a:r>
              <a:rPr lang="en-US" sz="12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 </a:t>
            </a:r>
            <a:r>
              <a:rPr lang="ko-KR" altLang="en-US" sz="12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용어 사용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3383280" y="4041648"/>
            <a:ext cx="182880" cy="182880"/>
          </a:xfrm>
          <a:prstGeom prst="rect">
            <a:avLst/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3639312" y="39684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요약 품질 일관성 낮음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6016752" y="914400"/>
            <a:ext cx="26060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6016752" y="914400"/>
            <a:ext cx="2606040" cy="914400"/>
          </a:xfrm>
          <a:prstGeom prst="rect">
            <a:avLst/>
          </a:prstGeom>
          <a:solidFill>
            <a:srgbClr val="F8F9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1" name="Text 24"/>
          <p:cNvSpPr/>
          <p:nvPr/>
        </p:nvSpPr>
        <p:spPr>
          <a:xfrm>
            <a:off x="6108192" y="192024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AI 서비스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(ChatGPT / Gemini / Claude)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6217920" y="2724912"/>
            <a:ext cx="182880" cy="182880"/>
          </a:xfrm>
          <a:prstGeom prst="rect">
            <a:avLst/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6473952" y="26517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한국어 음성 인식률 낮음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4" name="Shape 27"/>
          <p:cNvSpPr/>
          <p:nvPr/>
        </p:nvSpPr>
        <p:spPr>
          <a:xfrm>
            <a:off x="6217920" y="3383280"/>
            <a:ext cx="182880" cy="182880"/>
          </a:xfrm>
          <a:prstGeom prst="rect">
            <a:avLst/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6473952" y="33101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음성파일 가공 기능 미흡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6" name="Shape 29"/>
          <p:cNvSpPr/>
          <p:nvPr/>
        </p:nvSpPr>
        <p:spPr>
          <a:xfrm>
            <a:off x="6217920" y="4041648"/>
            <a:ext cx="182880" cy="182880"/>
          </a:xfrm>
          <a:prstGeom prst="rect">
            <a:avLst/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7" name="Text 30"/>
          <p:cNvSpPr/>
          <p:nvPr/>
        </p:nvSpPr>
        <p:spPr>
          <a:xfrm>
            <a:off x="6473952" y="39684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강의 특화 기능 없음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026" name="Picture 2" descr="네이버 클로바노트] 눈으로 보며 듣는 음성 기록 : 네이버 블로그">
            <a:extLst>
              <a:ext uri="{FF2B5EF4-FFF2-40B4-BE49-F238E27FC236}">
                <a16:creationId xmlns:a16="http://schemas.microsoft.com/office/drawing/2014/main" id="{81BA2B6D-198A-D98B-D5AD-8A7F0FA9D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3875" y1="50000" x2="54500" y2="52250"/>
                        <a14:foregroundMark x1="45875" y1="50250" x2="45750" y2="51750"/>
                        <a14:foregroundMark x1="39875" y1="50875" x2="38875" y2="52125"/>
                        <a14:foregroundMark x1="61625" y1="51750" x2="62625" y2="51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9352" y="942492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0565177-DBAB-1524-3A67-B13504676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" y="1078992"/>
            <a:ext cx="706933" cy="658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굿노트 X 차영진 역대급 만남">
            <a:extLst>
              <a:ext uri="{FF2B5EF4-FFF2-40B4-BE49-F238E27FC236}">
                <a16:creationId xmlns:a16="http://schemas.microsoft.com/office/drawing/2014/main" id="{138075D4-D79B-5599-307D-CD2C4815C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076" y="968496"/>
            <a:ext cx="862393" cy="862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챗GPT - 위키백과, 우리 모두의 백과사전">
            <a:extLst>
              <a:ext uri="{FF2B5EF4-FFF2-40B4-BE49-F238E27FC236}">
                <a16:creationId xmlns:a16="http://schemas.microsoft.com/office/drawing/2014/main" id="{EA688DB9-7241-298C-C2DB-0D0983441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920" y="1078992"/>
            <a:ext cx="603504" cy="603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10" descr="Gemini(애플리케이션) - 나무위키">
            <a:extLst>
              <a:ext uri="{FF2B5EF4-FFF2-40B4-BE49-F238E27FC236}">
                <a16:creationId xmlns:a16="http://schemas.microsoft.com/office/drawing/2014/main" id="{10753D31-EB89-B6E9-5EBB-232CE51B01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AutoShape 12" descr="Gemini(애플리케이션) - 나무위키">
            <a:extLst>
              <a:ext uri="{FF2B5EF4-FFF2-40B4-BE49-F238E27FC236}">
                <a16:creationId xmlns:a16="http://schemas.microsoft.com/office/drawing/2014/main" id="{1CC2CD29-A1AB-5FD0-1331-22F46619BE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38" name="Picture 14">
            <a:extLst>
              <a:ext uri="{FF2B5EF4-FFF2-40B4-BE49-F238E27FC236}">
                <a16:creationId xmlns:a16="http://schemas.microsoft.com/office/drawing/2014/main" id="{6D74A340-4097-DC46-8B46-1FC9821A4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8664" y="1034679"/>
            <a:ext cx="544420" cy="544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AutoShape 16" descr="Claude - 나무위키">
            <a:extLst>
              <a:ext uri="{FF2B5EF4-FFF2-40B4-BE49-F238E27FC236}">
                <a16:creationId xmlns:a16="http://schemas.microsoft.com/office/drawing/2014/main" id="{E89663B8-0A06-075C-1C58-9F31B32B10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7241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7" name="AutoShape 18" descr="Claude Logo PNG Vector (SVG) Free Download">
            <a:extLst>
              <a:ext uri="{FF2B5EF4-FFF2-40B4-BE49-F238E27FC236}">
                <a16:creationId xmlns:a16="http://schemas.microsoft.com/office/drawing/2014/main" id="{7E9BE24B-0DD3-65EE-733E-0C520F8562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28765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44" name="Picture 20" descr="앤트로픽, 안드로이드용 '클로드 앱' 무료 출시... AI 챗봇 시장 경쟁 가속 &lt; 챗봇 &lt; AI Industry &lt; 기사본문 -  인공지능신문">
            <a:extLst>
              <a:ext uri="{FF2B5EF4-FFF2-40B4-BE49-F238E27FC236}">
                <a16:creationId xmlns:a16="http://schemas.microsoft.com/office/drawing/2014/main" id="{7A4DA653-88AA-47CF-F881-CE927E898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467914" y="961200"/>
            <a:ext cx="1356046" cy="835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렉쳐노트의 솔루션</a:t>
            </a:r>
            <a:endParaRPr lang="en-US" sz="2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입력 (3가지 소스)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691640" cy="1600200"/>
          </a:xfrm>
          <a:prstGeom prst="rect">
            <a:avLst/>
          </a:prstGeom>
          <a:solidFill>
            <a:srgbClr val="4A90D9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STT 스크립트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클로바노트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음성 인식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40280" y="1325880"/>
            <a:ext cx="1691640" cy="1600200"/>
          </a:xfrm>
          <a:prstGeom prst="rect">
            <a:avLst/>
          </a:prstGeom>
          <a:solidFill>
            <a:srgbClr val="3A5FA0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240280" y="1325880"/>
            <a:ext cx="1691640" cy="274320"/>
          </a:xfrm>
          <a:prstGeom prst="rect">
            <a:avLst/>
          </a:prstGeom>
          <a:solidFill>
            <a:srgbClr val="2A4A80"/>
          </a:solidFill>
          <a:ln w="12700">
            <a:solidFill>
              <a:srgbClr val="2A4A80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240280" y="1344168"/>
            <a:ext cx="1691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선택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240280" y="171907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수업 PPT/PDF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240280" y="219456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강의자료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(선택)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114800" y="1325880"/>
            <a:ext cx="1691640" cy="1600200"/>
          </a:xfrm>
          <a:prstGeom prst="rect">
            <a:avLst/>
          </a:prstGeom>
          <a:solidFill>
            <a:srgbClr val="3A5FA0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114800" y="1325880"/>
            <a:ext cx="1691640" cy="274320"/>
          </a:xfrm>
          <a:prstGeom prst="rect">
            <a:avLst/>
          </a:prstGeom>
          <a:solidFill>
            <a:srgbClr val="2A4A80"/>
          </a:solidFill>
          <a:ln w="12700">
            <a:solidFill>
              <a:srgbClr val="2A4A80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14800" y="1344168"/>
            <a:ext cx="1691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선택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114800" y="171907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필기 노트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14800" y="219456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학생 직접 입력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(선택)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989320" y="17373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→</a:t>
            </a:r>
            <a:endParaRPr lang="en-US" sz="3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92240" y="1325880"/>
            <a:ext cx="2286000" cy="1600200"/>
          </a:xfrm>
          <a:prstGeom prst="rect">
            <a:avLst/>
          </a:prstGeom>
          <a:solidFill>
            <a:srgbClr val="1A3A6E"/>
          </a:solidFill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92240" y="1463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LLM API</a:t>
            </a:r>
            <a:endParaRPr lang="en-US" sz="2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92240" y="20116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200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정제 </a:t>
            </a:r>
            <a:r>
              <a:rPr lang="en-US" altLang="ko-KR" sz="1200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· </a:t>
            </a:r>
            <a:r>
              <a:rPr lang="en-US" sz="1200" dirty="0" err="1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통합</a:t>
            </a:r>
            <a:r>
              <a:rPr lang="en-US" sz="1200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 정리 · 요약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구조화</a:t>
            </a:r>
            <a:r>
              <a:rPr lang="en-US" sz="1200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 노트 생성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178040" y="2999232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↓</a:t>
            </a:r>
            <a:endParaRPr lang="en-US" sz="2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63640" y="3456432"/>
            <a:ext cx="2697480" cy="822960"/>
          </a:xfrm>
          <a:prstGeom prst="rect">
            <a:avLst/>
          </a:prstGeom>
          <a:solidFill>
            <a:srgbClr val="4A90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63640" y="35204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최종 노트 완성</a:t>
            </a:r>
            <a:endParaRPr lang="en-US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63640" y="38862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과목별 저장 · 예상 문제 추출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5760" y="309067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핵심 특징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65760" y="3520440"/>
            <a:ext cx="228600" cy="2286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58368" y="3474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클로바노트 한국어 STT — </a:t>
            </a:r>
            <a:r>
              <a:rPr lang="ko-KR" altLang="en-US" sz="1200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한국어에 특화된</a:t>
            </a:r>
            <a:r>
              <a:rPr lang="en-US" sz="1200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 </a:t>
            </a:r>
            <a:r>
              <a:rPr lang="ko-KR" altLang="en-US" sz="1200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업계 </a:t>
            </a:r>
            <a:r>
              <a:rPr lang="en-US" sz="1200" dirty="0" err="1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최고</a:t>
            </a:r>
            <a:r>
              <a:rPr lang="en-US" sz="1200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 수준 인식률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65760" y="3886200"/>
            <a:ext cx="228600" cy="2286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58368" y="3840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수업자료 PDF + 필기노트 선택 입력으로 맥락 보완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65760" y="4251960"/>
            <a:ext cx="228600" cy="2286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58368" y="4206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LLM이 세 </a:t>
            </a:r>
            <a:r>
              <a:rPr lang="en-US" sz="1200" dirty="0" err="1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소스를</a:t>
            </a:r>
            <a:r>
              <a:rPr lang="en-US" sz="1200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 </a:t>
            </a:r>
            <a:r>
              <a:rPr lang="ko-KR" altLang="en-US" sz="1200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정제 및 </a:t>
            </a:r>
            <a:r>
              <a:rPr lang="en-US" sz="1200" dirty="0" err="1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통합</a:t>
            </a:r>
            <a:r>
              <a:rPr lang="en-US" sz="1200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 → 구조화된 최고 품질 노트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LLM API 비교 검토</a:t>
            </a:r>
            <a:endParaRPr lang="en-US" sz="2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20240" cy="65836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9418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비교 기준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31720" y="914400"/>
            <a:ext cx="2148840" cy="658368"/>
          </a:xfrm>
          <a:prstGeom prst="rect">
            <a:avLst/>
          </a:prstGeom>
          <a:solidFill>
            <a:srgbClr val="CC785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2331720" y="941832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Claude</a:t>
            </a:r>
            <a:endParaRPr lang="en-US" sz="15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26280" y="914400"/>
            <a:ext cx="2148840" cy="658368"/>
          </a:xfrm>
          <a:prstGeom prst="rect">
            <a:avLst/>
          </a:prstGeom>
          <a:solidFill>
            <a:srgbClr val="10A37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295786" y="941832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GPT-4o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720840" y="914400"/>
            <a:ext cx="2148840" cy="658368"/>
          </a:xfrm>
          <a:prstGeom prst="rect">
            <a:avLst/>
          </a:prstGeom>
          <a:solidFill>
            <a:srgbClr val="4285F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427744" y="941832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Gemini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320040" y="1572768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65760" y="159105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한국어 처리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2331720" y="1572768"/>
            <a:ext cx="21488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2377440" y="159105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3A1A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★★★★★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7A3A1A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문맥 파악 우수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4526280" y="1572768"/>
            <a:ext cx="21488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4572000" y="159105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★★★★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구어체 다소 부족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6720840" y="1572768"/>
            <a:ext cx="21488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6766560" y="159105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★★★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구어체에 약함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320040" y="2231136"/>
            <a:ext cx="1920240" cy="658368"/>
          </a:xfrm>
          <a:prstGeom prst="rect">
            <a:avLst/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365760" y="2249424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긴 텍스트 요약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2331720" y="2231136"/>
            <a:ext cx="2148840" cy="658368"/>
          </a:xfrm>
          <a:prstGeom prst="rect">
            <a:avLst/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2377440" y="2249424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3A1A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★★★★★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7A3A1A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200K 토큰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4526280" y="2231136"/>
            <a:ext cx="2148840" cy="658368"/>
          </a:xfrm>
          <a:prstGeom prst="rect">
            <a:avLst/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4572000" y="2249424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★★★★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128K 토큰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6720840" y="2231136"/>
            <a:ext cx="2148840" cy="658368"/>
          </a:xfrm>
          <a:prstGeom prst="rect">
            <a:avLst/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6766560" y="2249424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★★★★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1M 토큰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320040" y="2889504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365760" y="290779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API 비용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(1M 토큰)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2" name="Shape 28"/>
          <p:cNvSpPr/>
          <p:nvPr/>
        </p:nvSpPr>
        <p:spPr>
          <a:xfrm>
            <a:off x="2331720" y="2889504"/>
            <a:ext cx="21488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2377440" y="2907792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3A1A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★★★★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7A3A1A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$3 · 중간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4" name="Shape 30"/>
          <p:cNvSpPr/>
          <p:nvPr/>
        </p:nvSpPr>
        <p:spPr>
          <a:xfrm>
            <a:off x="4526280" y="2889504"/>
            <a:ext cx="21488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4572000" y="2907792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★★★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$5 · 가장 비쌈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6" name="Shape 32"/>
          <p:cNvSpPr/>
          <p:nvPr/>
        </p:nvSpPr>
        <p:spPr>
          <a:xfrm>
            <a:off x="6720840" y="2889504"/>
            <a:ext cx="21488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6766560" y="2907792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★★★★★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$0.075 · 저렴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8" name="Shape 34"/>
          <p:cNvSpPr/>
          <p:nvPr/>
        </p:nvSpPr>
        <p:spPr>
          <a:xfrm>
            <a:off x="320040" y="3547872"/>
            <a:ext cx="1920240" cy="658368"/>
          </a:xfrm>
          <a:prstGeom prst="rect">
            <a:avLst/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9" name="Text 35"/>
          <p:cNvSpPr/>
          <p:nvPr/>
        </p:nvSpPr>
        <p:spPr>
          <a:xfrm>
            <a:off x="365760" y="356616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응답 속도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0" name="Shape 36"/>
          <p:cNvSpPr/>
          <p:nvPr/>
        </p:nvSpPr>
        <p:spPr>
          <a:xfrm>
            <a:off x="2331720" y="3547872"/>
            <a:ext cx="2148840" cy="658368"/>
          </a:xfrm>
          <a:prstGeom prst="rect">
            <a:avLst/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1" name="Text 37"/>
          <p:cNvSpPr/>
          <p:nvPr/>
        </p:nvSpPr>
        <p:spPr>
          <a:xfrm>
            <a:off x="2377440" y="3566160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3A1A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★★★★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7A3A1A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빠른 편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2" name="Shape 38"/>
          <p:cNvSpPr/>
          <p:nvPr/>
        </p:nvSpPr>
        <p:spPr>
          <a:xfrm>
            <a:off x="4526280" y="3547872"/>
            <a:ext cx="2148840" cy="658368"/>
          </a:xfrm>
          <a:prstGeom prst="rect">
            <a:avLst/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4572000" y="3566160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★★★★★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가장 빠름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4" name="Shape 40"/>
          <p:cNvSpPr/>
          <p:nvPr/>
        </p:nvSpPr>
        <p:spPr>
          <a:xfrm>
            <a:off x="6720840" y="3547872"/>
            <a:ext cx="2148840" cy="658368"/>
          </a:xfrm>
          <a:prstGeom prst="rect">
            <a:avLst/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5" name="Text 41"/>
          <p:cNvSpPr/>
          <p:nvPr/>
        </p:nvSpPr>
        <p:spPr>
          <a:xfrm>
            <a:off x="6766560" y="3566160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★★★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중간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6" name="Shape 42"/>
          <p:cNvSpPr/>
          <p:nvPr/>
        </p:nvSpPr>
        <p:spPr>
          <a:xfrm>
            <a:off x="320040" y="4251960"/>
            <a:ext cx="85039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7" name="Text 43"/>
          <p:cNvSpPr/>
          <p:nvPr/>
        </p:nvSpPr>
        <p:spPr>
          <a:xfrm>
            <a:off x="365760" y="4279392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결론: 한국어 처리·긴 텍스트 기준 Claude API 가장 유력 — 비용 최적화 관점에서 Gemini 병행 활용 검토 중</a:t>
            </a:r>
            <a:endParaRPr lang="en-US" sz="125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시장성</a:t>
            </a:r>
            <a:endParaRPr lang="en-US" sz="2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6596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200만</a:t>
            </a:r>
            <a:endParaRPr lang="en-US" sz="2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0040" y="182880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국내 대학생 수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468880" y="914400"/>
            <a:ext cx="196596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2468880" y="10058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70만</a:t>
            </a:r>
            <a:endParaRPr lang="en-US" sz="2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68880" y="182880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수도권 대학생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17720" y="914400"/>
            <a:ext cx="196596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17720" y="10058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~10조원</a:t>
            </a:r>
            <a:endParaRPr lang="en-US" sz="2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17720" y="182880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국내 에듀테크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시장 (2025)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766560" y="914400"/>
            <a:ext cx="196596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766560" y="10058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연 15%+</a:t>
            </a:r>
            <a:endParaRPr lang="en-US" sz="2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66560" y="182880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글로벌 에듀테크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CAGR (HolonIQ)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27889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시장 수요는 이미 검증됨</a:t>
            </a:r>
            <a:endParaRPr lang="en-US" sz="15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324612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3246120"/>
            <a:ext cx="73152" cy="8686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2920" y="33192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클로바노트</a:t>
            </a:r>
            <a:endParaRPr lang="en-US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2920" y="36576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MAU 500만 — 요약 특화 기능 없음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09160" y="324612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09160" y="3246120"/>
            <a:ext cx="73152" cy="8686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92040" y="33192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노타(Nota)</a:t>
            </a:r>
            <a:endParaRPr lang="en-US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92040" y="36576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누적 다운로드 300만 — 강의 특화 아님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0040" y="4251960"/>
            <a:ext cx="8503920" cy="658368"/>
          </a:xfrm>
          <a:prstGeom prst="rect">
            <a:avLst/>
          </a:prstGeom>
          <a:solidFill>
            <a:srgbClr val="2A3F8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5760" y="4279392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AI 기반 초개인화 학습이 에듀테크 핵심 성장 동력 — 강의 특화 틈새시장 선점 기회  (출처: KBR, HolonIQ 2025)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수익화 방안 및 향후 계획</a:t>
            </a:r>
            <a:endParaRPr lang="en-US" sz="2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수익 모델</a:t>
            </a:r>
            <a:endParaRPr lang="en-US" sz="15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21488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무료</a:t>
            </a:r>
            <a:endParaRPr lang="en-US" sz="18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207568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90D9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₩0 / 월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60120" y="2578608"/>
            <a:ext cx="105156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2670048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월 5회 요약 제한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기본 기능 제공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0" y="1371600"/>
            <a:ext cx="2148840" cy="2834640"/>
          </a:xfrm>
          <a:prstGeom prst="rect">
            <a:avLst/>
          </a:prstGeom>
          <a:solidFill>
            <a:srgbClr val="1E2761"/>
          </a:solidFill>
          <a:ln w="254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0" y="1371600"/>
            <a:ext cx="2148840" cy="365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743200" y="138988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추천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43200" y="18745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유료</a:t>
            </a:r>
            <a:endParaRPr lang="en-US" sz="18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743200" y="2377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₩3,000~5,000 / 월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91840" y="2880360"/>
            <a:ext cx="105156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743200" y="29718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무제한 요약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예상 문제 추출 포함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74920" y="9144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향후 계획</a:t>
            </a:r>
            <a:endParaRPr lang="en-US" sz="15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74920" y="1417320"/>
            <a:ext cx="109728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74920" y="150876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1단계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63640" y="145389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교내 베타 테스트 출시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63640" y="17830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클로바노트 STT 연동 검증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074920" y="2377440"/>
            <a:ext cx="109728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74920" y="246888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2단계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63640" y="241401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수도권 대학 확산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63640" y="27432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LLM API 최적화 및 고도화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74920" y="3337560"/>
            <a:ext cx="109728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074920" y="342900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3단계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63640" y="337413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기업 교육 시장 확장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263640" y="37033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B2B 강의 노트 솔루션 제공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65760" y="4343400"/>
            <a:ext cx="841248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437083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클로바노트 STT + LLM API = 강의 특화 노트 자동 완성  ·  구독 기반 수익 모델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우리가 직접 겪는 문제,</a:t>
            </a:r>
            <a:endParaRPr lang="en-US" sz="27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435608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우리가 가장 잘 만들 수 있습니다.</a:t>
            </a:r>
            <a:endParaRPr lang="en-US" sz="2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렉쳐노트 (LectureNote)</a:t>
            </a:r>
            <a:endParaRPr lang="en-US" sz="18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182880" cy="1828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3232" y="278892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클로바노트 STT + LLM API 결합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182880" cy="1828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320040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3가지 입력 소스로 최고 품질 노트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182880" cy="1828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13232" y="361188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수도권 70만 대학생 타겟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577840" y="713232"/>
            <a:ext cx="45720" cy="35204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852160" y="71323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Team</a:t>
            </a:r>
            <a:endParaRPr lang="en-US" sz="18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852160" y="1261872"/>
            <a:ext cx="2880360" cy="658368"/>
          </a:xfrm>
          <a:prstGeom prst="rect">
            <a:avLst/>
          </a:prstGeom>
          <a:solidFill>
            <a:srgbClr val="2A3F8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43600" y="1289304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팀장: </a:t>
            </a:r>
            <a:r>
              <a:rPr lang="ko-KR" altLang="en-US" sz="1400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이병헌</a:t>
            </a:r>
            <a:endParaRPr lang="en-US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852160" y="2103120"/>
            <a:ext cx="2880360" cy="658368"/>
          </a:xfrm>
          <a:prstGeom prst="rect">
            <a:avLst/>
          </a:prstGeom>
          <a:solidFill>
            <a:srgbClr val="2A3F8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43600" y="2130552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팀원: </a:t>
            </a:r>
            <a:r>
              <a:rPr lang="ko-KR" altLang="en-US" sz="1400" dirty="0" err="1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최철원</a:t>
            </a:r>
            <a:endParaRPr lang="en-US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852160" y="2944368"/>
            <a:ext cx="2880360" cy="658368"/>
          </a:xfrm>
          <a:prstGeom prst="rect">
            <a:avLst/>
          </a:prstGeom>
          <a:solidFill>
            <a:srgbClr val="2A3F8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43600" y="29718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팀원: </a:t>
            </a:r>
            <a:r>
              <a:rPr lang="ko-KR" altLang="en-US" sz="1400" dirty="0" err="1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김도환</a:t>
            </a:r>
            <a:endParaRPr lang="en-US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4736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경영전략</a:t>
            </a:r>
            <a:r>
              <a:rPr lang="en-US" altLang="ko-KR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팀 </a:t>
            </a:r>
            <a:r>
              <a:rPr lang="en-US" altLang="ko-KR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</a:t>
            </a:r>
            <a:r>
              <a:rPr lang="en-US" altLang="ko-KR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9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</a:t>
            </a:r>
            <a:r>
              <a:rPr lang="en-US" altLang="ko-KR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</a:t>
            </a:r>
            <a:r>
              <a:rPr lang="en-US" altLang="ko-KR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</a:t>
            </a:r>
            <a:endParaRPr lang="en-US" altLang="ko-KR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539</Words>
  <Application>Microsoft Office PowerPoint</Application>
  <PresentationFormat>화면 슬라이드 쇼(16:9)</PresentationFormat>
  <Paragraphs>147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HY신명조</vt:lpstr>
      <vt:lpstr>한컴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렉쳐노트 (LectureNote)</dc:title>
  <dc:subject>PptxGenJS Presentation</dc:subject>
  <dc:creator>PptxGenJS</dc:creator>
  <cp:lastModifiedBy>Moira Wide</cp:lastModifiedBy>
  <cp:revision>4</cp:revision>
  <dcterms:created xsi:type="dcterms:W3CDTF">2026-03-25T06:58:12Z</dcterms:created>
  <dcterms:modified xsi:type="dcterms:W3CDTF">2026-03-26T05:10:31Z</dcterms:modified>
</cp:coreProperties>
</file>