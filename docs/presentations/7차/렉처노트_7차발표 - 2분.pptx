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4"/>
    <p:sldId id="265" r:id="rId5"/>
    <p:sldId id="259" r:id="rId8"/>
    <p:sldId id="264" r:id="rId12"/>
    <p:sldId id="266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761"/>
    <a:srgbClr val="FFFFFF"/>
    <a:srgbClr val="8090B0"/>
    <a:srgbClr val="1E2D5B"/>
    <a:srgbClr val="4A9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8" Type="http://schemas.openxmlformats.org/officeDocument/2006/relationships/slide" Target="slides/slide4.xml"/><Relationship Id="rId12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F58B4-F24A-417F-8FFB-016985242922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5E3EC-CB9D-4A12-B690-A253465C7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492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화면이 렉처노트의 전체 데이터 흐름입니다.
크게 두 단계로 나뉩니다.
첫 번째 단계는 학기 초 한 번만 하는 강의 등록입니다. 강의계획서 PDF를 업로드하면 Gemini가 전체 커리큘럼을 읽고 "이 과목에서 어떤 개념이 어느 주차에 나오고, 시험에서 어떤 부분이 중요한지"를 미리 분석합니다.
두 번째 단계는 수업이 끝난 후 매주 반복하는 흐름입니다. 강의 녹음, 수업 자료 PDF, 개인 필기, 그리고 방금 만들어둔 Step 0 로드맵, 이 네 가지를 Data Aggregator가 하나로 합칩니다.
이걸 Gemini에 전달하면 5개 섹션으로 구성된 구조화 노트가 생성됩니다.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81113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microsoft.com/office/2007/relationships/hdphoto" Target="../media/hdphoto1.wdp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microsoft.com/office/2007/relationships/hdphoto" Target="../media/hdphoto2.wdp"/><Relationship Id="rId11" Type="http://schemas.openxmlformats.org/officeDocument/2006/relationships/image" Target="../media/image7.png"/><Relationship Id="rId12" Type="http://schemas.microsoft.com/office/2007/relationships/hdphoto" Target="../media/hdphoto3.wdp"/><Relationship Id="rId13" Type="http://schemas.openxmlformats.org/officeDocument/2006/relationships/image" Target="../media/image8.png"/><Relationship Id="rId14" Type="http://schemas.microsoft.com/office/2007/relationships/hdphoto" Target="../media/hdphoto4.wdp"/><Relationship Id="rId1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1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eb-production-94071.up.railway.app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4A9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0"/>
                </a:solidFill>
              </a:rPr>
              <a:t>경영전략 9팀  |  7차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0AEC0"/>
                </a:solidFill>
              </a:rPr>
              <a:t>2026.06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 dirty="0" err="1">
                <a:solidFill>
                  <a:srgbClr val="FFFFFF"/>
                </a:solidFill>
              </a:rPr>
              <a:t>Lecture</a:t>
            </a:r>
            <a:r>
              <a:rPr sz="7200" b="1" dirty="0" err="1">
                <a:solidFill>
                  <a:srgbClr val="4A9DF8"/>
                </a:solidFill>
              </a:rPr>
              <a:t>Note</a:t>
            </a:r>
            <a:endParaRPr sz="7200" b="1" dirty="0">
              <a:solidFill>
                <a:srgbClr val="4A9DF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AEC0"/>
                </a:solidFill>
              </a:rPr>
              <a:t>렉처노트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최종 빌드 완성  —  외부 피드백 반영  ·  Android 패키징  ·  Railway 배포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440680"/>
            <a:ext cx="11274552" cy="13716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575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A0AEC0"/>
                </a:solidFill>
              </a:rPr>
              <a:t>발표자</a:t>
            </a:r>
            <a:endParaRPr sz="1100" b="0" i="0" dirty="0">
              <a:solidFill>
                <a:srgbClr val="A0AE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926009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FFFFFF"/>
                </a:solidFill>
              </a:rPr>
              <a:t>이병헌</a:t>
            </a:r>
            <a:r>
              <a:rPr sz="1600" b="1" i="0" dirty="0">
                <a:solidFill>
                  <a:srgbClr val="FFFFFF"/>
                </a:solidFill>
              </a:rPr>
              <a:t> </a:t>
            </a:r>
            <a:r>
              <a:rPr lang="en-US" sz="1600" b="1" i="0" dirty="0">
                <a:solidFill>
                  <a:srgbClr val="FFFFFF"/>
                </a:solidFill>
              </a:rPr>
              <a:t>(20204163) [</a:t>
            </a:r>
            <a:r>
              <a:rPr sz="1600" b="1" i="0" dirty="0" err="1">
                <a:solidFill>
                  <a:srgbClr val="FFFFFF"/>
                </a:solidFill>
              </a:rPr>
              <a:t>팀장</a:t>
            </a:r>
            <a:r>
              <a:rPr lang="en-US" sz="1600" b="1" i="0" dirty="0">
                <a:solidFill>
                  <a:srgbClr val="FFFFFF"/>
                </a:solidFill>
              </a:rPr>
              <a:t>]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0" y="5532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EC0"/>
                </a:solidFill>
              </a:rPr>
              <a:t>경영전략 팀 프로젝트  9팀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78815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A0AEC0"/>
                </a:solidFill>
              </a:rPr>
              <a:t>7차 발표  ·  2026.06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28232"/>
            <a:ext cx="12188952" cy="18288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2A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6501384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</a:rPr>
              <a:t>경영전략 팀 프로젝트   |   9팀 7차 발표   |   2026.06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01384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A0AEC0"/>
                </a:solidFill>
              </a:rPr>
              <a:t>1 / </a:t>
            </a:r>
            <a:r>
              <a:rPr lang="en-US" sz="1100" b="0" i="0" dirty="0">
                <a:solidFill>
                  <a:srgbClr val="A0AEC0"/>
                </a:solidFill>
              </a:rPr>
              <a:t>6</a:t>
            </a:r>
            <a:endParaRPr sz="1100" b="0" i="0" dirty="0">
              <a:solidFill>
                <a:srgbClr val="A0AE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8E61E6-3DE2-3C0A-1299-EE9DE4C3A317}"/>
              </a:ext>
            </a:extLst>
          </p:cNvPr>
          <p:cNvSpPr txBox="1"/>
          <p:nvPr/>
        </p:nvSpPr>
        <p:spPr>
          <a:xfrm>
            <a:off x="457200" y="4314444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FFFFFF"/>
                </a:solidFill>
              </a:rPr>
              <a:t>김도환</a:t>
            </a:r>
            <a:r>
              <a:rPr lang="en-US" sz="1600" b="1" i="0" dirty="0">
                <a:solidFill>
                  <a:srgbClr val="FFFFFF"/>
                </a:solidFill>
              </a:rPr>
              <a:t> (20214464)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85C5C6-C0A6-13B9-2D0B-932F7FB5CF7F}"/>
              </a:ext>
            </a:extLst>
          </p:cNvPr>
          <p:cNvSpPr txBox="1"/>
          <p:nvPr/>
        </p:nvSpPr>
        <p:spPr>
          <a:xfrm>
            <a:off x="457200" y="4662978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FFFFFF"/>
                </a:solidFill>
              </a:rPr>
              <a:t>최철원</a:t>
            </a:r>
            <a:r>
              <a:rPr lang="en-US" sz="1600" b="1" i="0" dirty="0">
                <a:solidFill>
                  <a:srgbClr val="FFFFFF"/>
                </a:solidFill>
              </a:rPr>
              <a:t> (20236563)</a:t>
            </a:r>
            <a:endParaRPr sz="1600" b="1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9E55F42B-7BDE-D0F1-F9BD-09B8B2A8BF9A}"/>
              </a:ext>
            </a:extLst>
          </p:cNvPr>
          <p:cNvSpPr/>
          <p:nvPr/>
        </p:nvSpPr>
        <p:spPr>
          <a:xfrm>
            <a:off x="4987636" y="1395799"/>
            <a:ext cx="6517190" cy="478480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79278" y="1307592"/>
            <a:ext cx="4104736" cy="4873013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399"/>
          </a:p>
        </p:txBody>
      </p:sp>
      <p:sp>
        <p:nvSpPr>
          <p:cNvPr id="5" name="Shape 3"/>
          <p:cNvSpPr/>
          <p:nvPr/>
        </p:nvSpPr>
        <p:spPr>
          <a:xfrm>
            <a:off x="379278" y="1307592"/>
            <a:ext cx="4104736" cy="548497"/>
          </a:xfrm>
          <a:prstGeom prst="rect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6" name="Text 4"/>
          <p:cNvSpPr/>
          <p:nvPr/>
        </p:nvSpPr>
        <p:spPr>
          <a:xfrm>
            <a:off x="440222" y="1307592"/>
            <a:ext cx="4011446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733" b="1" dirty="0">
                <a:solidFill>
                  <a:srgbClr val="FFFFFF"/>
                </a:solidFill>
              </a:rPr>
              <a:t>대학생이 겪는 어려움</a:t>
            </a:r>
            <a:endParaRPr lang="en-US" sz="1733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99" y="2160810"/>
            <a:ext cx="326513" cy="4266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2496" y="2038922"/>
            <a:ext cx="3265131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340"/>
                </a:solidFill>
              </a:rPr>
              <a:t>흐름을 놓친다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2496" y="2465531"/>
            <a:ext cx="3171842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090B0"/>
                </a:solidFill>
              </a:rPr>
              <a:t>빠른 강의 속도로 필기와</a:t>
            </a:r>
            <a:endParaRPr lang="en-US" sz="1333" dirty="0"/>
          </a:p>
          <a:p>
            <a:r>
              <a:rPr lang="en-US" sz="1333" dirty="0">
                <a:solidFill>
                  <a:srgbClr val="8090B0"/>
                </a:solidFill>
              </a:rPr>
              <a:t>집중을 동시에 하기 어려움</a:t>
            </a:r>
            <a:endParaRPr lang="en-US" sz="1333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99" y="3379693"/>
            <a:ext cx="326513" cy="4266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2496" y="3257804"/>
            <a:ext cx="3265131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340"/>
                </a:solidFill>
              </a:rPr>
              <a:t>자료가 따로 논다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32496" y="3684413"/>
            <a:ext cx="3171842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090B0"/>
                </a:solidFill>
              </a:rPr>
              <a:t>녹음·PPT·필기가 흩어져</a:t>
            </a:r>
            <a:endParaRPr lang="en-US" sz="1333" dirty="0"/>
          </a:p>
          <a:p>
            <a:r>
              <a:rPr lang="en-US" sz="1333" dirty="0">
                <a:solidFill>
                  <a:srgbClr val="8090B0"/>
                </a:solidFill>
              </a:rPr>
              <a:t>통합 정리가 불가능</a:t>
            </a:r>
            <a:endParaRPr lang="en-US" sz="1333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99" y="4598575"/>
            <a:ext cx="326513" cy="42660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2496" y="4476687"/>
            <a:ext cx="3265131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340"/>
                </a:solidFill>
              </a:rPr>
              <a:t>복습 노트가 없다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32496" y="4903296"/>
            <a:ext cx="3171842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090B0"/>
                </a:solidFill>
              </a:rPr>
              <a:t>구조화된 요약본 없이</a:t>
            </a:r>
            <a:endParaRPr lang="en-US" sz="1333" dirty="0"/>
          </a:p>
          <a:p>
            <a:r>
              <a:rPr lang="en-US" sz="1333" dirty="0">
                <a:solidFill>
                  <a:srgbClr val="8090B0"/>
                </a:solidFill>
              </a:rPr>
              <a:t>매번 처음부터 정리</a:t>
            </a:r>
            <a:endParaRPr lang="en-US" sz="1333" dirty="0"/>
          </a:p>
        </p:txBody>
      </p:sp>
      <p:sp>
        <p:nvSpPr>
          <p:cNvPr id="16" name="Shape 11"/>
          <p:cNvSpPr/>
          <p:nvPr/>
        </p:nvSpPr>
        <p:spPr>
          <a:xfrm>
            <a:off x="379278" y="5543208"/>
            <a:ext cx="4104736" cy="548497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17" name="Text 12"/>
          <p:cNvSpPr/>
          <p:nvPr/>
        </p:nvSpPr>
        <p:spPr>
          <a:xfrm>
            <a:off x="392892" y="5559283"/>
            <a:ext cx="4011446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2A3F7E"/>
                </a:solidFill>
              </a:rPr>
              <a:t>STT + PDF + 필기 → LLM → 구조화 노트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AB8EE8-7309-8F67-B62F-DE8E0CCE4743}"/>
              </a:ext>
            </a:extLst>
          </p:cNvPr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0AEC0"/>
                </a:solidFill>
              </a:rPr>
              <a:t>01 . </a:t>
            </a:r>
            <a:r>
              <a:rPr sz="1200" b="0" i="0" dirty="0" err="1">
                <a:solidFill>
                  <a:srgbClr val="A0AEC0"/>
                </a:solidFill>
              </a:rPr>
              <a:t>지난</a:t>
            </a:r>
            <a:r>
              <a:rPr sz="1200" b="0" i="0" dirty="0">
                <a:solidFill>
                  <a:srgbClr val="A0AEC0"/>
                </a:solidFill>
              </a:rPr>
              <a:t> </a:t>
            </a:r>
            <a:r>
              <a:rPr sz="1200" b="0" i="0" dirty="0" err="1">
                <a:solidFill>
                  <a:srgbClr val="A0AEC0"/>
                </a:solidFill>
              </a:rPr>
              <a:t>발표</a:t>
            </a:r>
            <a:r>
              <a:rPr sz="1200" b="0" i="0" dirty="0">
                <a:solidFill>
                  <a:srgbClr val="A0AEC0"/>
                </a:solidFill>
              </a:rPr>
              <a:t> </a:t>
            </a:r>
            <a:r>
              <a:rPr sz="1200" b="0" i="0" dirty="0" err="1">
                <a:solidFill>
                  <a:srgbClr val="A0AEC0"/>
                </a:solidFill>
              </a:rPr>
              <a:t>돌아보기</a:t>
            </a:r>
            <a:endParaRPr sz="1200" b="0" i="0" dirty="0">
              <a:solidFill>
                <a:srgbClr val="A0AEC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2C0B15-1E6C-934A-BB9B-A0FDC536F1C6}"/>
              </a:ext>
            </a:extLst>
          </p:cNvPr>
          <p:cNvSpPr txBox="1"/>
          <p:nvPr/>
        </p:nvSpPr>
        <p:spPr>
          <a:xfrm>
            <a:off x="457200" y="457200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3400" b="1" i="0" dirty="0">
                <a:solidFill>
                  <a:srgbClr val="FFFFFF"/>
                </a:solidFill>
              </a:rPr>
              <a:t>문제정의</a:t>
            </a:r>
            <a:r>
              <a:rPr lang="en-US" altLang="ko-KR" sz="3400" b="1" i="0" dirty="0">
                <a:solidFill>
                  <a:srgbClr val="FFFFFF"/>
                </a:solidFill>
              </a:rPr>
              <a:t>, SDLC </a:t>
            </a:r>
            <a:r>
              <a:rPr lang="ko-KR" altLang="en-US" sz="3400" b="1" i="0" dirty="0">
                <a:solidFill>
                  <a:srgbClr val="FFFFFF"/>
                </a:solidFill>
              </a:rPr>
              <a:t>표준 모델 적용</a:t>
            </a:r>
            <a:endParaRPr sz="3400" b="1" i="0" dirty="0">
              <a:solidFill>
                <a:srgbClr val="FFFFFF"/>
              </a:solidFill>
            </a:endParaRP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A76951BF-7D48-5788-2CE5-5DFC5D2999C2}"/>
              </a:ext>
            </a:extLst>
          </p:cNvPr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4A9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444FEB15-498D-674B-74DA-5C127E40D2C0}"/>
              </a:ext>
            </a:extLst>
          </p:cNvPr>
          <p:cNvSpPr/>
          <p:nvPr/>
        </p:nvSpPr>
        <p:spPr>
          <a:xfrm>
            <a:off x="5477659" y="1873368"/>
            <a:ext cx="1005840" cy="54864"/>
          </a:xfrm>
          <a:prstGeom prst="rect">
            <a:avLst/>
          </a:prstGeom>
          <a:solidFill>
            <a:srgbClr val="8090B0"/>
          </a:solidFill>
          <a:ln w="12700">
            <a:solidFill>
              <a:srgbClr val="809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DD1F84E3-6C70-8FED-7184-CAAC2807E569}"/>
              </a:ext>
            </a:extLst>
          </p:cNvPr>
          <p:cNvSpPr/>
          <p:nvPr/>
        </p:nvSpPr>
        <p:spPr>
          <a:xfrm>
            <a:off x="5706259" y="2056248"/>
            <a:ext cx="548640" cy="548640"/>
          </a:xfrm>
          <a:prstGeom prst="ellipse">
            <a:avLst/>
          </a:prstGeom>
          <a:solidFill>
            <a:srgbClr val="8090B0"/>
          </a:solidFill>
          <a:ln w="12700">
            <a:solidFill>
              <a:srgbClr val="809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3" descr="preencoded.png">
            <a:extLst>
              <a:ext uri="{FF2B5EF4-FFF2-40B4-BE49-F238E27FC236}">
                <a16:creationId xmlns:a16="http://schemas.microsoft.com/office/drawing/2014/main" id="{ABB9144A-7BC9-5232-06FD-7AD7D707FE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06843" y="2156832"/>
            <a:ext cx="347472" cy="347472"/>
          </a:xfrm>
          <a:prstGeom prst="rect">
            <a:avLst/>
          </a:prstGeom>
        </p:spPr>
      </p:pic>
      <p:sp>
        <p:nvSpPr>
          <p:cNvPr id="41" name="Text 11">
            <a:extLst>
              <a:ext uri="{FF2B5EF4-FFF2-40B4-BE49-F238E27FC236}">
                <a16:creationId xmlns:a16="http://schemas.microsoft.com/office/drawing/2014/main" id="{3ECDD553-0A72-5423-1F54-A39F63AA1AAB}"/>
              </a:ext>
            </a:extLst>
          </p:cNvPr>
          <p:cNvSpPr/>
          <p:nvPr/>
        </p:nvSpPr>
        <p:spPr>
          <a:xfrm>
            <a:off x="5477659" y="27146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90B0"/>
                </a:solidFill>
              </a:rPr>
              <a:t>01</a:t>
            </a:r>
            <a:endParaRPr lang="en-US" sz="1100" dirty="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31223BE9-729B-1F23-4C9D-4480036D0934}"/>
              </a:ext>
            </a:extLst>
          </p:cNvPr>
          <p:cNvSpPr/>
          <p:nvPr/>
        </p:nvSpPr>
        <p:spPr>
          <a:xfrm>
            <a:off x="5477659" y="29889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090B0"/>
                </a:solidFill>
              </a:rPr>
              <a:t>요구분석</a:t>
            </a:r>
            <a:endParaRPr lang="en-US" sz="120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969FD566-9379-3680-2CF9-F444B36002FF}"/>
              </a:ext>
            </a:extLst>
          </p:cNvPr>
          <p:cNvSpPr/>
          <p:nvPr/>
        </p:nvSpPr>
        <p:spPr>
          <a:xfrm>
            <a:off x="5477659" y="3336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B0"/>
                </a:solidFill>
              </a:rPr>
              <a:t>Requirements</a:t>
            </a:r>
            <a:endParaRPr lang="en-US" sz="800" dirty="0"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60AC6297-6935-95D9-204E-1AFBA71A84C1}"/>
              </a:ext>
            </a:extLst>
          </p:cNvPr>
          <p:cNvSpPr/>
          <p:nvPr/>
        </p:nvSpPr>
        <p:spPr>
          <a:xfrm>
            <a:off x="5587387" y="3656448"/>
            <a:ext cx="786384" cy="22860"/>
          </a:xfrm>
          <a:prstGeom prst="rect">
            <a:avLst/>
          </a:prstGeom>
          <a:solidFill>
            <a:srgbClr val="8090B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9AC6831A-6DE3-4BD1-A06A-25FC8EFF4D95}"/>
              </a:ext>
            </a:extLst>
          </p:cNvPr>
          <p:cNvSpPr/>
          <p:nvPr/>
        </p:nvSpPr>
        <p:spPr>
          <a:xfrm>
            <a:off x="5550811" y="3747888"/>
            <a:ext cx="859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문제 정의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사용자 니즈 조사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시장 조사 완료</a:t>
            </a:r>
            <a:endParaRPr lang="en-US" sz="900" dirty="0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2D2713EE-30C9-010E-74A5-B3C22C1F1C43}"/>
              </a:ext>
            </a:extLst>
          </p:cNvPr>
          <p:cNvSpPr/>
          <p:nvPr/>
        </p:nvSpPr>
        <p:spPr>
          <a:xfrm>
            <a:off x="5587387" y="5485248"/>
            <a:ext cx="786384" cy="274320"/>
          </a:xfrm>
          <a:prstGeom prst="rect">
            <a:avLst/>
          </a:prstGeom>
          <a:solidFill>
            <a:srgbClr val="8090B0"/>
          </a:solidFill>
          <a:ln w="12700">
            <a:solidFill>
              <a:srgbClr val="809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A8DED618-CBD5-709C-C0EB-1E945602A90F}"/>
              </a:ext>
            </a:extLst>
          </p:cNvPr>
          <p:cNvSpPr/>
          <p:nvPr/>
        </p:nvSpPr>
        <p:spPr>
          <a:xfrm>
            <a:off x="5587387" y="548524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완료 ✓</a:t>
            </a:r>
            <a:endParaRPr lang="en-US" sz="900" dirty="0"/>
          </a:p>
        </p:txBody>
      </p:sp>
      <p:pic>
        <p:nvPicPr>
          <p:cNvPr id="48" name="Image 4" descr="preencoded.png">
            <a:extLst>
              <a:ext uri="{FF2B5EF4-FFF2-40B4-BE49-F238E27FC236}">
                <a16:creationId xmlns:a16="http://schemas.microsoft.com/office/drawing/2014/main" id="{E0628DFC-D429-D325-8A41-9EF9CE5CFA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1787" y="2257416"/>
            <a:ext cx="164592" cy="164592"/>
          </a:xfrm>
          <a:prstGeom prst="rect">
            <a:avLst/>
          </a:prstGeom>
        </p:spPr>
      </p:pic>
      <p:sp>
        <p:nvSpPr>
          <p:cNvPr id="49" name="Shape 19">
            <a:extLst>
              <a:ext uri="{FF2B5EF4-FFF2-40B4-BE49-F238E27FC236}">
                <a16:creationId xmlns:a16="http://schemas.microsoft.com/office/drawing/2014/main" id="{1D00B0DD-0702-5C59-39CA-8DBA12880FD5}"/>
              </a:ext>
            </a:extLst>
          </p:cNvPr>
          <p:cNvSpPr/>
          <p:nvPr/>
        </p:nvSpPr>
        <p:spPr>
          <a:xfrm>
            <a:off x="6629803" y="1873368"/>
            <a:ext cx="1005840" cy="54864"/>
          </a:xfrm>
          <a:prstGeom prst="rect">
            <a:avLst/>
          </a:prstGeom>
          <a:solidFill>
            <a:srgbClr val="8090B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20">
            <a:extLst>
              <a:ext uri="{FF2B5EF4-FFF2-40B4-BE49-F238E27FC236}">
                <a16:creationId xmlns:a16="http://schemas.microsoft.com/office/drawing/2014/main" id="{D3CD589A-1A71-C83A-4E93-C3BDD5204B11}"/>
              </a:ext>
            </a:extLst>
          </p:cNvPr>
          <p:cNvSpPr/>
          <p:nvPr/>
        </p:nvSpPr>
        <p:spPr>
          <a:xfrm>
            <a:off x="6858403" y="2056248"/>
            <a:ext cx="548640" cy="548640"/>
          </a:xfrm>
          <a:prstGeom prst="ellipse">
            <a:avLst/>
          </a:prstGeom>
          <a:solidFill>
            <a:srgbClr val="8090B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5" descr="preencoded.png">
            <a:extLst>
              <a:ext uri="{FF2B5EF4-FFF2-40B4-BE49-F238E27FC236}">
                <a16:creationId xmlns:a16="http://schemas.microsoft.com/office/drawing/2014/main" id="{2A1554BD-FED1-20DB-BFDD-2FF0E4D056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58987" y="2156832"/>
            <a:ext cx="347472" cy="347472"/>
          </a:xfrm>
          <a:prstGeom prst="rect">
            <a:avLst/>
          </a:prstGeom>
        </p:spPr>
      </p:pic>
      <p:sp>
        <p:nvSpPr>
          <p:cNvPr id="52" name="Text 21">
            <a:extLst>
              <a:ext uri="{FF2B5EF4-FFF2-40B4-BE49-F238E27FC236}">
                <a16:creationId xmlns:a16="http://schemas.microsoft.com/office/drawing/2014/main" id="{7D42767D-2C11-48B9-348B-6D289FC48D6E}"/>
              </a:ext>
            </a:extLst>
          </p:cNvPr>
          <p:cNvSpPr/>
          <p:nvPr/>
        </p:nvSpPr>
        <p:spPr>
          <a:xfrm>
            <a:off x="6629803" y="27146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9BD5"/>
                </a:solidFill>
              </a:rPr>
              <a:t>02</a:t>
            </a:r>
            <a:endParaRPr lang="en-US" sz="110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9C2BC1E7-DF3B-53F0-F503-53DB92F814C3}"/>
              </a:ext>
            </a:extLst>
          </p:cNvPr>
          <p:cNvSpPr/>
          <p:nvPr/>
        </p:nvSpPr>
        <p:spPr>
          <a:xfrm>
            <a:off x="6629803" y="29889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090B0"/>
                </a:solidFill>
              </a:rPr>
              <a:t>설계</a:t>
            </a:r>
            <a:endParaRPr lang="en-US" sz="1200" dirty="0">
              <a:solidFill>
                <a:srgbClr val="8090B0"/>
              </a:solidFill>
            </a:endParaRPr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1ACCE9AE-0191-6304-B78C-94CA67D7BA1D}"/>
              </a:ext>
            </a:extLst>
          </p:cNvPr>
          <p:cNvSpPr/>
          <p:nvPr/>
        </p:nvSpPr>
        <p:spPr>
          <a:xfrm>
            <a:off x="6629803" y="3336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B0"/>
                </a:solidFill>
              </a:rPr>
              <a:t>Design</a:t>
            </a:r>
          </a:p>
        </p:txBody>
      </p:sp>
      <p:sp>
        <p:nvSpPr>
          <p:cNvPr id="55" name="Shape 24">
            <a:extLst>
              <a:ext uri="{FF2B5EF4-FFF2-40B4-BE49-F238E27FC236}">
                <a16:creationId xmlns:a16="http://schemas.microsoft.com/office/drawing/2014/main" id="{4CDA731D-C39A-55F6-21D0-E48F2D22082A}"/>
              </a:ext>
            </a:extLst>
          </p:cNvPr>
          <p:cNvSpPr/>
          <p:nvPr/>
        </p:nvSpPr>
        <p:spPr>
          <a:xfrm>
            <a:off x="6739531" y="3656448"/>
            <a:ext cx="786384" cy="22860"/>
          </a:xfrm>
          <a:prstGeom prst="rect">
            <a:avLst/>
          </a:prstGeom>
          <a:solidFill>
            <a:srgbClr val="8090B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85E19567-91C0-415B-7C6B-65BCB464A10E}"/>
              </a:ext>
            </a:extLst>
          </p:cNvPr>
          <p:cNvSpPr/>
          <p:nvPr/>
        </p:nvSpPr>
        <p:spPr>
          <a:xfrm>
            <a:off x="6702955" y="3747888"/>
            <a:ext cx="859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시스템 아키텍처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API 규격 확정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비용 구조 산출</a:t>
            </a:r>
          </a:p>
        </p:txBody>
      </p:sp>
      <p:pic>
        <p:nvPicPr>
          <p:cNvPr id="59" name="Image 6" descr="preencoded.png">
            <a:extLst>
              <a:ext uri="{FF2B5EF4-FFF2-40B4-BE49-F238E27FC236}">
                <a16:creationId xmlns:a16="http://schemas.microsoft.com/office/drawing/2014/main" id="{E559096F-B932-85A6-8427-2072DEC726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3931" y="2257416"/>
            <a:ext cx="164592" cy="164592"/>
          </a:xfrm>
          <a:prstGeom prst="rect">
            <a:avLst/>
          </a:prstGeom>
        </p:spPr>
      </p:pic>
      <p:sp>
        <p:nvSpPr>
          <p:cNvPr id="60" name="Shape 29">
            <a:extLst>
              <a:ext uri="{FF2B5EF4-FFF2-40B4-BE49-F238E27FC236}">
                <a16:creationId xmlns:a16="http://schemas.microsoft.com/office/drawing/2014/main" id="{14EFBA3F-8DBA-52AF-7F66-272E43902AD5}"/>
              </a:ext>
            </a:extLst>
          </p:cNvPr>
          <p:cNvSpPr/>
          <p:nvPr/>
        </p:nvSpPr>
        <p:spPr>
          <a:xfrm>
            <a:off x="7781947" y="1873368"/>
            <a:ext cx="1005840" cy="54864"/>
          </a:xfrm>
          <a:prstGeom prst="rect">
            <a:avLst/>
          </a:prstGeom>
          <a:solidFill>
            <a:srgbClr val="8090B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30">
            <a:extLst>
              <a:ext uri="{FF2B5EF4-FFF2-40B4-BE49-F238E27FC236}">
                <a16:creationId xmlns:a16="http://schemas.microsoft.com/office/drawing/2014/main" id="{6E1834C3-4022-55D9-9F8E-A95D792816E3}"/>
              </a:ext>
            </a:extLst>
          </p:cNvPr>
          <p:cNvSpPr/>
          <p:nvPr/>
        </p:nvSpPr>
        <p:spPr>
          <a:xfrm>
            <a:off x="8010547" y="2056248"/>
            <a:ext cx="548640" cy="548640"/>
          </a:xfrm>
          <a:prstGeom prst="ellipse">
            <a:avLst/>
          </a:prstGeom>
          <a:solidFill>
            <a:srgbClr val="8090B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7" descr="preencoded.png">
            <a:extLst>
              <a:ext uri="{FF2B5EF4-FFF2-40B4-BE49-F238E27FC236}">
                <a16:creationId xmlns:a16="http://schemas.microsoft.com/office/drawing/2014/main" id="{E7B0770F-DC2C-EFA2-64B8-5F82C1837C3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11131" y="2156832"/>
            <a:ext cx="347472" cy="347472"/>
          </a:xfrm>
          <a:prstGeom prst="rect">
            <a:avLst/>
          </a:prstGeom>
        </p:spPr>
      </p:pic>
      <p:sp>
        <p:nvSpPr>
          <p:cNvPr id="63" name="Text 31">
            <a:extLst>
              <a:ext uri="{FF2B5EF4-FFF2-40B4-BE49-F238E27FC236}">
                <a16:creationId xmlns:a16="http://schemas.microsoft.com/office/drawing/2014/main" id="{C49310FA-1236-0603-8B26-E23D51FAD235}"/>
              </a:ext>
            </a:extLst>
          </p:cNvPr>
          <p:cNvSpPr/>
          <p:nvPr/>
        </p:nvSpPr>
        <p:spPr>
          <a:xfrm>
            <a:off x="7781947" y="27146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90B0"/>
                </a:solidFill>
              </a:rPr>
              <a:t>03</a:t>
            </a:r>
            <a:endParaRPr lang="en-US" sz="1100" dirty="0"/>
          </a:p>
        </p:txBody>
      </p:sp>
      <p:sp>
        <p:nvSpPr>
          <p:cNvPr id="64" name="Text 32">
            <a:extLst>
              <a:ext uri="{FF2B5EF4-FFF2-40B4-BE49-F238E27FC236}">
                <a16:creationId xmlns:a16="http://schemas.microsoft.com/office/drawing/2014/main" id="{406D5101-DD4D-EC47-D2F6-54D3DEE20E05}"/>
              </a:ext>
            </a:extLst>
          </p:cNvPr>
          <p:cNvSpPr/>
          <p:nvPr/>
        </p:nvSpPr>
        <p:spPr>
          <a:xfrm>
            <a:off x="7781947" y="29889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090B0"/>
                </a:solidFill>
              </a:rPr>
              <a:t>구현</a:t>
            </a:r>
            <a:endParaRPr lang="en-US" sz="1200" dirty="0">
              <a:solidFill>
                <a:srgbClr val="8090B0"/>
              </a:solidFill>
            </a:endParaRPr>
          </a:p>
        </p:txBody>
      </p:sp>
      <p:sp>
        <p:nvSpPr>
          <p:cNvPr id="65" name="Text 33">
            <a:extLst>
              <a:ext uri="{FF2B5EF4-FFF2-40B4-BE49-F238E27FC236}">
                <a16:creationId xmlns:a16="http://schemas.microsoft.com/office/drawing/2014/main" id="{70120BD3-E017-D4BB-2264-B216362EF414}"/>
              </a:ext>
            </a:extLst>
          </p:cNvPr>
          <p:cNvSpPr/>
          <p:nvPr/>
        </p:nvSpPr>
        <p:spPr>
          <a:xfrm>
            <a:off x="7781947" y="3336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B0"/>
                </a:solidFill>
              </a:rPr>
              <a:t>Implementation</a:t>
            </a:r>
            <a:endParaRPr lang="en-US" sz="800" dirty="0"/>
          </a:p>
        </p:txBody>
      </p:sp>
      <p:sp>
        <p:nvSpPr>
          <p:cNvPr id="66" name="Shape 34">
            <a:extLst>
              <a:ext uri="{FF2B5EF4-FFF2-40B4-BE49-F238E27FC236}">
                <a16:creationId xmlns:a16="http://schemas.microsoft.com/office/drawing/2014/main" id="{F024CA3F-6148-DCA6-6EC1-39EFCA5787F1}"/>
              </a:ext>
            </a:extLst>
          </p:cNvPr>
          <p:cNvSpPr/>
          <p:nvPr/>
        </p:nvSpPr>
        <p:spPr>
          <a:xfrm>
            <a:off x="7891675" y="3656448"/>
            <a:ext cx="786384" cy="22860"/>
          </a:xfrm>
          <a:prstGeom prst="rect">
            <a:avLst/>
          </a:prstGeom>
          <a:solidFill>
            <a:srgbClr val="8090B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35">
            <a:extLst>
              <a:ext uri="{FF2B5EF4-FFF2-40B4-BE49-F238E27FC236}">
                <a16:creationId xmlns:a16="http://schemas.microsoft.com/office/drawing/2014/main" id="{67FF1021-18A4-FB30-DE9C-290487D737AD}"/>
              </a:ext>
            </a:extLst>
          </p:cNvPr>
          <p:cNvSpPr/>
          <p:nvPr/>
        </p:nvSpPr>
        <p:spPr>
          <a:xfrm>
            <a:off x="7855099" y="3747888"/>
            <a:ext cx="859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파이프라인 개발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알파 빌드 완성</a:t>
            </a:r>
            <a:endParaRPr lang="en-US" sz="900" dirty="0"/>
          </a:p>
        </p:txBody>
      </p:sp>
      <p:pic>
        <p:nvPicPr>
          <p:cNvPr id="68" name="Image 8" descr="preencoded.png">
            <a:extLst>
              <a:ext uri="{FF2B5EF4-FFF2-40B4-BE49-F238E27FC236}">
                <a16:creationId xmlns:a16="http://schemas.microsoft.com/office/drawing/2014/main" id="{6739215C-145C-334C-93FF-C40681ADBA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6075" y="2257416"/>
            <a:ext cx="164592" cy="164592"/>
          </a:xfrm>
          <a:prstGeom prst="rect">
            <a:avLst/>
          </a:prstGeom>
        </p:spPr>
      </p:pic>
      <p:sp>
        <p:nvSpPr>
          <p:cNvPr id="69" name="Shape 37">
            <a:extLst>
              <a:ext uri="{FF2B5EF4-FFF2-40B4-BE49-F238E27FC236}">
                <a16:creationId xmlns:a16="http://schemas.microsoft.com/office/drawing/2014/main" id="{C19A7862-8D9B-E8DB-8A39-1EEDEACB3A36}"/>
              </a:ext>
            </a:extLst>
          </p:cNvPr>
          <p:cNvSpPr/>
          <p:nvPr/>
        </p:nvSpPr>
        <p:spPr>
          <a:xfrm>
            <a:off x="8934091" y="1873368"/>
            <a:ext cx="1005840" cy="54864"/>
          </a:xfrm>
          <a:prstGeom prst="rect">
            <a:avLst/>
          </a:prstGeom>
          <a:solidFill>
            <a:srgbClr val="8090B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38">
            <a:extLst>
              <a:ext uri="{FF2B5EF4-FFF2-40B4-BE49-F238E27FC236}">
                <a16:creationId xmlns:a16="http://schemas.microsoft.com/office/drawing/2014/main" id="{A0DDCF66-6DD9-BC43-94CE-A83C222D93B2}"/>
              </a:ext>
            </a:extLst>
          </p:cNvPr>
          <p:cNvSpPr/>
          <p:nvPr/>
        </p:nvSpPr>
        <p:spPr>
          <a:xfrm>
            <a:off x="9162691" y="2056248"/>
            <a:ext cx="548640" cy="548640"/>
          </a:xfrm>
          <a:prstGeom prst="ellipse">
            <a:avLst/>
          </a:prstGeom>
          <a:solidFill>
            <a:srgbClr val="8090B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1" name="Image 9" descr="preencoded.png">
            <a:extLst>
              <a:ext uri="{FF2B5EF4-FFF2-40B4-BE49-F238E27FC236}">
                <a16:creationId xmlns:a16="http://schemas.microsoft.com/office/drawing/2014/main" id="{B891B5C8-2D26-1281-10B5-4726A3EB987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63275" y="2156832"/>
            <a:ext cx="347472" cy="347472"/>
          </a:xfrm>
          <a:prstGeom prst="rect">
            <a:avLst/>
          </a:prstGeom>
        </p:spPr>
      </p:pic>
      <p:sp>
        <p:nvSpPr>
          <p:cNvPr id="72" name="Text 39">
            <a:extLst>
              <a:ext uri="{FF2B5EF4-FFF2-40B4-BE49-F238E27FC236}">
                <a16:creationId xmlns:a16="http://schemas.microsoft.com/office/drawing/2014/main" id="{548E8277-B41D-7D85-A349-2C1BDDF771FC}"/>
              </a:ext>
            </a:extLst>
          </p:cNvPr>
          <p:cNvSpPr/>
          <p:nvPr/>
        </p:nvSpPr>
        <p:spPr>
          <a:xfrm>
            <a:off x="8934091" y="27146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90B0"/>
                </a:solidFill>
              </a:rPr>
              <a:t>04</a:t>
            </a:r>
            <a:endParaRPr lang="en-US" sz="1100" dirty="0"/>
          </a:p>
        </p:txBody>
      </p:sp>
      <p:sp>
        <p:nvSpPr>
          <p:cNvPr id="73" name="Text 40">
            <a:extLst>
              <a:ext uri="{FF2B5EF4-FFF2-40B4-BE49-F238E27FC236}">
                <a16:creationId xmlns:a16="http://schemas.microsoft.com/office/drawing/2014/main" id="{7C4058BF-8E49-CFC3-452F-BA35CF556450}"/>
              </a:ext>
            </a:extLst>
          </p:cNvPr>
          <p:cNvSpPr/>
          <p:nvPr/>
        </p:nvSpPr>
        <p:spPr>
          <a:xfrm>
            <a:off x="8934091" y="29889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090B0"/>
                </a:solidFill>
              </a:rPr>
              <a:t>테스트</a:t>
            </a:r>
            <a:endParaRPr lang="en-US" sz="1200" dirty="0">
              <a:solidFill>
                <a:srgbClr val="8090B0"/>
              </a:solidFill>
            </a:endParaRPr>
          </a:p>
        </p:txBody>
      </p:sp>
      <p:sp>
        <p:nvSpPr>
          <p:cNvPr id="74" name="Text 41">
            <a:extLst>
              <a:ext uri="{FF2B5EF4-FFF2-40B4-BE49-F238E27FC236}">
                <a16:creationId xmlns:a16="http://schemas.microsoft.com/office/drawing/2014/main" id="{F2A20890-B3C8-A26C-5C48-5CD2C426B05B}"/>
              </a:ext>
            </a:extLst>
          </p:cNvPr>
          <p:cNvSpPr/>
          <p:nvPr/>
        </p:nvSpPr>
        <p:spPr>
          <a:xfrm>
            <a:off x="8934091" y="3336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B0"/>
                </a:solidFill>
              </a:rPr>
              <a:t>Testing</a:t>
            </a:r>
            <a:endParaRPr lang="en-US" sz="800" dirty="0"/>
          </a:p>
        </p:txBody>
      </p:sp>
      <p:sp>
        <p:nvSpPr>
          <p:cNvPr id="75" name="Shape 42">
            <a:extLst>
              <a:ext uri="{FF2B5EF4-FFF2-40B4-BE49-F238E27FC236}">
                <a16:creationId xmlns:a16="http://schemas.microsoft.com/office/drawing/2014/main" id="{2557022C-BCEA-1F9F-082A-ED98EE324A0D}"/>
              </a:ext>
            </a:extLst>
          </p:cNvPr>
          <p:cNvSpPr/>
          <p:nvPr/>
        </p:nvSpPr>
        <p:spPr>
          <a:xfrm>
            <a:off x="9043819" y="3656448"/>
            <a:ext cx="786384" cy="22860"/>
          </a:xfrm>
          <a:prstGeom prst="rect">
            <a:avLst/>
          </a:prstGeom>
          <a:solidFill>
            <a:srgbClr val="8090B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43">
            <a:extLst>
              <a:ext uri="{FF2B5EF4-FFF2-40B4-BE49-F238E27FC236}">
                <a16:creationId xmlns:a16="http://schemas.microsoft.com/office/drawing/2014/main" id="{0D55290A-DBE3-A1E8-F21B-B17D88864AE1}"/>
              </a:ext>
            </a:extLst>
          </p:cNvPr>
          <p:cNvSpPr/>
          <p:nvPr/>
        </p:nvSpPr>
        <p:spPr>
          <a:xfrm>
            <a:off x="9007243" y="3747888"/>
            <a:ext cx="859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베타 사용자 테스트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피드백 수집·반영</a:t>
            </a:r>
            <a:endParaRPr lang="en-US" sz="900" dirty="0"/>
          </a:p>
        </p:txBody>
      </p:sp>
      <p:pic>
        <p:nvPicPr>
          <p:cNvPr id="77" name="Image 10" descr="preencoded.png">
            <a:extLst>
              <a:ext uri="{FF2B5EF4-FFF2-40B4-BE49-F238E27FC236}">
                <a16:creationId xmlns:a16="http://schemas.microsoft.com/office/drawing/2014/main" id="{69A5795E-5AC0-E2BF-7E5C-3C03905FFD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8219" y="2257416"/>
            <a:ext cx="164592" cy="164592"/>
          </a:xfrm>
          <a:prstGeom prst="rect">
            <a:avLst/>
          </a:prstGeom>
        </p:spPr>
      </p:pic>
      <p:sp>
        <p:nvSpPr>
          <p:cNvPr id="78" name="Shape 45">
            <a:extLst>
              <a:ext uri="{FF2B5EF4-FFF2-40B4-BE49-F238E27FC236}">
                <a16:creationId xmlns:a16="http://schemas.microsoft.com/office/drawing/2014/main" id="{824DCAC1-694E-8A72-25BB-5E8403D9CC9E}"/>
              </a:ext>
            </a:extLst>
          </p:cNvPr>
          <p:cNvSpPr/>
          <p:nvPr/>
        </p:nvSpPr>
        <p:spPr>
          <a:xfrm>
            <a:off x="10086235" y="1873368"/>
            <a:ext cx="1005840" cy="54864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46">
            <a:extLst>
              <a:ext uri="{FF2B5EF4-FFF2-40B4-BE49-F238E27FC236}">
                <a16:creationId xmlns:a16="http://schemas.microsoft.com/office/drawing/2014/main" id="{E3C21123-6B00-5616-70FD-EF5D0964F303}"/>
              </a:ext>
            </a:extLst>
          </p:cNvPr>
          <p:cNvSpPr/>
          <p:nvPr/>
        </p:nvSpPr>
        <p:spPr>
          <a:xfrm>
            <a:off x="10314835" y="2056248"/>
            <a:ext cx="548640" cy="548640"/>
          </a:xfrm>
          <a:prstGeom prst="ellipse">
            <a:avLst/>
          </a:prstGeom>
          <a:solidFill>
            <a:srgbClr val="4A90C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0" name="Image 11" descr="preencoded.png">
            <a:extLst>
              <a:ext uri="{FF2B5EF4-FFF2-40B4-BE49-F238E27FC236}">
                <a16:creationId xmlns:a16="http://schemas.microsoft.com/office/drawing/2014/main" id="{3187A8BB-9690-5E02-CF73-6431E7E34FA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15419" y="2156832"/>
            <a:ext cx="347472" cy="347472"/>
          </a:xfrm>
          <a:prstGeom prst="rect">
            <a:avLst/>
          </a:prstGeom>
        </p:spPr>
      </p:pic>
      <p:sp>
        <p:nvSpPr>
          <p:cNvPr id="81" name="Text 47">
            <a:extLst>
              <a:ext uri="{FF2B5EF4-FFF2-40B4-BE49-F238E27FC236}">
                <a16:creationId xmlns:a16="http://schemas.microsoft.com/office/drawing/2014/main" id="{4A53CD69-3371-6255-3F4D-4A9AFC2D43C0}"/>
              </a:ext>
            </a:extLst>
          </p:cNvPr>
          <p:cNvSpPr/>
          <p:nvPr/>
        </p:nvSpPr>
        <p:spPr>
          <a:xfrm>
            <a:off x="10086235" y="27146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90B0"/>
                </a:solidFill>
              </a:rPr>
              <a:t>05</a:t>
            </a:r>
            <a:endParaRPr lang="en-US" sz="1100" dirty="0"/>
          </a:p>
        </p:txBody>
      </p:sp>
      <p:sp>
        <p:nvSpPr>
          <p:cNvPr id="82" name="Text 48">
            <a:extLst>
              <a:ext uri="{FF2B5EF4-FFF2-40B4-BE49-F238E27FC236}">
                <a16:creationId xmlns:a16="http://schemas.microsoft.com/office/drawing/2014/main" id="{00E40726-607E-7144-A0B1-94AEAADB601E}"/>
              </a:ext>
            </a:extLst>
          </p:cNvPr>
          <p:cNvSpPr/>
          <p:nvPr/>
        </p:nvSpPr>
        <p:spPr>
          <a:xfrm>
            <a:off x="10086235" y="29889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배포·운영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83" name="Text 49">
            <a:extLst>
              <a:ext uri="{FF2B5EF4-FFF2-40B4-BE49-F238E27FC236}">
                <a16:creationId xmlns:a16="http://schemas.microsoft.com/office/drawing/2014/main" id="{FB74C3A0-0F83-4602-22AA-9C9E55FF12A9}"/>
              </a:ext>
            </a:extLst>
          </p:cNvPr>
          <p:cNvSpPr/>
          <p:nvPr/>
        </p:nvSpPr>
        <p:spPr>
          <a:xfrm>
            <a:off x="10086235" y="3336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84" name="Shape 50">
            <a:extLst>
              <a:ext uri="{FF2B5EF4-FFF2-40B4-BE49-F238E27FC236}">
                <a16:creationId xmlns:a16="http://schemas.microsoft.com/office/drawing/2014/main" id="{FAB3DE1F-B308-47E1-A84C-77EC865CA971}"/>
              </a:ext>
            </a:extLst>
          </p:cNvPr>
          <p:cNvSpPr/>
          <p:nvPr/>
        </p:nvSpPr>
        <p:spPr>
          <a:xfrm>
            <a:off x="10195963" y="3656448"/>
            <a:ext cx="786384" cy="2286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51">
            <a:extLst>
              <a:ext uri="{FF2B5EF4-FFF2-40B4-BE49-F238E27FC236}">
                <a16:creationId xmlns:a16="http://schemas.microsoft.com/office/drawing/2014/main" id="{774EA3CF-34FA-B710-2843-F2FFCEB61BC2}"/>
              </a:ext>
            </a:extLst>
          </p:cNvPr>
          <p:cNvSpPr/>
          <p:nvPr/>
        </p:nvSpPr>
        <p:spPr>
          <a:xfrm>
            <a:off x="10159387" y="3747888"/>
            <a:ext cx="859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런칭 로드맵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최종 성과 발표</a:t>
            </a:r>
          </a:p>
        </p:txBody>
      </p:sp>
      <p:sp>
        <p:nvSpPr>
          <p:cNvPr id="86" name="Shape 26">
            <a:extLst>
              <a:ext uri="{FF2B5EF4-FFF2-40B4-BE49-F238E27FC236}">
                <a16:creationId xmlns:a16="http://schemas.microsoft.com/office/drawing/2014/main" id="{6EE599D2-F04D-0E0D-D546-9A8FE4680CBA}"/>
              </a:ext>
            </a:extLst>
          </p:cNvPr>
          <p:cNvSpPr/>
          <p:nvPr/>
        </p:nvSpPr>
        <p:spPr>
          <a:xfrm>
            <a:off x="10195963" y="5485248"/>
            <a:ext cx="786384" cy="27432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27">
            <a:extLst>
              <a:ext uri="{FF2B5EF4-FFF2-40B4-BE49-F238E27FC236}">
                <a16:creationId xmlns:a16="http://schemas.microsoft.com/office/drawing/2014/main" id="{7CC4C2DA-2EA4-506D-D51C-C9E2708B2BA1}"/>
              </a:ext>
            </a:extLst>
          </p:cNvPr>
          <p:cNvSpPr/>
          <p:nvPr/>
        </p:nvSpPr>
        <p:spPr>
          <a:xfrm>
            <a:off x="10195963" y="548524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FFFFFF"/>
                </a:solidFill>
              </a:rPr>
              <a:t>진행</a:t>
            </a:r>
            <a:r>
              <a:rPr lang="en-US" sz="900" b="1" dirty="0">
                <a:solidFill>
                  <a:srgbClr val="FFFFFF"/>
                </a:solidFill>
              </a:rPr>
              <a:t> 중 📍</a:t>
            </a:r>
            <a:endParaRPr lang="en-US" sz="900" dirty="0"/>
          </a:p>
        </p:txBody>
      </p:sp>
      <p:sp>
        <p:nvSpPr>
          <p:cNvPr id="91" name="Shape 16">
            <a:extLst>
              <a:ext uri="{FF2B5EF4-FFF2-40B4-BE49-F238E27FC236}">
                <a16:creationId xmlns:a16="http://schemas.microsoft.com/office/drawing/2014/main" id="{E6CBE8ED-D35C-653A-8E81-FF2FD8B08B8A}"/>
              </a:ext>
            </a:extLst>
          </p:cNvPr>
          <p:cNvSpPr/>
          <p:nvPr/>
        </p:nvSpPr>
        <p:spPr>
          <a:xfrm>
            <a:off x="6739531" y="5485248"/>
            <a:ext cx="786384" cy="274320"/>
          </a:xfrm>
          <a:prstGeom prst="rect">
            <a:avLst/>
          </a:prstGeom>
          <a:solidFill>
            <a:srgbClr val="8090B0"/>
          </a:solidFill>
          <a:ln w="12700">
            <a:solidFill>
              <a:srgbClr val="809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17">
            <a:extLst>
              <a:ext uri="{FF2B5EF4-FFF2-40B4-BE49-F238E27FC236}">
                <a16:creationId xmlns:a16="http://schemas.microsoft.com/office/drawing/2014/main" id="{278E2EBD-8331-257E-EA25-4B9423AF053E}"/>
              </a:ext>
            </a:extLst>
          </p:cNvPr>
          <p:cNvSpPr/>
          <p:nvPr/>
        </p:nvSpPr>
        <p:spPr>
          <a:xfrm>
            <a:off x="6739531" y="548524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완료 ✓</a:t>
            </a:r>
            <a:endParaRPr lang="en-US" sz="900" dirty="0"/>
          </a:p>
        </p:txBody>
      </p:sp>
      <p:sp>
        <p:nvSpPr>
          <p:cNvPr id="93" name="Shape 16">
            <a:extLst>
              <a:ext uri="{FF2B5EF4-FFF2-40B4-BE49-F238E27FC236}">
                <a16:creationId xmlns:a16="http://schemas.microsoft.com/office/drawing/2014/main" id="{81D4FE10-B910-8460-8496-B818B92BB95A}"/>
              </a:ext>
            </a:extLst>
          </p:cNvPr>
          <p:cNvSpPr/>
          <p:nvPr/>
        </p:nvSpPr>
        <p:spPr>
          <a:xfrm>
            <a:off x="7928251" y="5485248"/>
            <a:ext cx="786384" cy="274320"/>
          </a:xfrm>
          <a:prstGeom prst="rect">
            <a:avLst/>
          </a:prstGeom>
          <a:solidFill>
            <a:srgbClr val="8090B0"/>
          </a:solidFill>
          <a:ln w="12700">
            <a:solidFill>
              <a:srgbClr val="809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17">
            <a:extLst>
              <a:ext uri="{FF2B5EF4-FFF2-40B4-BE49-F238E27FC236}">
                <a16:creationId xmlns:a16="http://schemas.microsoft.com/office/drawing/2014/main" id="{F0497945-F499-F647-E3C3-56027D80987A}"/>
              </a:ext>
            </a:extLst>
          </p:cNvPr>
          <p:cNvSpPr/>
          <p:nvPr/>
        </p:nvSpPr>
        <p:spPr>
          <a:xfrm>
            <a:off x="7928251" y="548524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완료 ✓</a:t>
            </a:r>
            <a:endParaRPr lang="en-US" sz="900" dirty="0"/>
          </a:p>
        </p:txBody>
      </p:sp>
      <p:sp>
        <p:nvSpPr>
          <p:cNvPr id="95" name="Shape 16">
            <a:extLst>
              <a:ext uri="{FF2B5EF4-FFF2-40B4-BE49-F238E27FC236}">
                <a16:creationId xmlns:a16="http://schemas.microsoft.com/office/drawing/2014/main" id="{3B3B756E-24A9-50CA-8A99-F18EEB74E93F}"/>
              </a:ext>
            </a:extLst>
          </p:cNvPr>
          <p:cNvSpPr/>
          <p:nvPr/>
        </p:nvSpPr>
        <p:spPr>
          <a:xfrm>
            <a:off x="9080395" y="5485248"/>
            <a:ext cx="786384" cy="274320"/>
          </a:xfrm>
          <a:prstGeom prst="rect">
            <a:avLst/>
          </a:prstGeom>
          <a:solidFill>
            <a:srgbClr val="8090B0"/>
          </a:solidFill>
          <a:ln w="12700">
            <a:solidFill>
              <a:srgbClr val="809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17">
            <a:extLst>
              <a:ext uri="{FF2B5EF4-FFF2-40B4-BE49-F238E27FC236}">
                <a16:creationId xmlns:a16="http://schemas.microsoft.com/office/drawing/2014/main" id="{A75DF1FE-ABD1-9038-E750-8E6BC2ACDB6F}"/>
              </a:ext>
            </a:extLst>
          </p:cNvPr>
          <p:cNvSpPr/>
          <p:nvPr/>
        </p:nvSpPr>
        <p:spPr>
          <a:xfrm>
            <a:off x="9080395" y="548524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완료 ✓</a:t>
            </a:r>
            <a:endParaRPr lang="en-US" sz="900" dirty="0"/>
          </a:p>
        </p:txBody>
      </p:sp>
      <p:sp>
        <p:nvSpPr>
          <p:cNvPr id="100" name="Rectangle 36">
            <a:extLst>
              <a:ext uri="{FF2B5EF4-FFF2-40B4-BE49-F238E27FC236}">
                <a16:creationId xmlns:a16="http://schemas.microsoft.com/office/drawing/2014/main" id="{452DACB1-F7BA-ADE2-345C-84B52EF4EFBC}"/>
              </a:ext>
            </a:extLst>
          </p:cNvPr>
          <p:cNvSpPr/>
          <p:nvPr/>
        </p:nvSpPr>
        <p:spPr>
          <a:xfrm>
            <a:off x="0" y="6428232"/>
            <a:ext cx="12188952" cy="18288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37">
            <a:extLst>
              <a:ext uri="{FF2B5EF4-FFF2-40B4-BE49-F238E27FC236}">
                <a16:creationId xmlns:a16="http://schemas.microsoft.com/office/drawing/2014/main" id="{76331CE4-FC59-C5A3-BDB2-F376DB85DAEA}"/>
              </a:ext>
            </a:extLst>
          </p:cNvPr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2A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BD95B5C-D2B6-A1A6-A36B-EED1D9069C24}"/>
              </a:ext>
            </a:extLst>
          </p:cNvPr>
          <p:cNvSpPr txBox="1"/>
          <p:nvPr/>
        </p:nvSpPr>
        <p:spPr>
          <a:xfrm>
            <a:off x="274320" y="6501384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</a:rPr>
              <a:t>경영전략 팀 프로젝트   |   9팀 7차 발표   |   2026.06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3010458-EE3F-A4A9-C7E1-339F65B60A19}"/>
              </a:ext>
            </a:extLst>
          </p:cNvPr>
          <p:cNvSpPr txBox="1"/>
          <p:nvPr/>
        </p:nvSpPr>
        <p:spPr>
          <a:xfrm>
            <a:off x="10515600" y="6501384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rgbClr val="A0AEC0"/>
                </a:solidFill>
              </a:rPr>
              <a:t>2</a:t>
            </a:r>
            <a:r>
              <a:rPr sz="1100" b="0" i="0" dirty="0">
                <a:solidFill>
                  <a:srgbClr val="A0AEC0"/>
                </a:solidFill>
              </a:rPr>
              <a:t> / </a:t>
            </a:r>
            <a:r>
              <a:rPr lang="en-US" sz="1100" b="0" i="0" dirty="0">
                <a:solidFill>
                  <a:srgbClr val="A0AEC0"/>
                </a:solidFill>
              </a:rPr>
              <a:t>6</a:t>
            </a:r>
            <a:endParaRPr sz="1100" b="0" i="0" dirty="0">
              <a:solidFill>
                <a:srgbClr val="A0AEC0"/>
              </a:solidFill>
            </a:endParaRPr>
          </a:p>
        </p:txBody>
      </p:sp>
      <p:sp>
        <p:nvSpPr>
          <p:cNvPr id="99" name="Shape 1">
            <a:extLst>
              <a:ext uri="{FF2B5EF4-FFF2-40B4-BE49-F238E27FC236}">
                <a16:creationId xmlns:a16="http://schemas.microsoft.com/office/drawing/2014/main" id="{E337F7B1-D9D7-2B20-B5BE-066FAF28BC39}"/>
              </a:ext>
            </a:extLst>
          </p:cNvPr>
          <p:cNvSpPr/>
          <p:nvPr/>
        </p:nvSpPr>
        <p:spPr>
          <a:xfrm>
            <a:off x="0" y="0"/>
            <a:ext cx="154203" cy="68580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3"/>
          <p:cNvSpPr/>
          <p:nvPr/>
        </p:nvSpPr>
        <p:spPr>
          <a:xfrm>
            <a:off x="6764798" y="436959"/>
            <a:ext cx="5058362" cy="5606860"/>
          </a:xfrm>
          <a:prstGeom prst="roundRect">
            <a:avLst>
              <a:gd name="adj" fmla="val 2410"/>
            </a:avLst>
          </a:prstGeom>
          <a:solidFill>
            <a:srgbClr val="1A2E6B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sz="2399"/>
          </a:p>
        </p:txBody>
      </p:sp>
      <p:sp>
        <p:nvSpPr>
          <p:cNvPr id="6" name="Shape 4"/>
          <p:cNvSpPr/>
          <p:nvPr/>
        </p:nvSpPr>
        <p:spPr>
          <a:xfrm>
            <a:off x="364531" y="2430531"/>
            <a:ext cx="4997418" cy="3047206"/>
          </a:xfrm>
          <a:prstGeom prst="roundRect">
            <a:avLst>
              <a:gd name="adj" fmla="val 4878"/>
            </a:avLst>
          </a:prstGeom>
          <a:solidFill>
            <a:srgbClr val="1A2E6B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sz="2399"/>
          </a:p>
        </p:txBody>
      </p:sp>
      <p:sp>
        <p:nvSpPr>
          <p:cNvPr id="7" name="Text 5"/>
          <p:cNvSpPr/>
          <p:nvPr/>
        </p:nvSpPr>
        <p:spPr>
          <a:xfrm>
            <a:off x="608308" y="2491475"/>
            <a:ext cx="4509865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강의 등록 (학기 초 1회)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8308" y="2991217"/>
            <a:ext cx="1218883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endParaRPr lang="en-US" sz="1466" dirty="0"/>
          </a:p>
        </p:txBody>
      </p:sp>
      <p:sp>
        <p:nvSpPr>
          <p:cNvPr id="9" name="Shape 7"/>
          <p:cNvSpPr/>
          <p:nvPr/>
        </p:nvSpPr>
        <p:spPr>
          <a:xfrm>
            <a:off x="608308" y="2918084"/>
            <a:ext cx="1218883" cy="426609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 sz="2399"/>
          </a:p>
        </p:txBody>
      </p:sp>
      <p:sp>
        <p:nvSpPr>
          <p:cNvPr id="10" name="Text 8"/>
          <p:cNvSpPr/>
          <p:nvPr/>
        </p:nvSpPr>
        <p:spPr>
          <a:xfrm>
            <a:off x="608308" y="2918084"/>
            <a:ext cx="1218883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</a:rPr>
              <a:t>사용자</a:t>
            </a:r>
            <a:endParaRPr lang="en-US" sz="1466" dirty="0"/>
          </a:p>
        </p:txBody>
      </p:sp>
      <p:sp>
        <p:nvSpPr>
          <p:cNvPr id="11" name="Shape 9"/>
          <p:cNvSpPr/>
          <p:nvPr/>
        </p:nvSpPr>
        <p:spPr>
          <a:xfrm>
            <a:off x="1851568" y="3125294"/>
            <a:ext cx="670385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12" name="Text 10"/>
          <p:cNvSpPr/>
          <p:nvPr/>
        </p:nvSpPr>
        <p:spPr>
          <a:xfrm>
            <a:off x="2455674" y="2953637"/>
            <a:ext cx="243777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ADCFC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80408" y="2918084"/>
            <a:ext cx="1828324" cy="426609"/>
          </a:xfrm>
          <a:prstGeom prst="rect">
            <a:avLst/>
          </a:prstGeom>
          <a:solidFill>
            <a:srgbClr val="243060"/>
          </a:solidFill>
          <a:ln w="12700">
            <a:solidFill>
              <a:srgbClr val="A8BDD8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14" name="Text 12"/>
          <p:cNvSpPr/>
          <p:nvPr/>
        </p:nvSpPr>
        <p:spPr>
          <a:xfrm>
            <a:off x="2680408" y="2918084"/>
            <a:ext cx="1828324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CADCFC"/>
                </a:solidFill>
              </a:rPr>
              <a:t>강의계획서 PDF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3594570" y="3344693"/>
            <a:ext cx="0" cy="341287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16" name="Text 14"/>
          <p:cNvSpPr/>
          <p:nvPr/>
        </p:nvSpPr>
        <p:spPr>
          <a:xfrm>
            <a:off x="3522198" y="3555964"/>
            <a:ext cx="304721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ADCFC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36631" y="3954134"/>
            <a:ext cx="2315877" cy="633819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 sz="2399"/>
          </a:p>
        </p:txBody>
      </p:sp>
      <p:sp>
        <p:nvSpPr>
          <p:cNvPr id="18" name="Text 16"/>
          <p:cNvSpPr/>
          <p:nvPr/>
        </p:nvSpPr>
        <p:spPr>
          <a:xfrm>
            <a:off x="2436631" y="3954134"/>
            <a:ext cx="2315877" cy="6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</a:rPr>
              <a:t>Gemini LLM 분석</a:t>
            </a:r>
            <a:endParaRPr lang="en-US" sz="1466" dirty="0"/>
          </a:p>
        </p:txBody>
      </p:sp>
      <p:sp>
        <p:nvSpPr>
          <p:cNvPr id="19" name="Shape 17"/>
          <p:cNvSpPr/>
          <p:nvPr/>
        </p:nvSpPr>
        <p:spPr>
          <a:xfrm>
            <a:off x="3594570" y="4587952"/>
            <a:ext cx="0" cy="243777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20" name="Text 18"/>
          <p:cNvSpPr/>
          <p:nvPr/>
        </p:nvSpPr>
        <p:spPr>
          <a:xfrm>
            <a:off x="3436115" y="4782974"/>
            <a:ext cx="304721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ECC71"/>
                </a:solidFill>
              </a:rPr>
              <a:t>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70967" y="4843918"/>
            <a:ext cx="3047206" cy="463175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 sz="2399"/>
          </a:p>
        </p:txBody>
      </p:sp>
      <p:sp>
        <p:nvSpPr>
          <p:cNvPr id="22" name="Text 20"/>
          <p:cNvSpPr/>
          <p:nvPr/>
        </p:nvSpPr>
        <p:spPr>
          <a:xfrm>
            <a:off x="2070967" y="4843918"/>
            <a:ext cx="3047206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Step 0 로드맵 → DB 저장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5361949" y="3625035"/>
            <a:ext cx="1218883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24" name="Text 22"/>
          <p:cNvSpPr/>
          <p:nvPr/>
        </p:nvSpPr>
        <p:spPr>
          <a:xfrm>
            <a:off x="6519888" y="3393448"/>
            <a:ext cx="365665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dirty="0">
                <a:solidFill>
                  <a:srgbClr val="F39C12"/>
                </a:solidFill>
              </a:rPr>
              <a:t>▶</a:t>
            </a:r>
            <a:endParaRPr lang="en-US" sz="1866" dirty="0"/>
          </a:p>
        </p:txBody>
      </p:sp>
      <p:sp>
        <p:nvSpPr>
          <p:cNvPr id="26" name="Text 24"/>
          <p:cNvSpPr/>
          <p:nvPr/>
        </p:nvSpPr>
        <p:spPr>
          <a:xfrm>
            <a:off x="7008574" y="497904"/>
            <a:ext cx="4631754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수업 후 노트 생성 (매주 반복)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47630" y="1046401"/>
            <a:ext cx="1950212" cy="426609"/>
          </a:xfrm>
          <a:prstGeom prst="rect">
            <a:avLst/>
          </a:prstGeom>
          <a:solidFill>
            <a:srgbClr val="243060"/>
          </a:solidFill>
          <a:ln w="12700">
            <a:solidFill>
              <a:srgbClr val="A8BDD8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28" name="Text 26"/>
          <p:cNvSpPr/>
          <p:nvPr/>
        </p:nvSpPr>
        <p:spPr>
          <a:xfrm>
            <a:off x="6947630" y="1046401"/>
            <a:ext cx="1950212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ADCFC"/>
                </a:solidFill>
              </a:rPr>
              <a:t>강의 녹음 (m4a)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97842" y="1253611"/>
            <a:ext cx="426609" cy="0"/>
          </a:xfrm>
          <a:prstGeom prst="line">
            <a:avLst/>
          </a:prstGeom>
          <a:noFill/>
          <a:ln w="12700">
            <a:solidFill>
              <a:srgbClr val="A8BDD8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30" name="Text 28"/>
          <p:cNvSpPr/>
          <p:nvPr/>
        </p:nvSpPr>
        <p:spPr>
          <a:xfrm>
            <a:off x="9263506" y="1100487"/>
            <a:ext cx="243777" cy="31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6" dirty="0">
                <a:solidFill>
                  <a:srgbClr val="A8BDD8"/>
                </a:solidFill>
              </a:rPr>
              <a:t>▶</a:t>
            </a:r>
            <a:endParaRPr lang="en-US" sz="1066" dirty="0"/>
          </a:p>
        </p:txBody>
      </p:sp>
      <p:sp>
        <p:nvSpPr>
          <p:cNvPr id="31" name="Text 29"/>
          <p:cNvSpPr/>
          <p:nvPr/>
        </p:nvSpPr>
        <p:spPr>
          <a:xfrm>
            <a:off x="9507283" y="1046401"/>
            <a:ext cx="2193989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A8BDD8"/>
                </a:solidFill>
              </a:rPr>
              <a:t>Gemini STT → 음성 스크립트</a:t>
            </a:r>
            <a:endParaRPr lang="en-US" sz="1133" dirty="0"/>
          </a:p>
        </p:txBody>
      </p:sp>
      <p:sp>
        <p:nvSpPr>
          <p:cNvPr id="32" name="Shape 30"/>
          <p:cNvSpPr/>
          <p:nvPr/>
        </p:nvSpPr>
        <p:spPr>
          <a:xfrm>
            <a:off x="6947630" y="1655842"/>
            <a:ext cx="1950212" cy="426609"/>
          </a:xfrm>
          <a:prstGeom prst="rect">
            <a:avLst/>
          </a:prstGeom>
          <a:solidFill>
            <a:srgbClr val="243060"/>
          </a:solidFill>
          <a:ln w="12700">
            <a:solidFill>
              <a:srgbClr val="A8BDD8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33" name="Text 31"/>
          <p:cNvSpPr/>
          <p:nvPr/>
        </p:nvSpPr>
        <p:spPr>
          <a:xfrm>
            <a:off x="6947630" y="1655842"/>
            <a:ext cx="1950212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ADCFC"/>
                </a:solidFill>
              </a:rPr>
              <a:t>수업자료 PDF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897842" y="1863052"/>
            <a:ext cx="426609" cy="0"/>
          </a:xfrm>
          <a:prstGeom prst="line">
            <a:avLst/>
          </a:prstGeom>
          <a:noFill/>
          <a:ln w="12700">
            <a:solidFill>
              <a:srgbClr val="A8BDD8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35" name="Text 33"/>
          <p:cNvSpPr/>
          <p:nvPr/>
        </p:nvSpPr>
        <p:spPr>
          <a:xfrm>
            <a:off x="9263506" y="1709928"/>
            <a:ext cx="243777" cy="31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6" dirty="0">
                <a:solidFill>
                  <a:srgbClr val="A8BDD8"/>
                </a:solidFill>
              </a:rPr>
              <a:t>▶</a:t>
            </a:r>
            <a:endParaRPr lang="en-US" sz="1066" dirty="0"/>
          </a:p>
        </p:txBody>
      </p:sp>
      <p:sp>
        <p:nvSpPr>
          <p:cNvPr id="36" name="Text 34"/>
          <p:cNvSpPr/>
          <p:nvPr/>
        </p:nvSpPr>
        <p:spPr>
          <a:xfrm>
            <a:off x="9507283" y="1655842"/>
            <a:ext cx="2193989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A8BDD8"/>
                </a:solidFill>
              </a:rPr>
              <a:t>PDF 파서 → 슬라이드 텍스트</a:t>
            </a:r>
            <a:endParaRPr lang="en-US" sz="1133" dirty="0"/>
          </a:p>
        </p:txBody>
      </p:sp>
      <p:sp>
        <p:nvSpPr>
          <p:cNvPr id="37" name="Shape 35"/>
          <p:cNvSpPr/>
          <p:nvPr/>
        </p:nvSpPr>
        <p:spPr>
          <a:xfrm>
            <a:off x="6947630" y="2265283"/>
            <a:ext cx="1950212" cy="426609"/>
          </a:xfrm>
          <a:prstGeom prst="rect">
            <a:avLst/>
          </a:prstGeom>
          <a:solidFill>
            <a:srgbClr val="243060"/>
          </a:solidFill>
          <a:ln w="12700">
            <a:solidFill>
              <a:srgbClr val="A8BDD8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38" name="Text 36"/>
          <p:cNvSpPr/>
          <p:nvPr/>
        </p:nvSpPr>
        <p:spPr>
          <a:xfrm>
            <a:off x="6947630" y="2265283"/>
            <a:ext cx="1950212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ADCFC"/>
                </a:solidFill>
              </a:rPr>
              <a:t>개인 필기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897842" y="2472493"/>
            <a:ext cx="426609" cy="0"/>
          </a:xfrm>
          <a:prstGeom prst="line">
            <a:avLst/>
          </a:prstGeom>
          <a:noFill/>
          <a:ln w="12700">
            <a:solidFill>
              <a:srgbClr val="A8BDD8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40" name="Text 38"/>
          <p:cNvSpPr/>
          <p:nvPr/>
        </p:nvSpPr>
        <p:spPr>
          <a:xfrm>
            <a:off x="9263506" y="2319370"/>
            <a:ext cx="243777" cy="31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6" dirty="0">
                <a:solidFill>
                  <a:srgbClr val="A8BDD8"/>
                </a:solidFill>
              </a:rPr>
              <a:t>▶</a:t>
            </a:r>
            <a:endParaRPr lang="en-US" sz="1066" dirty="0"/>
          </a:p>
        </p:txBody>
      </p:sp>
      <p:sp>
        <p:nvSpPr>
          <p:cNvPr id="41" name="Text 39"/>
          <p:cNvSpPr/>
          <p:nvPr/>
        </p:nvSpPr>
        <p:spPr>
          <a:xfrm>
            <a:off x="9507283" y="2265283"/>
            <a:ext cx="2193989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A8BDD8"/>
                </a:solidFill>
              </a:rPr>
              <a:t>필기 텍스트</a:t>
            </a:r>
            <a:endParaRPr lang="en-US" sz="1133" dirty="0"/>
          </a:p>
        </p:txBody>
      </p:sp>
      <p:sp>
        <p:nvSpPr>
          <p:cNvPr id="42" name="Shape 40"/>
          <p:cNvSpPr/>
          <p:nvPr/>
        </p:nvSpPr>
        <p:spPr>
          <a:xfrm>
            <a:off x="6947630" y="2874725"/>
            <a:ext cx="1950212" cy="426609"/>
          </a:xfrm>
          <a:prstGeom prst="rect">
            <a:avLst/>
          </a:prstGeom>
          <a:solidFill>
            <a:srgbClr val="243060"/>
          </a:solidFill>
          <a:ln w="12700">
            <a:solidFill>
              <a:srgbClr val="A8BDD8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43" name="Text 41"/>
          <p:cNvSpPr/>
          <p:nvPr/>
        </p:nvSpPr>
        <p:spPr>
          <a:xfrm>
            <a:off x="6947630" y="2874725"/>
            <a:ext cx="1950212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ADCFC"/>
                </a:solidFill>
              </a:rPr>
              <a:t>Step 0 로드맵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897842" y="3081935"/>
            <a:ext cx="426609" cy="0"/>
          </a:xfrm>
          <a:prstGeom prst="line">
            <a:avLst/>
          </a:prstGeom>
          <a:noFill/>
          <a:ln w="12700">
            <a:solidFill>
              <a:srgbClr val="A8BDD8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45" name="Text 43"/>
          <p:cNvSpPr/>
          <p:nvPr/>
        </p:nvSpPr>
        <p:spPr>
          <a:xfrm>
            <a:off x="9263506" y="2928811"/>
            <a:ext cx="243777" cy="31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6" dirty="0">
                <a:solidFill>
                  <a:srgbClr val="A8BDD8"/>
                </a:solidFill>
              </a:rPr>
              <a:t>▶</a:t>
            </a:r>
            <a:endParaRPr lang="en-US" sz="1066" dirty="0"/>
          </a:p>
        </p:txBody>
      </p:sp>
      <p:sp>
        <p:nvSpPr>
          <p:cNvPr id="46" name="Text 44"/>
          <p:cNvSpPr/>
          <p:nvPr/>
        </p:nvSpPr>
        <p:spPr>
          <a:xfrm>
            <a:off x="9507283" y="2874725"/>
            <a:ext cx="2193989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A8BDD8"/>
                </a:solidFill>
              </a:rPr>
              <a:t>강의 맥락</a:t>
            </a:r>
            <a:endParaRPr lang="en-US" sz="1133" dirty="0"/>
          </a:p>
        </p:txBody>
      </p:sp>
      <p:sp>
        <p:nvSpPr>
          <p:cNvPr id="47" name="Shape 45"/>
          <p:cNvSpPr/>
          <p:nvPr/>
        </p:nvSpPr>
        <p:spPr>
          <a:xfrm>
            <a:off x="11468923" y="1336144"/>
            <a:ext cx="0" cy="1950212"/>
          </a:xfrm>
          <a:prstGeom prst="line">
            <a:avLst/>
          </a:prstGeom>
          <a:noFill/>
          <a:ln w="12700">
            <a:solidFill>
              <a:srgbClr val="A8BDD8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48" name="Shape 46"/>
          <p:cNvSpPr/>
          <p:nvPr/>
        </p:nvSpPr>
        <p:spPr>
          <a:xfrm>
            <a:off x="11335607" y="3203823"/>
            <a:ext cx="0" cy="0"/>
          </a:xfrm>
          <a:prstGeom prst="line">
            <a:avLst/>
          </a:prstGeom>
          <a:noFill/>
          <a:ln w="12700">
            <a:solidFill>
              <a:srgbClr val="A8BDD8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49" name="Text 47"/>
          <p:cNvSpPr/>
          <p:nvPr/>
        </p:nvSpPr>
        <p:spPr>
          <a:xfrm>
            <a:off x="11394286" y="3179445"/>
            <a:ext cx="304721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8BDD8"/>
                </a:solidFill>
              </a:rPr>
              <a:t>▼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288400" y="3484166"/>
            <a:ext cx="2803430" cy="5850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 sz="2399"/>
          </a:p>
        </p:txBody>
      </p:sp>
      <p:sp>
        <p:nvSpPr>
          <p:cNvPr id="51" name="Text 49"/>
          <p:cNvSpPr/>
          <p:nvPr/>
        </p:nvSpPr>
        <p:spPr>
          <a:xfrm>
            <a:off x="8288400" y="3484166"/>
            <a:ext cx="2803430" cy="58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Data Aggregator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690115" y="4069229"/>
            <a:ext cx="0" cy="304721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53" name="Text 51"/>
          <p:cNvSpPr/>
          <p:nvPr/>
        </p:nvSpPr>
        <p:spPr>
          <a:xfrm>
            <a:off x="9614198" y="4261195"/>
            <a:ext cx="304721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ADCFC"/>
                </a:solidFill>
              </a:rPr>
              <a:t>▼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983680" y="4642104"/>
            <a:ext cx="3412871" cy="548497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 sz="2399"/>
          </a:p>
        </p:txBody>
      </p:sp>
      <p:sp>
        <p:nvSpPr>
          <p:cNvPr id="55" name="Text 53"/>
          <p:cNvSpPr/>
          <p:nvPr/>
        </p:nvSpPr>
        <p:spPr>
          <a:xfrm>
            <a:off x="7983680" y="4642104"/>
            <a:ext cx="3412871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Gemini LLM → 5섹션 구조화 노트</a:t>
            </a:r>
            <a:endParaRPr lang="en-US" sz="1333" dirty="0"/>
          </a:p>
        </p:txBody>
      </p:sp>
      <p:sp>
        <p:nvSpPr>
          <p:cNvPr id="56" name="Shape 54"/>
          <p:cNvSpPr/>
          <p:nvPr/>
        </p:nvSpPr>
        <p:spPr>
          <a:xfrm>
            <a:off x="8410289" y="5190601"/>
            <a:ext cx="0" cy="304721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57" name="Shape 55"/>
          <p:cNvSpPr/>
          <p:nvPr/>
        </p:nvSpPr>
        <p:spPr>
          <a:xfrm>
            <a:off x="10908998" y="5190601"/>
            <a:ext cx="0" cy="304721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58" name="Shape 56"/>
          <p:cNvSpPr/>
          <p:nvPr/>
        </p:nvSpPr>
        <p:spPr>
          <a:xfrm>
            <a:off x="7435184" y="5495322"/>
            <a:ext cx="2011156" cy="511931"/>
          </a:xfrm>
          <a:prstGeom prst="roundRect">
            <a:avLst>
              <a:gd name="adj" fmla="val 16667"/>
            </a:avLst>
          </a:prstGeom>
          <a:solidFill>
            <a:srgbClr val="24306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59" name="Text 57"/>
          <p:cNvSpPr/>
          <p:nvPr/>
        </p:nvSpPr>
        <p:spPr>
          <a:xfrm>
            <a:off x="7435184" y="5495322"/>
            <a:ext cx="2011156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2ECC71"/>
                </a:solidFill>
              </a:rPr>
              <a:t>DB 저장</a:t>
            </a:r>
            <a:endParaRPr lang="en-US" sz="1333" dirty="0"/>
          </a:p>
        </p:txBody>
      </p:sp>
      <p:sp>
        <p:nvSpPr>
          <p:cNvPr id="60" name="Shape 58"/>
          <p:cNvSpPr/>
          <p:nvPr/>
        </p:nvSpPr>
        <p:spPr>
          <a:xfrm>
            <a:off x="9690115" y="5495322"/>
            <a:ext cx="2011156" cy="511931"/>
          </a:xfrm>
          <a:prstGeom prst="roundRect">
            <a:avLst>
              <a:gd name="adj" fmla="val 16667"/>
            </a:avLst>
          </a:prstGeom>
          <a:solidFill>
            <a:srgbClr val="24306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61" name="Text 59"/>
          <p:cNvSpPr/>
          <p:nvPr/>
        </p:nvSpPr>
        <p:spPr>
          <a:xfrm>
            <a:off x="9690115" y="5495322"/>
            <a:ext cx="2011156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2ECC71"/>
                </a:solidFill>
              </a:rPr>
              <a:t>PDF/HTML 다운로드</a:t>
            </a:r>
            <a:endParaRPr lang="en-US" sz="1333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056737F-E2A6-CD11-B393-E4EE1FCF76D8}"/>
              </a:ext>
            </a:extLst>
          </p:cNvPr>
          <p:cNvSpPr txBox="1"/>
          <p:nvPr/>
        </p:nvSpPr>
        <p:spPr>
          <a:xfrm>
            <a:off x="457200" y="45720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r>
              <a:rPr lang="en-US" altLang="ko-KR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r>
              <a:rPr lang="en-US" altLang="ko-KR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</a:t>
            </a:r>
            <a:endParaRPr lang="en-US" altLang="ko-KR" sz="3600" dirty="0"/>
          </a:p>
        </p:txBody>
      </p:sp>
      <p:sp>
        <p:nvSpPr>
          <p:cNvPr id="70" name="Rectangle 3">
            <a:extLst>
              <a:ext uri="{FF2B5EF4-FFF2-40B4-BE49-F238E27FC236}">
                <a16:creationId xmlns:a16="http://schemas.microsoft.com/office/drawing/2014/main" id="{82710C5C-9885-BAC3-CC24-C1C15E2E86FB}"/>
              </a:ext>
            </a:extLst>
          </p:cNvPr>
          <p:cNvSpPr/>
          <p:nvPr/>
        </p:nvSpPr>
        <p:spPr>
          <a:xfrm>
            <a:off x="457200" y="1078991"/>
            <a:ext cx="5324764" cy="45729"/>
          </a:xfrm>
          <a:prstGeom prst="rect">
            <a:avLst/>
          </a:prstGeom>
          <a:solidFill>
            <a:srgbClr val="4A9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A6E7871-B085-5746-B405-75319ADDBA47}"/>
              </a:ext>
            </a:extLst>
          </p:cNvPr>
          <p:cNvSpPr txBox="1"/>
          <p:nvPr/>
        </p:nvSpPr>
        <p:spPr>
          <a:xfrm>
            <a:off x="457200" y="1161288"/>
            <a:ext cx="53247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입력부터</a:t>
            </a:r>
            <a:r>
              <a:rPr lang="en-US" altLang="ko-KR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출력까지</a:t>
            </a:r>
            <a:r>
              <a:rPr lang="en-US" altLang="ko-KR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altLang="ko-KR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엔드</a:t>
            </a:r>
            <a:r>
              <a:rPr lang="en-US" altLang="ko-KR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-투-</a:t>
            </a:r>
            <a:r>
              <a:rPr lang="en-US" altLang="ko-KR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엔드</a:t>
            </a:r>
            <a:r>
              <a:rPr lang="en-US" altLang="ko-KR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r>
              <a:rPr lang="en-US" altLang="ko-KR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흐름</a:t>
            </a:r>
            <a:endParaRPr lang="en-US" altLang="ko-KR" sz="1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4CAD1AF-B31F-9715-E6C6-79E987801540}"/>
              </a:ext>
            </a:extLst>
          </p:cNvPr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0AEC0"/>
                </a:solidFill>
              </a:rPr>
              <a:t>02 . 앱 </a:t>
            </a:r>
            <a:r>
              <a:rPr lang="ko-KR" altLang="en-US" sz="1200" b="0" i="0" dirty="0">
                <a:solidFill>
                  <a:srgbClr val="A0AEC0"/>
                </a:solidFill>
              </a:rPr>
              <a:t>실행 구조</a:t>
            </a:r>
            <a:endParaRPr sz="1200" b="0" i="0" dirty="0">
              <a:solidFill>
                <a:srgbClr val="A0AEC0"/>
              </a:solidFill>
            </a:endParaRPr>
          </a:p>
        </p:txBody>
      </p:sp>
      <p:sp>
        <p:nvSpPr>
          <p:cNvPr id="74" name="Rectangle 36">
            <a:extLst>
              <a:ext uri="{FF2B5EF4-FFF2-40B4-BE49-F238E27FC236}">
                <a16:creationId xmlns:a16="http://schemas.microsoft.com/office/drawing/2014/main" id="{A936BAF2-9D07-F236-5DFF-001020BBD8F2}"/>
              </a:ext>
            </a:extLst>
          </p:cNvPr>
          <p:cNvSpPr/>
          <p:nvPr/>
        </p:nvSpPr>
        <p:spPr>
          <a:xfrm>
            <a:off x="0" y="6428232"/>
            <a:ext cx="12188952" cy="18288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37">
            <a:extLst>
              <a:ext uri="{FF2B5EF4-FFF2-40B4-BE49-F238E27FC236}">
                <a16:creationId xmlns:a16="http://schemas.microsoft.com/office/drawing/2014/main" id="{53F9C18E-A043-9B03-3D43-B5039293B817}"/>
              </a:ext>
            </a:extLst>
          </p:cNvPr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2A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B85EDEF-1743-C3E7-4DBC-2B1AC8689D9F}"/>
              </a:ext>
            </a:extLst>
          </p:cNvPr>
          <p:cNvSpPr txBox="1"/>
          <p:nvPr/>
        </p:nvSpPr>
        <p:spPr>
          <a:xfrm>
            <a:off x="274320" y="6501384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</a:rPr>
              <a:t>경영전략 팀 프로젝트   |   9팀 7차 발표   |   2026.06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F3AAB90-C7D5-FED2-9A5B-59C4F737E75B}"/>
              </a:ext>
            </a:extLst>
          </p:cNvPr>
          <p:cNvSpPr txBox="1"/>
          <p:nvPr/>
        </p:nvSpPr>
        <p:spPr>
          <a:xfrm>
            <a:off x="10515600" y="6501384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rgbClr val="A0AEC0"/>
                </a:solidFill>
              </a:rPr>
              <a:t>3</a:t>
            </a:r>
            <a:r>
              <a:rPr sz="1100" b="0" i="0" dirty="0">
                <a:solidFill>
                  <a:srgbClr val="A0AEC0"/>
                </a:solidFill>
              </a:rPr>
              <a:t> / </a:t>
            </a:r>
            <a:r>
              <a:rPr lang="en-US" sz="1100" b="0" i="0" dirty="0">
                <a:solidFill>
                  <a:srgbClr val="A0AEC0"/>
                </a:solidFill>
              </a:rPr>
              <a:t>6</a:t>
            </a:r>
            <a:endParaRPr sz="1100" b="0" i="0" dirty="0">
              <a:solidFill>
                <a:srgbClr val="A0AEC0"/>
              </a:solidFill>
            </a:endParaRPr>
          </a:p>
        </p:txBody>
      </p:sp>
      <p:sp>
        <p:nvSpPr>
          <p:cNvPr id="72" name="Shape 1">
            <a:extLst>
              <a:ext uri="{FF2B5EF4-FFF2-40B4-BE49-F238E27FC236}">
                <a16:creationId xmlns:a16="http://schemas.microsoft.com/office/drawing/2014/main" id="{362AE350-E38C-B01A-5C67-7291B2EDCA6A}"/>
              </a:ext>
            </a:extLst>
          </p:cNvPr>
          <p:cNvSpPr/>
          <p:nvPr/>
        </p:nvSpPr>
        <p:spPr>
          <a:xfrm>
            <a:off x="0" y="0"/>
            <a:ext cx="154203" cy="68580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</a:rPr>
              <a:t>04 . 앱 시연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</a:rPr>
              <a:t>앱 </a:t>
            </a:r>
            <a:r>
              <a:rPr lang="ko-KR" altLang="en-US" sz="3400" b="1" i="0" dirty="0">
                <a:solidFill>
                  <a:srgbClr val="FFFFFF"/>
                </a:solidFill>
              </a:rPr>
              <a:t>실행 </a:t>
            </a:r>
            <a:r>
              <a:rPr sz="3400" b="1" i="0" dirty="0" err="1">
                <a:solidFill>
                  <a:srgbClr val="FFFFFF"/>
                </a:solidFill>
              </a:rPr>
              <a:t>화면</a:t>
            </a:r>
            <a:endParaRPr sz="3400" b="1" i="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8622792" cy="64008"/>
          </a:xfrm>
          <a:prstGeom prst="rect">
            <a:avLst/>
          </a:prstGeom>
          <a:solidFill>
            <a:srgbClr val="4A9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612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0"/>
                </a:solidFill>
              </a:rPr>
              <a:t>온보딩부터 노트 조회까지 — 전체 사용자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55401" y="60624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 err="1">
                <a:solidFill>
                  <a:srgbClr val="4A9DF8"/>
                </a:solidFill>
              </a:rPr>
              <a:t>노트</a:t>
            </a:r>
            <a:r>
              <a:rPr sz="1100" b="1" i="0" dirty="0">
                <a:solidFill>
                  <a:srgbClr val="4A9DF8"/>
                </a:solidFill>
              </a:rPr>
              <a:t> </a:t>
            </a:r>
            <a:r>
              <a:rPr sz="1100" b="1" i="0" dirty="0" err="1">
                <a:solidFill>
                  <a:srgbClr val="4A9DF8"/>
                </a:solidFill>
              </a:rPr>
              <a:t>생성</a:t>
            </a:r>
            <a:endParaRPr sz="1100" b="1" i="0" dirty="0">
              <a:solidFill>
                <a:srgbClr val="4A9DF8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08592" y="123427"/>
            <a:ext cx="2560320" cy="5939045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6_노트생성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2551" y="123427"/>
            <a:ext cx="1507265" cy="59390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527048"/>
            <a:ext cx="2087118" cy="1860804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1_첫화면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83" y="1527048"/>
            <a:ext cx="858832" cy="18608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3424428"/>
            <a:ext cx="208711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 err="1">
                <a:solidFill>
                  <a:srgbClr val="A0AEC0"/>
                </a:solidFill>
              </a:rPr>
              <a:t>온보딩</a:t>
            </a:r>
            <a:endParaRPr sz="1100" b="0" i="0" dirty="0">
              <a:solidFill>
                <a:srgbClr val="A0AE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44318" y="1527048"/>
            <a:ext cx="2087118" cy="1860804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2_회원가입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461" y="1527048"/>
            <a:ext cx="858832" cy="18608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44318" y="3424428"/>
            <a:ext cx="208711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EC0"/>
                </a:solidFill>
              </a:rPr>
              <a:t>회원가입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8596" y="1527048"/>
            <a:ext cx="2087118" cy="1860804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03_회원가입_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2739" y="1527048"/>
            <a:ext cx="858832" cy="18608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68596" y="3424428"/>
            <a:ext cx="208711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EC0"/>
                </a:solidFill>
              </a:rPr>
              <a:t>회원가입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2874" y="1527048"/>
            <a:ext cx="2087118" cy="1860804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04_로그인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017" y="1527048"/>
            <a:ext cx="858832" cy="18608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92874" y="3424428"/>
            <a:ext cx="208711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EC0"/>
                </a:solidFill>
              </a:rPr>
              <a:t>로그인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35324"/>
            <a:ext cx="2087118" cy="1860804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05_강의등록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183" y="3735324"/>
            <a:ext cx="858832" cy="18608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20040" y="5632704"/>
            <a:ext cx="208711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EC0"/>
                </a:solidFill>
              </a:rPr>
              <a:t>강의 등록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44318" y="3735324"/>
            <a:ext cx="2087118" cy="1860804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07_노트확인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8461" y="3735324"/>
            <a:ext cx="858832" cy="18608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544318" y="5632704"/>
            <a:ext cx="208711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EC0"/>
                </a:solidFill>
              </a:rPr>
              <a:t>노트 조회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68596" y="3735324"/>
            <a:ext cx="2087118" cy="1860804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08_노트확인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739" y="3735324"/>
            <a:ext cx="858832" cy="18608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768596" y="5632704"/>
            <a:ext cx="208711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EC0"/>
                </a:solidFill>
              </a:rPr>
              <a:t>노트 상세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2874" y="3735324"/>
            <a:ext cx="2087118" cy="1860804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09_설정창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7017" y="3735324"/>
            <a:ext cx="858832" cy="186080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92874" y="5632704"/>
            <a:ext cx="208711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EC0"/>
                </a:solidFill>
              </a:rPr>
              <a:t>설정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28232"/>
            <a:ext cx="12188952" cy="18288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2A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6501384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</a:rPr>
              <a:t>경영전략 팀 프로젝트   |   9팀 7차 발표   |   2026.06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501384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rgbClr val="A0AEC0"/>
                </a:solidFill>
              </a:rPr>
              <a:t>4</a:t>
            </a:r>
            <a:r>
              <a:rPr sz="1100" b="0" i="0" dirty="0">
                <a:solidFill>
                  <a:srgbClr val="A0AEC0"/>
                </a:solidFill>
              </a:rPr>
              <a:t> / </a:t>
            </a:r>
            <a:r>
              <a:rPr lang="en-US" sz="1100" b="0" i="0" dirty="0">
                <a:solidFill>
                  <a:srgbClr val="A0AEC0"/>
                </a:solidFill>
              </a:rPr>
              <a:t>6</a:t>
            </a:r>
            <a:endParaRPr sz="1100" b="0" i="0" dirty="0">
              <a:solidFill>
                <a:srgbClr val="A0AEC0"/>
              </a:solidFill>
            </a:endParaRPr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05233556-5281-C29D-5D9D-DA2C2F1045AD}"/>
              </a:ext>
            </a:extLst>
          </p:cNvPr>
          <p:cNvSpPr/>
          <p:nvPr/>
        </p:nvSpPr>
        <p:spPr>
          <a:xfrm>
            <a:off x="0" y="0"/>
            <a:ext cx="154203" cy="68580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4A9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73152" cy="1188720"/>
          </a:xfrm>
          <a:prstGeom prst="rect">
            <a:avLst/>
          </a:prstGeom>
          <a:solidFill>
            <a:srgbClr val="4A9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8249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A0AEC0"/>
                </a:solidFill>
              </a:rPr>
              <a:t>강의 노트는 </a:t>
            </a:r>
            <a:r>
              <a:rPr sz="1800" b="1">
                <a:solidFill>
                  <a:srgbClr val="FFFFFF"/>
                </a:solidFill>
              </a:rPr>
              <a:t>첫 번째 검증 케이스</a:t>
            </a:r>
            <a:r>
              <a:rPr sz="1800">
                <a:solidFill>
                  <a:srgbClr val="A0AEC0"/>
                </a:solidFill>
              </a:rPr>
              <a:t>일 뿐입니다.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67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A0AEC0"/>
                </a:solidFill>
              </a:rPr>
              <a:t>어떤</a:t>
            </a:r>
            <a:r>
              <a:rPr sz="1600" b="0" i="0" dirty="0">
                <a:solidFill>
                  <a:srgbClr val="A0AEC0"/>
                </a:solidFill>
              </a:rPr>
              <a:t> </a:t>
            </a:r>
            <a:r>
              <a:rPr sz="1600" b="0" i="0" dirty="0" err="1">
                <a:solidFill>
                  <a:srgbClr val="A0AEC0"/>
                </a:solidFill>
              </a:rPr>
              <a:t>비정형</a:t>
            </a:r>
            <a:r>
              <a:rPr sz="1600" b="0" i="0" dirty="0">
                <a:solidFill>
                  <a:srgbClr val="A0AEC0"/>
                </a:solidFill>
              </a:rPr>
              <a:t> </a:t>
            </a:r>
            <a:r>
              <a:rPr sz="1600" b="0" i="0" dirty="0" err="1">
                <a:solidFill>
                  <a:srgbClr val="A0AEC0"/>
                </a:solidFill>
              </a:rPr>
              <a:t>입력이든</a:t>
            </a:r>
            <a:r>
              <a:rPr sz="1600" b="0" i="0" dirty="0">
                <a:solidFill>
                  <a:srgbClr val="A0AEC0"/>
                </a:solidFill>
              </a:rPr>
              <a:t> </a:t>
            </a:r>
            <a:r>
              <a:rPr sz="1600" b="0" i="0" dirty="0" err="1">
                <a:solidFill>
                  <a:srgbClr val="A0AEC0"/>
                </a:solidFill>
              </a:rPr>
              <a:t>구조화할</a:t>
            </a:r>
            <a:r>
              <a:rPr sz="1600" b="0" i="0" dirty="0">
                <a:solidFill>
                  <a:srgbClr val="A0AEC0"/>
                </a:solidFill>
              </a:rPr>
              <a:t> 수 </a:t>
            </a:r>
            <a:r>
              <a:rPr sz="1600" b="0" i="0" dirty="0" err="1">
                <a:solidFill>
                  <a:srgbClr val="A0AEC0"/>
                </a:solidFill>
              </a:rPr>
              <a:t>있는</a:t>
            </a:r>
            <a:r>
              <a:rPr sz="1600" b="0" i="0" dirty="0">
                <a:solidFill>
                  <a:srgbClr val="A0AEC0"/>
                </a:solidFill>
              </a:rPr>
              <a:t> AI </a:t>
            </a:r>
            <a:r>
              <a:rPr sz="1600" b="0" i="0" dirty="0" err="1">
                <a:solidFill>
                  <a:srgbClr val="A0AEC0"/>
                </a:solidFill>
              </a:rPr>
              <a:t>파이프라인입니다</a:t>
            </a:r>
            <a:r>
              <a:rPr sz="1600" b="0" i="0" dirty="0">
                <a:solidFill>
                  <a:srgbClr val="A0AEC0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37920"/>
            <a:ext cx="2743200" cy="320040"/>
          </a:xfrm>
          <a:prstGeom prst="rect">
            <a:avLst/>
          </a:prstGeom>
          <a:solidFill>
            <a:srgbClr val="1B2A5E"/>
          </a:solidFill>
          <a:ln w="63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283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4237920"/>
            <a:ext cx="8531352" cy="320040"/>
          </a:xfrm>
          <a:prstGeom prst="rect">
            <a:avLst/>
          </a:prstGeom>
          <a:solidFill>
            <a:srgbClr val="1B2A5E"/>
          </a:solidFill>
          <a:ln w="63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4283640"/>
            <a:ext cx="8348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상태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57960"/>
            <a:ext cx="2743200" cy="320040"/>
          </a:xfrm>
          <a:prstGeom prst="rect">
            <a:avLst/>
          </a:prstGeom>
          <a:solidFill>
            <a:srgbClr val="243B6E"/>
          </a:solidFill>
          <a:ln w="63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603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0"/>
                </a:solidFill>
              </a:rPr>
              <a:t>웹 배포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4557960"/>
            <a:ext cx="8531352" cy="320040"/>
          </a:xfrm>
          <a:prstGeom prst="rect">
            <a:avLst/>
          </a:prstGeom>
          <a:solidFill>
            <a:srgbClr val="243B6E"/>
          </a:solidFill>
          <a:ln w="63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0" y="4603680"/>
            <a:ext cx="834847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300" b="0" i="0" dirty="0">
                <a:solidFill>
                  <a:srgbClr val="A0AEC0"/>
                </a:solidFill>
              </a:rPr>
              <a:t>Railway  (</a:t>
            </a:r>
            <a:r>
              <a:rPr sz="1300" b="0" i="0" dirty="0">
                <a:solidFill>
                  <a:srgbClr val="FFFFFF"/>
                </a:solidFill>
              </a:rPr>
              <a:t>https://</a:t>
            </a:r>
            <a:r>
              <a:rPr kumimoji="0" lang="ko-KR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맑은 고딕" panose="020B0503020000020004" pitchFamily="50" charset="-127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web-production-94071.up.railway.app</a:t>
            </a:r>
            <a:r>
              <a:rPr sz="1300" b="0" i="0" dirty="0">
                <a:solidFill>
                  <a:srgbClr val="A0AEC0"/>
                </a:solidFill>
              </a:rPr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78000"/>
            <a:ext cx="2743200" cy="320040"/>
          </a:xfrm>
          <a:prstGeom prst="rect">
            <a:avLst/>
          </a:prstGeom>
          <a:solidFill>
            <a:srgbClr val="1E326A"/>
          </a:solidFill>
          <a:ln w="63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9237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0"/>
                </a:solidFill>
              </a:rPr>
              <a:t>Android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4878000"/>
            <a:ext cx="8531352" cy="320040"/>
          </a:xfrm>
          <a:prstGeom prst="rect">
            <a:avLst/>
          </a:prstGeom>
          <a:solidFill>
            <a:srgbClr val="1E326A"/>
          </a:solidFill>
          <a:ln w="63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0" y="4923720"/>
            <a:ext cx="8348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0"/>
                </a:solidFill>
              </a:rPr>
              <a:t>APK · AAB 빌드 완료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98040"/>
            <a:ext cx="2743200" cy="320040"/>
          </a:xfrm>
          <a:prstGeom prst="rect">
            <a:avLst/>
          </a:prstGeom>
          <a:solidFill>
            <a:srgbClr val="243B6E"/>
          </a:solidFill>
          <a:ln w="63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2437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0"/>
                </a:solidFill>
              </a:rPr>
              <a:t>Google Play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5198040"/>
            <a:ext cx="8531352" cy="320040"/>
          </a:xfrm>
          <a:prstGeom prst="rect">
            <a:avLst/>
          </a:prstGeom>
          <a:solidFill>
            <a:srgbClr val="243B6E"/>
          </a:solidFill>
          <a:ln w="63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40" y="5243760"/>
            <a:ext cx="8348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0"/>
                </a:solidFill>
              </a:rPr>
              <a:t>심사 진행 중 (🔄)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18080"/>
            <a:ext cx="2743200" cy="320040"/>
          </a:xfrm>
          <a:prstGeom prst="rect">
            <a:avLst/>
          </a:prstGeom>
          <a:solidFill>
            <a:srgbClr val="1E326A"/>
          </a:solidFill>
          <a:ln w="63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563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0"/>
                </a:solidFill>
              </a:rPr>
              <a:t>외부 피드백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5518080"/>
            <a:ext cx="8531352" cy="320040"/>
          </a:xfrm>
          <a:prstGeom prst="rect">
            <a:avLst/>
          </a:prstGeom>
          <a:solidFill>
            <a:srgbClr val="1E326A"/>
          </a:solidFill>
          <a:ln w="63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1840" y="5563800"/>
            <a:ext cx="8348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0"/>
                </a:solidFill>
              </a:rPr>
              <a:t>5인 피드백 전원 반영 완료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38120"/>
            <a:ext cx="2743200" cy="320040"/>
          </a:xfrm>
          <a:prstGeom prst="rect">
            <a:avLst/>
          </a:prstGeom>
          <a:solidFill>
            <a:srgbClr val="243B6E"/>
          </a:solidFill>
          <a:ln w="63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58838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0"/>
                </a:solidFill>
              </a:rPr>
              <a:t>API 엔드포인트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5838120"/>
            <a:ext cx="8531352" cy="320040"/>
          </a:xfrm>
          <a:prstGeom prst="rect">
            <a:avLst/>
          </a:prstGeom>
          <a:solidFill>
            <a:srgbClr val="243B6E"/>
          </a:solidFill>
          <a:ln w="63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91840" y="5883840"/>
            <a:ext cx="8348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0"/>
                </a:solidFill>
              </a:rPr>
              <a:t>19개 완성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28232"/>
            <a:ext cx="12188952" cy="18288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2A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6501384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</a:rPr>
              <a:t>경영전략 팀 프로젝트   |   9팀 7차 발표   |   2026.06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01384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rgbClr val="A0AEC0"/>
                </a:solidFill>
              </a:rPr>
              <a:t>5</a:t>
            </a:r>
            <a:r>
              <a:rPr sz="1100" b="0" i="0" dirty="0">
                <a:solidFill>
                  <a:srgbClr val="A0AEC0"/>
                </a:solidFill>
              </a:rPr>
              <a:t> / </a:t>
            </a:r>
            <a:r>
              <a:rPr lang="en-US" sz="1100" b="0" i="0" dirty="0">
                <a:solidFill>
                  <a:srgbClr val="A0AEC0"/>
                </a:solidFill>
              </a:rPr>
              <a:t>6</a:t>
            </a:r>
            <a:endParaRPr sz="1100" b="0" i="0" dirty="0">
              <a:solidFill>
                <a:srgbClr val="A0AEC0"/>
              </a:solidFill>
            </a:endParaRPr>
          </a:p>
        </p:txBody>
      </p:sp>
      <p:sp>
        <p:nvSpPr>
          <p:cNvPr id="40" name="Shape 1">
            <a:extLst>
              <a:ext uri="{FF2B5EF4-FFF2-40B4-BE49-F238E27FC236}">
                <a16:creationId xmlns:a16="http://schemas.microsoft.com/office/drawing/2014/main" id="{D9CECE55-A373-C0EE-851E-C609967306E6}"/>
              </a:ext>
            </a:extLst>
          </p:cNvPr>
          <p:cNvSpPr/>
          <p:nvPr/>
        </p:nvSpPr>
        <p:spPr>
          <a:xfrm>
            <a:off x="0" y="0"/>
            <a:ext cx="154203" cy="68580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Rectangle 9">
            <a:extLst>
              <a:ext uri="{FF2B5EF4-FFF2-40B4-BE49-F238E27FC236}">
                <a16:creationId xmlns:a16="http://schemas.microsoft.com/office/drawing/2014/main" id="{A27DFE14-8BDC-CFA5-9D1B-D35B8509352F}"/>
              </a:ext>
            </a:extLst>
          </p:cNvPr>
          <p:cNvSpPr/>
          <p:nvPr/>
        </p:nvSpPr>
        <p:spPr>
          <a:xfrm>
            <a:off x="530351" y="3248045"/>
            <a:ext cx="3616775" cy="582930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B310F84-239D-EA3E-34D0-EDF9ADD122CE}"/>
              </a:ext>
            </a:extLst>
          </p:cNvPr>
          <p:cNvSpPr txBox="1"/>
          <p:nvPr/>
        </p:nvSpPr>
        <p:spPr>
          <a:xfrm>
            <a:off x="633222" y="3302909"/>
            <a:ext cx="1529586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4A9DF8"/>
                </a:solidFill>
              </a:rPr>
              <a:t>19개  </a:t>
            </a:r>
            <a:r>
              <a:rPr sz="975">
                <a:solidFill>
                  <a:srgbClr val="A0AEC0"/>
                </a:solidFill>
              </a:rPr>
              <a:t>API 엔드포인트</a:t>
            </a:r>
          </a:p>
        </p:txBody>
      </p:sp>
      <p:sp>
        <p:nvSpPr>
          <p:cNvPr id="43" name="Rectangle 12">
            <a:extLst>
              <a:ext uri="{FF2B5EF4-FFF2-40B4-BE49-F238E27FC236}">
                <a16:creationId xmlns:a16="http://schemas.microsoft.com/office/drawing/2014/main" id="{B0003B74-C1E9-D5F9-3B35-40FABA7D553C}"/>
              </a:ext>
            </a:extLst>
          </p:cNvPr>
          <p:cNvSpPr/>
          <p:nvPr/>
        </p:nvSpPr>
        <p:spPr>
          <a:xfrm>
            <a:off x="4791392" y="3257547"/>
            <a:ext cx="3616774" cy="582930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7C7A81-2EE5-57AC-95C4-24C464FEFE3A}"/>
              </a:ext>
            </a:extLst>
          </p:cNvPr>
          <p:cNvSpPr txBox="1"/>
          <p:nvPr/>
        </p:nvSpPr>
        <p:spPr>
          <a:xfrm>
            <a:off x="4894262" y="3312411"/>
            <a:ext cx="156966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4A9DF8"/>
                </a:solidFill>
              </a:rPr>
              <a:t>5단계  </a:t>
            </a:r>
            <a:r>
              <a:rPr sz="975">
                <a:solidFill>
                  <a:srgbClr val="A0AEC0"/>
                </a:solidFill>
              </a:rPr>
              <a:t>AI 파이프라인</a:t>
            </a:r>
          </a:p>
        </p:txBody>
      </p:sp>
      <p:sp>
        <p:nvSpPr>
          <p:cNvPr id="45" name="Rectangle 15">
            <a:extLst>
              <a:ext uri="{FF2B5EF4-FFF2-40B4-BE49-F238E27FC236}">
                <a16:creationId xmlns:a16="http://schemas.microsoft.com/office/drawing/2014/main" id="{96F23530-D51A-3FE0-87BD-ED7910B72ABF}"/>
              </a:ext>
            </a:extLst>
          </p:cNvPr>
          <p:cNvSpPr/>
          <p:nvPr/>
        </p:nvSpPr>
        <p:spPr>
          <a:xfrm>
            <a:off x="9052560" y="3257547"/>
            <a:ext cx="2606040" cy="582930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F9E7F1-7D49-C750-B035-ADA5393D9DC0}"/>
              </a:ext>
            </a:extLst>
          </p:cNvPr>
          <p:cNvSpPr txBox="1"/>
          <p:nvPr/>
        </p:nvSpPr>
        <p:spPr>
          <a:xfrm>
            <a:off x="9155431" y="3312411"/>
            <a:ext cx="1997663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4A9DF8"/>
                </a:solidFill>
              </a:rPr>
              <a:t>3종  </a:t>
            </a:r>
            <a:r>
              <a:rPr sz="975">
                <a:solidFill>
                  <a:srgbClr val="A0AEC0"/>
                </a:solidFill>
              </a:rPr>
              <a:t>입력 지원 (음성·PDF·필기)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6EEB7F-75B5-734F-8A3D-B53BF354F5DF}"/>
              </a:ext>
            </a:extLst>
          </p:cNvPr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</a:rPr>
              <a:t>05 . 향후 발전방향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17848B-601C-212C-2359-1966B3BCFEB4}"/>
              </a:ext>
            </a:extLst>
          </p:cNvPr>
          <p:cNvSpPr txBox="1"/>
          <p:nvPr/>
        </p:nvSpPr>
        <p:spPr>
          <a:xfrm>
            <a:off x="45720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</a:rPr>
              <a:t>B2B </a:t>
            </a:r>
            <a:r>
              <a:rPr sz="3400" b="1" i="0" dirty="0" err="1">
                <a:solidFill>
                  <a:srgbClr val="FFFFFF"/>
                </a:solidFill>
              </a:rPr>
              <a:t>확장</a:t>
            </a:r>
            <a:r>
              <a:rPr sz="3400" b="1" i="0" dirty="0">
                <a:solidFill>
                  <a:srgbClr val="FFFFFF"/>
                </a:solidFill>
              </a:rPr>
              <a:t> · </a:t>
            </a:r>
            <a:r>
              <a:rPr sz="3400" b="1" i="0" dirty="0" err="1">
                <a:solidFill>
                  <a:srgbClr val="FFFFFF"/>
                </a:solidFill>
              </a:rPr>
              <a:t>수익화</a:t>
            </a:r>
            <a:endParaRPr sz="3400" b="1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441" y="2692068"/>
            <a:ext cx="10969943" cy="1645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6" b="1" dirty="0">
                <a:solidFill>
                  <a:srgbClr val="FFFFFF"/>
                </a:solidFill>
              </a:rPr>
              <a:t>우리가 직접 겪는 문제,</a:t>
            </a:r>
            <a:endParaRPr lang="en-US" sz="3466" dirty="0"/>
          </a:p>
          <a:p>
            <a:pPr algn="ctr"/>
            <a:r>
              <a:rPr lang="en-US" sz="3466" b="1" dirty="0">
                <a:solidFill>
                  <a:srgbClr val="FFFFFF"/>
                </a:solidFill>
              </a:rPr>
              <a:t>가장 현실적인 기술로 해결합니다.</a:t>
            </a:r>
            <a:endParaRPr lang="en-US" sz="3466" dirty="0"/>
          </a:p>
        </p:txBody>
      </p:sp>
      <p:sp>
        <p:nvSpPr>
          <p:cNvPr id="5" name="Shape 3"/>
          <p:cNvSpPr/>
          <p:nvPr/>
        </p:nvSpPr>
        <p:spPr>
          <a:xfrm>
            <a:off x="3047206" y="4435069"/>
            <a:ext cx="6094413" cy="48755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 sz="2399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79D145-22C7-8B51-57B4-34AE54A4FD4C}"/>
              </a:ext>
            </a:extLst>
          </p:cNvPr>
          <p:cNvSpPr txBox="1"/>
          <p:nvPr/>
        </p:nvSpPr>
        <p:spPr>
          <a:xfrm>
            <a:off x="4711266" y="1596041"/>
            <a:ext cx="276629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 err="1">
                <a:solidFill>
                  <a:srgbClr val="FFFFFF"/>
                </a:solidFill>
              </a:rPr>
              <a:t>LectureNote</a:t>
            </a:r>
            <a:endParaRPr sz="3400" b="1" i="0" dirty="0">
              <a:solidFill>
                <a:srgbClr val="FFFFFF"/>
              </a:solidFill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E7A06FBB-0552-CE07-E9D0-97CF710A5089}"/>
              </a:ext>
            </a:extLst>
          </p:cNvPr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4A9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35">
            <a:extLst>
              <a:ext uri="{FF2B5EF4-FFF2-40B4-BE49-F238E27FC236}">
                <a16:creationId xmlns:a16="http://schemas.microsoft.com/office/drawing/2014/main" id="{53855329-47F9-8878-2126-AAED963AFDD6}"/>
              </a:ext>
            </a:extLst>
          </p:cNvPr>
          <p:cNvSpPr/>
          <p:nvPr/>
        </p:nvSpPr>
        <p:spPr>
          <a:xfrm>
            <a:off x="0" y="6428232"/>
            <a:ext cx="12188952" cy="18288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36">
            <a:extLst>
              <a:ext uri="{FF2B5EF4-FFF2-40B4-BE49-F238E27FC236}">
                <a16:creationId xmlns:a16="http://schemas.microsoft.com/office/drawing/2014/main" id="{73D3029D-A073-0D85-6BEB-00B288BDA99A}"/>
              </a:ext>
            </a:extLst>
          </p:cNvPr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2A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CBC7DC-8515-87A3-DA48-4EFD7C072481}"/>
              </a:ext>
            </a:extLst>
          </p:cNvPr>
          <p:cNvSpPr txBox="1"/>
          <p:nvPr/>
        </p:nvSpPr>
        <p:spPr>
          <a:xfrm>
            <a:off x="274320" y="6501384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</a:rPr>
              <a:t>경영전략 팀 프로젝트   |   9팀 7차 발표   |   2026.06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C8AA91-F85B-47D0-6E96-62D0303F3003}"/>
              </a:ext>
            </a:extLst>
          </p:cNvPr>
          <p:cNvSpPr txBox="1"/>
          <p:nvPr/>
        </p:nvSpPr>
        <p:spPr>
          <a:xfrm>
            <a:off x="10515600" y="6501384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rgbClr val="A0AEC0"/>
                </a:solidFill>
              </a:rPr>
              <a:t>6</a:t>
            </a:r>
            <a:r>
              <a:rPr sz="1100" b="0" i="0" dirty="0">
                <a:solidFill>
                  <a:srgbClr val="A0AEC0"/>
                </a:solidFill>
              </a:rPr>
              <a:t> / </a:t>
            </a:r>
            <a:r>
              <a:rPr lang="en-US" sz="1100" b="0" i="0" dirty="0">
                <a:solidFill>
                  <a:srgbClr val="A0AEC0"/>
                </a:solidFill>
              </a:rPr>
              <a:t>6</a:t>
            </a:r>
            <a:endParaRPr sz="1100" b="0" i="0" dirty="0">
              <a:solidFill>
                <a:srgbClr val="A0AEC0"/>
              </a:solidFill>
            </a:endParaRPr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1C5F63EF-0292-4A60-6470-B456E4F105B0}"/>
              </a:ext>
            </a:extLst>
          </p:cNvPr>
          <p:cNvSpPr/>
          <p:nvPr/>
        </p:nvSpPr>
        <p:spPr>
          <a:xfrm>
            <a:off x="0" y="0"/>
            <a:ext cx="154203" cy="68580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4539339" y="5439406"/>
            <a:ext cx="311014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dirty="0" err="1">
                <a:solidFill>
                  <a:srgbClr val="FFFFFF"/>
                </a:solidFill>
              </a:rPr>
              <a:t>경영전략</a:t>
            </a:r>
            <a:r>
              <a:rPr sz="1300" dirty="0">
                <a:solidFill>
                  <a:srgbClr val="FFFFFF"/>
                </a:solidFill>
              </a:rPr>
              <a:t> 9팀  |  </a:t>
            </a:r>
            <a:r>
              <a:rPr sz="1300" dirty="0" err="1">
                <a:solidFill>
                  <a:srgbClr val="FFFFFF"/>
                </a:solidFill>
              </a:rPr>
              <a:t>이병헌</a:t>
            </a:r>
            <a:r>
              <a:rPr sz="1300" dirty="0">
                <a:solidFill>
                  <a:srgbClr val="FFFFFF"/>
                </a:solidFill>
              </a:rPr>
              <a:t> · </a:t>
            </a:r>
            <a:r>
              <a:rPr sz="1300" dirty="0" err="1">
                <a:solidFill>
                  <a:srgbClr val="FFFFFF"/>
                </a:solidFill>
              </a:rPr>
              <a:t>김도환</a:t>
            </a:r>
            <a:r>
              <a:rPr sz="1300" dirty="0">
                <a:solidFill>
                  <a:srgbClr val="FFFFFF"/>
                </a:solidFill>
              </a:rPr>
              <a:t> · </a:t>
            </a:r>
            <a:r>
              <a:rPr sz="1300" dirty="0" err="1">
                <a:solidFill>
                  <a:srgbClr val="FFFFFF"/>
                </a:solidFill>
              </a:rPr>
              <a:t>최철원</a:t>
            </a:r>
            <a:endParaRPr sz="1300" dirty="0">
              <a:solidFill>
                <a:srgbClr val="FFFFFF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D3BBD7-A0EF-FE46-FFAD-5966798A1C9F}"/>
              </a:ext>
            </a:extLst>
          </p:cNvPr>
          <p:cNvSpPr txBox="1"/>
          <p:nvPr/>
        </p:nvSpPr>
        <p:spPr>
          <a:xfrm>
            <a:off x="5328818" y="4913841"/>
            <a:ext cx="15311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2000" dirty="0">
                <a:solidFill>
                  <a:srgbClr val="FFFFFF"/>
                </a:solidFill>
              </a:rPr>
              <a:t>감사합니다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sz="2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97569E-682F-49A9-B99A-47633BE8A6A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e0bae0c-9ec5-4691-9aad-1dd911f2f8a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1915</Words>
  <Application>Microsoft Office PowerPoint</Application>
  <PresentationFormat>사용자 지정</PresentationFormat>
  <Paragraphs>373</Paragraphs>
  <Slides>14</Slides>
  <Notes>7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Inter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Moira Wide</cp:lastModifiedBy>
  <cp:revision>9</cp:revision>
  <dcterms:created xsi:type="dcterms:W3CDTF">2013-01-27T09:14:16Z</dcterms:created>
  <dcterms:modified xsi:type="dcterms:W3CDTF">2026-06-14T04:43:28Z</dcterms:modified>
  <cp:category/>
</cp:coreProperties>
</file>