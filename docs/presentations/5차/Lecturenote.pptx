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6528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28750"/>
            <a:ext cx="161925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952500"/>
            <a:ext cx="17639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경영전략 9팀 </a:t>
            </a: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5차 발표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6620381" y="976312"/>
            <a:ext cx="6960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2667000"/>
            <a:ext cx="76200" cy="43815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466850" y="2667000"/>
            <a:ext cx="162466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렉처노트 </a:t>
            </a:r>
            <a:r>
              <a:rPr lang="en-US" sz="1650" kern="0" spc="17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베타 빌드 완성 + 인증·프로필·배포 마무리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66850" y="3238500"/>
            <a:ext cx="16246602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0" b="1" kern="0" spc="-3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r>
              <a:rPr lang="en-US" sz="9300" b="1" kern="0" spc="-325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9300" dirty="0"/>
          </a:p>
        </p:txBody>
      </p:sp>
      <p:sp>
        <p:nvSpPr>
          <p:cNvPr id="8" name="Text 6"/>
          <p:cNvSpPr/>
          <p:nvPr/>
        </p:nvSpPr>
        <p:spPr>
          <a:xfrm>
            <a:off x="1466850" y="4762500"/>
            <a:ext cx="16246602" cy="508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850" b="1" kern="0" spc="-4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베타 빌드 완성 — </a:t>
            </a:r>
            <a:r>
              <a:rPr lang="en-US" sz="2850" b="1" kern="0" spc="-43" dirty="0">
                <a:solidFill>
                  <a:srgbClr val="9CB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· 프로필 · Render 배포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466850" y="5423446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4차 발표에서 예고한 10주차 베타 테스트 단계 진입 학기 내 앱 완성을 위한 마지막 직전 단계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466850" y="8324850"/>
            <a:ext cx="157734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466850" y="8601075"/>
            <a:ext cx="30000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6850" y="8905875"/>
            <a:ext cx="300009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-9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이병헌 (팀장) · 김도환 · 최철원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68761" y="8721328"/>
            <a:ext cx="1671489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275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경영전략 팀 프로젝트 9팀 5차 발표 · 2026.05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66750"/>
            <a:ext cx="166782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1085850"/>
            <a:ext cx="16678275" cy="651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구성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1965871"/>
            <a:ext cx="857250" cy="381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47750" y="2537371"/>
            <a:ext cx="5219700" cy="1913483"/>
          </a:xfrm>
          <a:prstGeom prst="roundRect">
            <a:avLst>
              <a:gd name="adj" fmla="val 6969"/>
            </a:avLst>
          </a:prstGeom>
          <a:solidFill>
            <a:srgbClr val="152040"/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400175" y="2889796"/>
            <a:ext cx="46502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00175" y="3385096"/>
            <a:ext cx="46502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진행 현황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00175" y="3870871"/>
            <a:ext cx="4650296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4차 대비 테스트 단계 진입 — 90% 완료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34150" y="2537371"/>
            <a:ext cx="5219700" cy="1913483"/>
          </a:xfrm>
          <a:prstGeom prst="roundRect">
            <a:avLst>
              <a:gd name="adj" fmla="val 6969"/>
            </a:avLst>
          </a:prstGeom>
          <a:solidFill>
            <a:srgbClr val="152040"/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86575" y="2889796"/>
            <a:ext cx="46502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86575" y="3385096"/>
            <a:ext cx="46502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로드맵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886575" y="3870871"/>
            <a:ext cx="4650296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10주차 베타 빌드 목표 달성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2020550" y="2537371"/>
            <a:ext cx="5219700" cy="1913483"/>
          </a:xfrm>
          <a:prstGeom prst="roundRect">
            <a:avLst>
              <a:gd name="adj" fmla="val 6969"/>
            </a:avLst>
          </a:prstGeom>
          <a:solidFill>
            <a:srgbClr val="152040"/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372975" y="2889796"/>
            <a:ext cx="46502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372975" y="3385096"/>
            <a:ext cx="46502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베타 빌드 신규 기능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372975" y="3870871"/>
            <a:ext cx="4650296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· 프로필 · 백그라운드 생성 · 배포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47750" y="4717554"/>
            <a:ext cx="10706100" cy="1913483"/>
          </a:xfrm>
          <a:prstGeom prst="roundRect">
            <a:avLst>
              <a:gd name="adj" fmla="val 6969"/>
            </a:avLst>
          </a:prstGeom>
          <a:solidFill>
            <a:srgbClr val="2A3A7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400175" y="5069979"/>
            <a:ext cx="5200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110680" y="5069979"/>
            <a:ext cx="95694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— 전체 사용 흐름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110680" y="5460504"/>
            <a:ext cx="9569467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 · 프로필 · 강의 등록 · 노트 생성 → 조회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110679" y="5859512"/>
            <a:ext cx="1509225" cy="276225"/>
          </a:xfrm>
          <a:prstGeom prst="roundRect">
            <a:avLst>
              <a:gd name="adj" fmla="val 50000"/>
            </a:avLst>
          </a:prstGeom>
          <a:solidFill>
            <a:srgbClr val="4A90D9">
              <a:alpha val="1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224980" y="5907137"/>
            <a:ext cx="13346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회원가입 / 로그인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3734205" y="5859512"/>
            <a:ext cx="1242540" cy="276225"/>
          </a:xfrm>
          <a:prstGeom prst="roundRect">
            <a:avLst>
              <a:gd name="adj" fmla="val 50000"/>
            </a:avLst>
          </a:prstGeom>
          <a:solidFill>
            <a:srgbClr val="4A90D9">
              <a:alpha val="1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848505" y="5907137"/>
            <a:ext cx="106793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프로필 / 구독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5091045" y="5857974"/>
            <a:ext cx="1418170" cy="276225"/>
          </a:xfrm>
          <a:prstGeom prst="roundRect">
            <a:avLst>
              <a:gd name="adj" fmla="val 50000"/>
            </a:avLst>
          </a:prstGeom>
          <a:solidFill>
            <a:srgbClr val="4A90D9">
              <a:alpha val="1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205344" y="5905599"/>
            <a:ext cx="12435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메인 / 강의 등록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6623514" y="5854799"/>
            <a:ext cx="1520478" cy="276225"/>
          </a:xfrm>
          <a:prstGeom prst="roundRect">
            <a:avLst>
              <a:gd name="adj" fmla="val 50000"/>
            </a:avLst>
          </a:prstGeom>
          <a:solidFill>
            <a:srgbClr val="4A90D9">
              <a:alpha val="1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737813" y="5902424"/>
            <a:ext cx="134587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노트 생성 → 조회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12020550" y="4717554"/>
            <a:ext cx="5219700" cy="1913483"/>
          </a:xfrm>
          <a:prstGeom prst="roundRect">
            <a:avLst>
              <a:gd name="adj" fmla="val 6969"/>
            </a:avLst>
          </a:prstGeom>
          <a:solidFill>
            <a:srgbClr val="152040"/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2372975" y="5069979"/>
            <a:ext cx="46502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12372975" y="5565279"/>
            <a:ext cx="46502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피드백 &amp; 반영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2372975" y="6051054"/>
            <a:ext cx="4650296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인터뷰 5명 결과 → 반영 상태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047750" y="6897737"/>
            <a:ext cx="5219700" cy="1913483"/>
          </a:xfrm>
          <a:prstGeom prst="roundRect">
            <a:avLst>
              <a:gd name="adj" fmla="val 6969"/>
            </a:avLst>
          </a:prstGeom>
          <a:solidFill>
            <a:srgbClr val="152040"/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400175" y="7250162"/>
            <a:ext cx="46502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1400175" y="7745462"/>
            <a:ext cx="46502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 업데이트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400175" y="8231237"/>
            <a:ext cx="4650296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19개 엔드포인트 · 인증 · Render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534150" y="6897737"/>
            <a:ext cx="5219700" cy="1913483"/>
          </a:xfrm>
          <a:prstGeom prst="roundRect">
            <a:avLst>
              <a:gd name="adj" fmla="val 6969"/>
            </a:avLst>
          </a:prstGeom>
          <a:solidFill>
            <a:srgbClr val="152040"/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886575" y="7250162"/>
            <a:ext cx="46502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700" dirty="0"/>
          </a:p>
        </p:txBody>
      </p:sp>
      <p:sp>
        <p:nvSpPr>
          <p:cNvPr id="39" name="Text 37"/>
          <p:cNvSpPr/>
          <p:nvPr/>
        </p:nvSpPr>
        <p:spPr>
          <a:xfrm>
            <a:off x="6886575" y="7745462"/>
            <a:ext cx="46502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6886575" y="8231237"/>
            <a:ext cx="4650296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13주차 최종 발표 — 런칭 로드맵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1047750" y="9620250"/>
            <a:ext cx="16192500" cy="36195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047750" y="9620250"/>
            <a:ext cx="16192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047750" y="9810750"/>
            <a:ext cx="1370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경영전략 팀 프로젝트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2494062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2686496" y="9810750"/>
            <a:ext cx="8632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9팀 5차 발표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3625900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3818334" y="9801225"/>
            <a:ext cx="612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16783199" y="9801225"/>
            <a:ext cx="5332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5E9A2F05-CE51-2C6A-75C1-0AA38F70A521}"/>
              </a:ext>
            </a:extLst>
          </p:cNvPr>
          <p:cNvSpPr/>
          <p:nvPr/>
        </p:nvSpPr>
        <p:spPr>
          <a:xfrm>
            <a:off x="483053" y="2861146"/>
            <a:ext cx="17445718" cy="61171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0091048F-1292-94E7-E92B-94B4205A5C00}"/>
              </a:ext>
            </a:extLst>
          </p:cNvPr>
          <p:cNvSpPr/>
          <p:nvPr/>
        </p:nvSpPr>
        <p:spPr>
          <a:xfrm>
            <a:off x="710059" y="3088852"/>
            <a:ext cx="17040225" cy="569029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1047750" y="666750"/>
            <a:ext cx="166782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SDLC 진행 현황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1085850"/>
            <a:ext cx="16678275" cy="679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테스트(Testing) 단계 진입 — </a:t>
            </a:r>
            <a:r>
              <a:rPr lang="en-US" sz="4200" b="1" kern="0" spc="-8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완료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1861096"/>
            <a:ext cx="166782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-18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4차 발표 75% → 5차 발표 90%. 외부 사용자 테스트 일부 진행, 배포 완료.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2447776"/>
            <a:ext cx="857250" cy="381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47750" y="4195688"/>
            <a:ext cx="3146971" cy="457200"/>
          </a:xfrm>
          <a:prstGeom prst="rect">
            <a:avLst/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7750" y="4633838"/>
            <a:ext cx="3146971" cy="1905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38250" y="4319513"/>
            <a:ext cx="28603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단계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4194721" y="4195688"/>
            <a:ext cx="1573411" cy="457200"/>
          </a:xfrm>
          <a:prstGeom prst="rect">
            <a:avLst/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194721" y="4633838"/>
            <a:ext cx="1573411" cy="1905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309021" y="4319513"/>
            <a:ext cx="12686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kern="0" spc="1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진척도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5768132" y="4195688"/>
            <a:ext cx="3462040" cy="457200"/>
          </a:xfrm>
          <a:prstGeom prst="rect">
            <a:avLst/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768132" y="4633838"/>
            <a:ext cx="3462040" cy="1905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958632" y="4319513"/>
            <a:ext cx="31849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1047750" y="5152950"/>
            <a:ext cx="3146971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8250" y="4757663"/>
            <a:ext cx="2860380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요구분석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4194721" y="5152950"/>
            <a:ext cx="1573411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309021" y="4757663"/>
            <a:ext cx="126861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5768132" y="5152950"/>
            <a:ext cx="346204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958632" y="4767188"/>
            <a:ext cx="1079599" cy="285750"/>
          </a:xfrm>
          <a:prstGeom prst="roundRect">
            <a:avLst>
              <a:gd name="adj" fmla="val 50000"/>
            </a:avLst>
          </a:prstGeom>
          <a:solidFill>
            <a:srgbClr val="2ECC71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034831" y="4800525"/>
            <a:ext cx="9271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6BE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완료 (3주차)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47750" y="5657775"/>
            <a:ext cx="3146971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38250" y="5267250"/>
            <a:ext cx="28603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시스템설계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4194721" y="5657775"/>
            <a:ext cx="1573411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309021" y="5267250"/>
            <a:ext cx="12686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5768132" y="5657775"/>
            <a:ext cx="346204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958632" y="5272013"/>
            <a:ext cx="1079599" cy="285750"/>
          </a:xfrm>
          <a:prstGeom prst="roundRect">
            <a:avLst>
              <a:gd name="adj" fmla="val 50000"/>
            </a:avLst>
          </a:prstGeom>
          <a:solidFill>
            <a:srgbClr val="2ECC71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996432" y="5300587"/>
            <a:ext cx="10039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6BE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완료 (4주차)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47750" y="6162600"/>
            <a:ext cx="3146971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238250" y="5772075"/>
            <a:ext cx="28603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 현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4194721" y="6162600"/>
            <a:ext cx="1573411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309021" y="5772075"/>
            <a:ext cx="12686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5768132" y="6162600"/>
            <a:ext cx="346204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958632" y="5776838"/>
            <a:ext cx="1156395" cy="285750"/>
          </a:xfrm>
          <a:prstGeom prst="roundRect">
            <a:avLst>
              <a:gd name="adj" fmla="val 50000"/>
            </a:avLst>
          </a:prstGeom>
          <a:solidFill>
            <a:srgbClr val="2ECC71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009879" y="5810175"/>
            <a:ext cx="10420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6BE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완료 (10주차)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47750" y="6172125"/>
            <a:ext cx="3146971" cy="504825"/>
          </a:xfrm>
          <a:prstGeom prst="rect">
            <a:avLst/>
          </a:prstGeom>
          <a:solidFill>
            <a:srgbClr val="4A90D9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47750" y="6667425"/>
            <a:ext cx="3146971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238250" y="6276900"/>
            <a:ext cx="28603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275" dirty="0"/>
          </a:p>
        </p:txBody>
      </p:sp>
      <p:sp>
        <p:nvSpPr>
          <p:cNvPr id="39" name="Shape 37"/>
          <p:cNvSpPr/>
          <p:nvPr/>
        </p:nvSpPr>
        <p:spPr>
          <a:xfrm>
            <a:off x="4194721" y="6172125"/>
            <a:ext cx="1573411" cy="504825"/>
          </a:xfrm>
          <a:prstGeom prst="rect">
            <a:avLst/>
          </a:prstGeom>
          <a:solidFill>
            <a:srgbClr val="4A90D9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194721" y="6667425"/>
            <a:ext cx="1573411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309021" y="6276900"/>
            <a:ext cx="12686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275" dirty="0"/>
          </a:p>
        </p:txBody>
      </p:sp>
      <p:sp>
        <p:nvSpPr>
          <p:cNvPr id="42" name="Shape 40"/>
          <p:cNvSpPr/>
          <p:nvPr/>
        </p:nvSpPr>
        <p:spPr>
          <a:xfrm>
            <a:off x="5768132" y="6172125"/>
            <a:ext cx="3462040" cy="504825"/>
          </a:xfrm>
          <a:prstGeom prst="rect">
            <a:avLst/>
          </a:prstGeom>
          <a:solidFill>
            <a:srgbClr val="4A90D9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5768132" y="6667425"/>
            <a:ext cx="346204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958632" y="6281663"/>
            <a:ext cx="1653629" cy="285750"/>
          </a:xfrm>
          <a:prstGeom prst="roundRect">
            <a:avLst>
              <a:gd name="adj" fmla="val 50000"/>
            </a:avLst>
          </a:prstGeom>
          <a:solidFill>
            <a:srgbClr val="F39C12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003280" y="6315000"/>
            <a:ext cx="16089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FF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현재 — </a:t>
            </a:r>
            <a:r>
              <a:rPr lang="ko-KR" altLang="en-US" sz="1050" b="1" kern="0" spc="21" dirty="0">
                <a:solidFill>
                  <a:srgbClr val="FF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</a:t>
            </a:r>
            <a:r>
              <a:rPr lang="en-US" sz="1050" b="1" kern="0" spc="21" dirty="0">
                <a:solidFill>
                  <a:srgbClr val="FF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 </a:t>
            </a:r>
            <a:r>
              <a:rPr lang="ko-KR" altLang="en-US" sz="1050" b="1" kern="0" spc="21" dirty="0">
                <a:solidFill>
                  <a:srgbClr val="FF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r>
              <a:rPr lang="en-US" sz="1050" b="1" kern="0" spc="21" dirty="0">
                <a:solidFill>
                  <a:srgbClr val="FF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진행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47750" y="7172250"/>
            <a:ext cx="3146971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1238250" y="6781725"/>
            <a:ext cx="28603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 포</a:t>
            </a:r>
            <a:endParaRPr lang="en-US" sz="1275" dirty="0"/>
          </a:p>
        </p:txBody>
      </p:sp>
      <p:sp>
        <p:nvSpPr>
          <p:cNvPr id="48" name="Shape 46"/>
          <p:cNvSpPr/>
          <p:nvPr/>
        </p:nvSpPr>
        <p:spPr>
          <a:xfrm>
            <a:off x="4194721" y="7172250"/>
            <a:ext cx="1573411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309021" y="6781725"/>
            <a:ext cx="12686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275" dirty="0"/>
          </a:p>
        </p:txBody>
      </p:sp>
      <p:sp>
        <p:nvSpPr>
          <p:cNvPr id="50" name="Shape 48"/>
          <p:cNvSpPr/>
          <p:nvPr/>
        </p:nvSpPr>
        <p:spPr>
          <a:xfrm>
            <a:off x="5768132" y="7172250"/>
            <a:ext cx="346204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9801671" y="3567633"/>
            <a:ext cx="76617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5차 발표 신규 완료 항목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0068371" y="4043883"/>
            <a:ext cx="739503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인증 시스템 </a:t>
            </a: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로그인 / 회원가입 / 세션 (72h)</a:t>
            </a:r>
            <a:endParaRPr lang="en-US" sz="1425" dirty="0"/>
          </a:p>
        </p:txBody>
      </p:sp>
      <p:sp>
        <p:nvSpPr>
          <p:cNvPr id="55" name="Text 53"/>
          <p:cNvSpPr/>
          <p:nvPr/>
        </p:nvSpPr>
        <p:spPr>
          <a:xfrm>
            <a:off x="10068371" y="4448695"/>
            <a:ext cx="739503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화면 </a:t>
            </a: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통계 · 편집 · 비밀번호 · 계정 삭제</a:t>
            </a:r>
            <a:endParaRPr lang="en-US" sz="1425" dirty="0"/>
          </a:p>
        </p:txBody>
      </p:sp>
      <p:sp>
        <p:nvSpPr>
          <p:cNvPr id="56" name="Text 54"/>
          <p:cNvSpPr/>
          <p:nvPr/>
        </p:nvSpPr>
        <p:spPr>
          <a:xfrm>
            <a:off x="10068371" y="4853508"/>
            <a:ext cx="739503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구독 플랜 화면 </a:t>
            </a: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Free / Pro / Team 비교</a:t>
            </a:r>
            <a:endParaRPr lang="en-US" sz="1425" dirty="0"/>
          </a:p>
        </p:txBody>
      </p:sp>
      <p:sp>
        <p:nvSpPr>
          <p:cNvPr id="57" name="Text 55"/>
          <p:cNvSpPr/>
          <p:nvPr/>
        </p:nvSpPr>
        <p:spPr>
          <a:xfrm>
            <a:off x="10068371" y="5258320"/>
            <a:ext cx="739503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백그라운드 노트 생성 </a:t>
            </a: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다른 탭 자유 이동</a:t>
            </a:r>
            <a:endParaRPr lang="en-US" sz="1425" dirty="0"/>
          </a:p>
        </p:txBody>
      </p:sp>
      <p:sp>
        <p:nvSpPr>
          <p:cNvPr id="58" name="Text 56"/>
          <p:cNvSpPr/>
          <p:nvPr/>
        </p:nvSpPr>
        <p:spPr>
          <a:xfrm>
            <a:off x="10068371" y="5663133"/>
            <a:ext cx="739503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외부 배포 </a:t>
            </a: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254" dirty="0">
                <a:solidFill>
                  <a:srgbClr val="CADCFC"/>
                </a:solidFill>
                <a:highlight>
                  <a:srgbClr val="4A90D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lecture-note-2cb6.onrender.com</a:t>
            </a:r>
            <a:endParaRPr lang="en-US" sz="1425" dirty="0"/>
          </a:p>
        </p:txBody>
      </p:sp>
      <p:sp>
        <p:nvSpPr>
          <p:cNvPr id="59" name="Text 57"/>
          <p:cNvSpPr/>
          <p:nvPr/>
        </p:nvSpPr>
        <p:spPr>
          <a:xfrm>
            <a:off x="10068371" y="6067945"/>
            <a:ext cx="739503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테스트 인터뷰 </a:t>
            </a: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5명 (정성 평가)</a:t>
            </a:r>
            <a:endParaRPr lang="en-US" sz="1425" dirty="0"/>
          </a:p>
        </p:txBody>
      </p:sp>
      <p:sp>
        <p:nvSpPr>
          <p:cNvPr id="60" name="Shape 58"/>
          <p:cNvSpPr/>
          <p:nvPr/>
        </p:nvSpPr>
        <p:spPr>
          <a:xfrm>
            <a:off x="9801671" y="6587058"/>
            <a:ext cx="7438579" cy="1227534"/>
          </a:xfrm>
          <a:prstGeom prst="roundRect">
            <a:avLst>
              <a:gd name="adj" fmla="val 9311"/>
            </a:avLst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10049321" y="6796608"/>
            <a:ext cx="715157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0049321" y="7044258"/>
            <a:ext cx="7151577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작업은 </a:t>
            </a:r>
            <a:r>
              <a:rPr lang="en-US" sz="1425" b="1" dirty="0" err="1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</a:t>
            </a:r>
            <a:r>
              <a:rPr lang="en-US" sz="1425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b="1" dirty="0" err="1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</a:t>
            </a:r>
            <a:r>
              <a:rPr lang="en-US" sz="1425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b="1" dirty="0" err="1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</a:t>
            </a:r>
            <a:r>
              <a:rPr lang="en-US" sz="1425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b="1" dirty="0" err="1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안정화</a:t>
            </a: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ko-KR" alt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및 </a:t>
            </a:r>
            <a:r>
              <a:rPr lang="ko-KR" altLang="en-US" sz="1425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어플리케이션 패키징</a:t>
            </a:r>
            <a:r>
              <a:rPr lang="en-US" altLang="ko-KR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13주차 최종 발표까지 진행 예정.</a:t>
            </a:r>
            <a:endParaRPr lang="en-US" sz="1425" dirty="0"/>
          </a:p>
        </p:txBody>
      </p:sp>
      <p:sp>
        <p:nvSpPr>
          <p:cNvPr id="63" name="Shape 61"/>
          <p:cNvSpPr/>
          <p:nvPr/>
        </p:nvSpPr>
        <p:spPr>
          <a:xfrm>
            <a:off x="1047750" y="9620250"/>
            <a:ext cx="16192500" cy="36195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047750" y="9620250"/>
            <a:ext cx="16192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1047750" y="9810750"/>
            <a:ext cx="1370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경영전략 팀 프로젝트</a:t>
            </a:r>
            <a:endParaRPr lang="en-US" sz="1125" dirty="0"/>
          </a:p>
        </p:txBody>
      </p:sp>
      <p:sp>
        <p:nvSpPr>
          <p:cNvPr id="66" name="Text 64"/>
          <p:cNvSpPr/>
          <p:nvPr/>
        </p:nvSpPr>
        <p:spPr>
          <a:xfrm>
            <a:off x="2494062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67" name="Text 65"/>
          <p:cNvSpPr/>
          <p:nvPr/>
        </p:nvSpPr>
        <p:spPr>
          <a:xfrm>
            <a:off x="2686496" y="9810750"/>
            <a:ext cx="8632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9팀 5차 발표</a:t>
            </a:r>
            <a:endParaRPr lang="en-US" sz="1125" dirty="0"/>
          </a:p>
        </p:txBody>
      </p:sp>
      <p:sp>
        <p:nvSpPr>
          <p:cNvPr id="68" name="Text 66"/>
          <p:cNvSpPr/>
          <p:nvPr/>
        </p:nvSpPr>
        <p:spPr>
          <a:xfrm>
            <a:off x="3625900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69" name="Text 67"/>
          <p:cNvSpPr/>
          <p:nvPr/>
        </p:nvSpPr>
        <p:spPr>
          <a:xfrm>
            <a:off x="3818334" y="9801225"/>
            <a:ext cx="612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</a:t>
            </a:r>
            <a:endParaRPr lang="en-US" sz="1125" dirty="0"/>
          </a:p>
        </p:txBody>
      </p:sp>
      <p:sp>
        <p:nvSpPr>
          <p:cNvPr id="70" name="Text 68"/>
          <p:cNvSpPr/>
          <p:nvPr/>
        </p:nvSpPr>
        <p:spPr>
          <a:xfrm>
            <a:off x="16783199" y="9801225"/>
            <a:ext cx="5332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1125" dirty="0"/>
          </a:p>
        </p:txBody>
      </p:sp>
      <p:sp>
        <p:nvSpPr>
          <p:cNvPr id="71" name="Shape 42">
            <a:extLst>
              <a:ext uri="{FF2B5EF4-FFF2-40B4-BE49-F238E27FC236}">
                <a16:creationId xmlns:a16="http://schemas.microsoft.com/office/drawing/2014/main" id="{32D42C94-6A3F-8BA3-5B15-9C473B867915}"/>
              </a:ext>
            </a:extLst>
          </p:cNvPr>
          <p:cNvSpPr/>
          <p:nvPr/>
        </p:nvSpPr>
        <p:spPr>
          <a:xfrm>
            <a:off x="5958632" y="6776963"/>
            <a:ext cx="1653629" cy="285750"/>
          </a:xfrm>
          <a:prstGeom prst="roundRect">
            <a:avLst>
              <a:gd name="adj" fmla="val 50000"/>
            </a:avLst>
          </a:prstGeom>
          <a:solidFill>
            <a:srgbClr val="F39C12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43">
            <a:extLst>
              <a:ext uri="{FF2B5EF4-FFF2-40B4-BE49-F238E27FC236}">
                <a16:creationId xmlns:a16="http://schemas.microsoft.com/office/drawing/2014/main" id="{326995ED-C947-4E03-6966-7766AA2B2C4A}"/>
              </a:ext>
            </a:extLst>
          </p:cNvPr>
          <p:cNvSpPr/>
          <p:nvPr/>
        </p:nvSpPr>
        <p:spPr>
          <a:xfrm>
            <a:off x="6003280" y="6810300"/>
            <a:ext cx="16089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FF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현재 — </a:t>
            </a:r>
            <a:r>
              <a:rPr lang="ko-KR" altLang="en-US" sz="1050" b="1" kern="0" spc="21" dirty="0">
                <a:solidFill>
                  <a:srgbClr val="FF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온라인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DF1F1887-4C4E-8A58-EA27-1E5E52AA8AF8}"/>
              </a:ext>
            </a:extLst>
          </p:cNvPr>
          <p:cNvSpPr/>
          <p:nvPr/>
        </p:nvSpPr>
        <p:spPr>
          <a:xfrm>
            <a:off x="483053" y="2818283"/>
            <a:ext cx="17445718" cy="34015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8583B758-F84E-191A-FE28-E33450F242C8}"/>
              </a:ext>
            </a:extLst>
          </p:cNvPr>
          <p:cNvSpPr/>
          <p:nvPr/>
        </p:nvSpPr>
        <p:spPr>
          <a:xfrm>
            <a:off x="685799" y="2951709"/>
            <a:ext cx="17040225" cy="316419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1047750" y="666750"/>
            <a:ext cx="166782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프로젝트 로드맵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1085850"/>
            <a:ext cx="16678275" cy="679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5차 발표 마일스톤 달성 — </a:t>
            </a:r>
            <a:r>
              <a:rPr lang="en-US" sz="4200" b="1" kern="0" spc="-8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베타 빌드 완성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1861096"/>
            <a:ext cx="166782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-18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4차 알파 빌드(8주차) → 5차 베타 빌드(10주차) → 13주차 최종 런칭 로드맵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2447776"/>
            <a:ext cx="857250" cy="381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894134" y="4400550"/>
            <a:ext cx="13504664" cy="2857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894134" y="4400550"/>
            <a:ext cx="10848975" cy="28575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9735" y="3571875"/>
            <a:ext cx="27796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발표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85192" y="4276725"/>
            <a:ext cx="228600" cy="228600"/>
          </a:xfrm>
          <a:prstGeom prst="ellipse">
            <a:avLst/>
          </a:prstGeom>
          <a:solidFill>
            <a:srgbClr val="4A90D9"/>
          </a:solidFill>
          <a:ln w="38100">
            <a:solidFill>
              <a:srgbClr val="1E2D5A"/>
            </a:solidFill>
            <a:prstDash val="solid"/>
          </a:ln>
          <a:effectLst>
            <a:outerShdw blurRad="101600" dist="50800" dir="16200000" algn="bl" rotWithShape="0">
              <a:srgbClr val="4A90D9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9735" y="4638675"/>
            <a:ext cx="27796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1-2주차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09735" y="4895850"/>
            <a:ext cx="277966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기획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8436" y="3571875"/>
            <a:ext cx="27796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발표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3892" y="4276725"/>
            <a:ext cx="228600" cy="228600"/>
          </a:xfrm>
          <a:prstGeom prst="ellipse">
            <a:avLst/>
          </a:prstGeom>
          <a:solidFill>
            <a:srgbClr val="4A90D9"/>
          </a:solidFill>
          <a:ln w="38100">
            <a:solidFill>
              <a:srgbClr val="1E2D5A"/>
            </a:solidFill>
            <a:prstDash val="solid"/>
          </a:ln>
          <a:effectLst>
            <a:outerShdw blurRad="101600" dist="50800" dir="16200000" algn="bl" rotWithShape="0">
              <a:srgbClr val="4A90D9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08436" y="4638675"/>
            <a:ext cx="27796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3주차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3208436" y="4895850"/>
            <a:ext cx="277966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요구분석 완료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07134" y="3571875"/>
            <a:ext cx="27798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3차 발표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82741" y="4276725"/>
            <a:ext cx="228600" cy="228600"/>
          </a:xfrm>
          <a:prstGeom prst="ellipse">
            <a:avLst/>
          </a:prstGeom>
          <a:solidFill>
            <a:srgbClr val="4A90D9"/>
          </a:solidFill>
          <a:ln w="38100">
            <a:solidFill>
              <a:srgbClr val="1E2D5A"/>
            </a:solidFill>
            <a:prstDash val="solid"/>
          </a:ln>
          <a:effectLst>
            <a:outerShdw blurRad="101600" dist="50800" dir="16200000" algn="bl" rotWithShape="0">
              <a:srgbClr val="4A90D9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907134" y="4638675"/>
            <a:ext cx="27798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5주차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5907134" y="4895850"/>
            <a:ext cx="277981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MVP 완료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05985" y="3571875"/>
            <a:ext cx="27796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4차 발표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81442" y="4276725"/>
            <a:ext cx="228600" cy="228600"/>
          </a:xfrm>
          <a:prstGeom prst="ellipse">
            <a:avLst/>
          </a:prstGeom>
          <a:solidFill>
            <a:srgbClr val="4A90D9"/>
          </a:solidFill>
          <a:ln w="38100">
            <a:solidFill>
              <a:srgbClr val="1E2D5A"/>
            </a:solidFill>
            <a:prstDash val="solid"/>
          </a:ln>
          <a:effectLst>
            <a:outerShdw blurRad="101600" dist="50800" dir="16200000" algn="bl" rotWithShape="0">
              <a:srgbClr val="4A90D9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605985" y="4638675"/>
            <a:ext cx="27796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8주차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8605985" y="4895850"/>
            <a:ext cx="277966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알파 빌드 완료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04686" y="3571875"/>
            <a:ext cx="27796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5차 발표 ★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542042" y="4238625"/>
            <a:ext cx="304800" cy="304800"/>
          </a:xfrm>
          <a:prstGeom prst="ellipse">
            <a:avLst/>
          </a:prstGeom>
          <a:solidFill>
            <a:srgbClr val="CADCFC"/>
          </a:solidFill>
          <a:ln w="38100">
            <a:solidFill>
              <a:srgbClr val="1E2D5A"/>
            </a:solidFill>
            <a:prstDash val="solid"/>
          </a:ln>
          <a:effectLst>
            <a:outerShdw blurRad="101600" dist="50800" dir="16200000" algn="bl" rotWithShape="0">
              <a:srgbClr val="CADCFC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2542042" y="4276725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304686" y="4676775"/>
            <a:ext cx="27796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10주차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1304686" y="4933950"/>
            <a:ext cx="277966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베타 빌드 완료 ★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4003384" y="3571875"/>
            <a:ext cx="27798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발표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278991" y="4276725"/>
            <a:ext cx="228600" cy="228600"/>
          </a:xfrm>
          <a:prstGeom prst="ellipse">
            <a:avLst/>
          </a:prstGeom>
          <a:solidFill>
            <a:srgbClr val="1E2D5A"/>
          </a:solidFill>
          <a:ln w="28575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4003384" y="4638675"/>
            <a:ext cx="27798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13주차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4003384" y="4895850"/>
            <a:ext cx="277981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 반영·앱 패키징 런칭 로드맵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3950" y="7119937"/>
            <a:ext cx="16192500" cy="1781175"/>
          </a:xfrm>
          <a:prstGeom prst="roundRect">
            <a:avLst>
              <a:gd name="adj" fmla="val 7487"/>
            </a:avLst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466850" y="7405687"/>
            <a:ext cx="159719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마일스톤 달성 항목 (4차 → 5차)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466850" y="7872412"/>
            <a:ext cx="2277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732657" y="7872412"/>
            <a:ext cx="37556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인증 시스템 </a:t>
            </a: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데이터를 사용자별로 격리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9391650" y="7872412"/>
            <a:ext cx="2277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657457" y="7872412"/>
            <a:ext cx="33500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+ 구독 플랜 </a:t>
            </a: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서비스로서의 완성도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1466850" y="8310562"/>
            <a:ext cx="2277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732657" y="8310562"/>
            <a:ext cx="33804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백그라운드 노트 생성 </a:t>
            </a: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UX 대기 시간 제거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9391650" y="8310562"/>
            <a:ext cx="2277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9657457" y="8310562"/>
            <a:ext cx="36221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외부 배포 </a:t>
            </a: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누구나 URL로 접속 가능</a:t>
            </a:r>
            <a:endParaRPr lang="en-US" sz="1425" dirty="0"/>
          </a:p>
        </p:txBody>
      </p:sp>
      <p:sp>
        <p:nvSpPr>
          <p:cNvPr id="43" name="Shape 41"/>
          <p:cNvSpPr/>
          <p:nvPr/>
        </p:nvSpPr>
        <p:spPr>
          <a:xfrm>
            <a:off x="1047750" y="9620250"/>
            <a:ext cx="16192500" cy="36195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047750" y="9620250"/>
            <a:ext cx="16192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1047750" y="9810750"/>
            <a:ext cx="1370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경영전략 팀 프로젝트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2494062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2686496" y="9810750"/>
            <a:ext cx="8632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9팀 5차 발표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3625900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3818334" y="9801225"/>
            <a:ext cx="612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16783199" y="9801225"/>
            <a:ext cx="5332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66750"/>
            <a:ext cx="166782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베타 빌드 신규 기능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1085850"/>
            <a:ext cx="16678275" cy="679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알파에서 베타로 — </a:t>
            </a:r>
            <a:r>
              <a:rPr lang="en-US" sz="4200" b="1" kern="0" spc="-8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"혼자 쓸 수 있는 앱"</a:t>
            </a:r>
            <a:r>
              <a:rPr lang="en-US" sz="4200" b="1" kern="0" spc="-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됐다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1861096"/>
            <a:ext cx="166782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-18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4가지 핵심 추가 기능 + 5개 신규 화면 · 10개 신규 API 엔드포인트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2447776"/>
            <a:ext cx="857250" cy="381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47750" y="4653855"/>
            <a:ext cx="3848100" cy="2950666"/>
          </a:xfrm>
          <a:prstGeom prst="roundRect">
            <a:avLst>
              <a:gd name="adj" fmla="val 4519"/>
            </a:avLst>
          </a:prstGeom>
          <a:solidFill>
            <a:srgbClr val="2A3A7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00175" y="5006280"/>
            <a:ext cx="5200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3995589" y="5006280"/>
            <a:ext cx="547836" cy="24765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09889" y="5053905"/>
            <a:ext cx="3954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00175" y="5501580"/>
            <a:ext cx="32375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인증 시스템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00175" y="5987355"/>
            <a:ext cx="3237548" cy="56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이메일+비밀번호 로그인 · 회원가입 2-step · 세션 토큰 72h · 사용자별 데이터 완전 격리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400175" y="6785372"/>
            <a:ext cx="3143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400175" y="6947297"/>
            <a:ext cx="32375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00175" y="7137797"/>
            <a:ext cx="32375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 + salt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62550" y="4653855"/>
            <a:ext cx="3848100" cy="2950666"/>
          </a:xfrm>
          <a:prstGeom prst="roundRect">
            <a:avLst>
              <a:gd name="adj" fmla="val 4519"/>
            </a:avLst>
          </a:prstGeom>
          <a:solidFill>
            <a:srgbClr val="2A3A7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514975" y="5006280"/>
            <a:ext cx="5200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8110389" y="5006280"/>
            <a:ext cx="547836" cy="24765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4689" y="5053905"/>
            <a:ext cx="3954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14975" y="5501580"/>
            <a:ext cx="32375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+ 구독 플랜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514975" y="5987355"/>
            <a:ext cx="3237548" cy="56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통계 · 프로필 편집 · 비밀번호 변경 · 계정 삭제 · Free / Pro / Team 플랜 비교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514975" y="6747272"/>
            <a:ext cx="3143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514975" y="6909197"/>
            <a:ext cx="32375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14975" y="7099697"/>
            <a:ext cx="32375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· 구독 · 언어 설정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77350" y="4653855"/>
            <a:ext cx="3848100" cy="2950666"/>
          </a:xfrm>
          <a:prstGeom prst="roundRect">
            <a:avLst>
              <a:gd name="adj" fmla="val 4519"/>
            </a:avLst>
          </a:prstGeom>
          <a:solidFill>
            <a:srgbClr val="2A3A7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629775" y="5006280"/>
            <a:ext cx="5200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12225189" y="5006280"/>
            <a:ext cx="547836" cy="24765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2339489" y="5053905"/>
            <a:ext cx="3954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29775" y="5501580"/>
            <a:ext cx="32375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백그라운드 노트 생성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629775" y="5987355"/>
            <a:ext cx="3237548" cy="56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노트 생성 중에도 다른 탭 자유 이동 · 완료 시 상단 배너 알림 · 진행률 표시 유지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629775" y="6709172"/>
            <a:ext cx="3143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629775" y="6871097"/>
            <a:ext cx="32375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개선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29775" y="7099697"/>
            <a:ext cx="32375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"무응답 대기" → "병행 탐색"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3392150" y="4653855"/>
            <a:ext cx="3848100" cy="2950666"/>
          </a:xfrm>
          <a:prstGeom prst="roundRect">
            <a:avLst>
              <a:gd name="adj" fmla="val 4519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3735050" y="4996755"/>
            <a:ext cx="5200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700" dirty="0"/>
          </a:p>
        </p:txBody>
      </p:sp>
      <p:sp>
        <p:nvSpPr>
          <p:cNvPr id="35" name="Shape 33"/>
          <p:cNvSpPr/>
          <p:nvPr/>
        </p:nvSpPr>
        <p:spPr>
          <a:xfrm>
            <a:off x="16361569" y="4996755"/>
            <a:ext cx="535781" cy="24765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6475869" y="5044380"/>
            <a:ext cx="3833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1E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3735050" y="5492055"/>
            <a:ext cx="32571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외부 배포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3735050" y="5977830"/>
            <a:ext cx="3257169" cy="56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자동 배포 파이프라인 · 외부 URL로 접속 가능 · 인터뷰 대상자에게 링크 공유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3735050" y="6661547"/>
            <a:ext cx="31623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3735050" y="6823472"/>
            <a:ext cx="325716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3735050" y="7013972"/>
            <a:ext cx="325716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lecture-note-2cb6 .onrender.com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1047750" y="9620250"/>
            <a:ext cx="16192500" cy="36195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047750" y="9620250"/>
            <a:ext cx="16192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047750" y="9810750"/>
            <a:ext cx="1370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경영전략 팀 프로젝트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2494062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2686496" y="9810750"/>
            <a:ext cx="8632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9팀 5차 발표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3625900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3818334" y="9801225"/>
            <a:ext cx="612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16783199" y="9801225"/>
            <a:ext cx="5332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66750"/>
            <a:ext cx="166782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데모 ① — 회원가입 / 로그인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1085850"/>
            <a:ext cx="16678275" cy="679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학기 한 학기, 한 사용자 — </a:t>
            </a:r>
            <a:r>
              <a:rPr lang="en-US" sz="4200" b="1" kern="0" spc="-8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데이터를 분리합니다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1861096"/>
            <a:ext cx="166782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-18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온보딩 → 회원가입 2-step → 로그인. 사용자별 강의·노트를 완전 격리한다.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2447776"/>
            <a:ext cx="857250" cy="381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8950" y="3568081"/>
            <a:ext cx="2266950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77852" y="8053239"/>
            <a:ext cx="7305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온보딩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022872" y="8319939"/>
            <a:ext cx="18405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/ 회원가입 선택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022872" y="8634264"/>
            <a:ext cx="184055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첫 진입 시 분기점</a:t>
            </a:r>
            <a:endParaRPr lang="en-US" sz="1125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92800" y="3568081"/>
            <a:ext cx="2266950" cy="4381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25046" y="8053239"/>
            <a:ext cx="15039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회원가입 Step 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90655" y="8319939"/>
            <a:ext cx="17726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+ 비밀번호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190655" y="8634264"/>
            <a:ext cx="1772692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비밀번호 강도 게이지</a:t>
            </a:r>
            <a:endParaRPr lang="en-US" sz="1125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26650" y="3568081"/>
            <a:ext cx="2266950" cy="4381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458896" y="8053239"/>
            <a:ext cx="15039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회원가입 Step 2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50550" y="8319939"/>
            <a:ext cx="17206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· 전공 · 약관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0350550" y="8634264"/>
            <a:ext cx="1720602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필드 검증 후 가입 완료</a:t>
            </a:r>
            <a:endParaRPr lang="en-US" sz="1125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4160500" y="3568081"/>
            <a:ext cx="2266950" cy="43815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979402" y="8053239"/>
            <a:ext cx="7305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로그인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4484400" y="8319939"/>
            <a:ext cx="17206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로그인 + 찾기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4484400" y="8634264"/>
            <a:ext cx="1720602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 / 비밀번호 찾기 포함</a:t>
            </a:r>
            <a:endParaRPr lang="en-US" sz="1125" dirty="0"/>
          </a:p>
        </p:txBody>
      </p:sp>
      <p:sp>
        <p:nvSpPr>
          <p:cNvPr id="22" name="Shape 16"/>
          <p:cNvSpPr/>
          <p:nvPr/>
        </p:nvSpPr>
        <p:spPr>
          <a:xfrm>
            <a:off x="1047750" y="9620250"/>
            <a:ext cx="16192500" cy="36195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1047750" y="9620250"/>
            <a:ext cx="16192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/>
          <p:nvPr/>
        </p:nvSpPr>
        <p:spPr>
          <a:xfrm>
            <a:off x="1047750" y="9810750"/>
            <a:ext cx="1370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경영전략 팀 프로젝트</a:t>
            </a:r>
            <a:endParaRPr lang="en-US" sz="1125" dirty="0"/>
          </a:p>
        </p:txBody>
      </p:sp>
      <p:sp>
        <p:nvSpPr>
          <p:cNvPr id="25" name="Text 19"/>
          <p:cNvSpPr/>
          <p:nvPr/>
        </p:nvSpPr>
        <p:spPr>
          <a:xfrm>
            <a:off x="2494062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26" name="Text 20"/>
          <p:cNvSpPr/>
          <p:nvPr/>
        </p:nvSpPr>
        <p:spPr>
          <a:xfrm>
            <a:off x="2686496" y="9810750"/>
            <a:ext cx="8632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9팀 5차 발표</a:t>
            </a:r>
            <a:endParaRPr lang="en-US" sz="1125" dirty="0"/>
          </a:p>
        </p:txBody>
      </p:sp>
      <p:sp>
        <p:nvSpPr>
          <p:cNvPr id="27" name="Text 21"/>
          <p:cNvSpPr/>
          <p:nvPr/>
        </p:nvSpPr>
        <p:spPr>
          <a:xfrm>
            <a:off x="3625900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28" name="Text 22"/>
          <p:cNvSpPr/>
          <p:nvPr/>
        </p:nvSpPr>
        <p:spPr>
          <a:xfrm>
            <a:off x="3818334" y="9801225"/>
            <a:ext cx="612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</a:t>
            </a:r>
            <a:endParaRPr lang="en-US" sz="1125" dirty="0"/>
          </a:p>
        </p:txBody>
      </p:sp>
      <p:sp>
        <p:nvSpPr>
          <p:cNvPr id="29" name="Text 23"/>
          <p:cNvSpPr/>
          <p:nvPr/>
        </p:nvSpPr>
        <p:spPr>
          <a:xfrm>
            <a:off x="16783199" y="9801225"/>
            <a:ext cx="5332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66750"/>
            <a:ext cx="166782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데모 ② — 프로필 / 구독 플랜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1085850"/>
            <a:ext cx="16678275" cy="679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화면을 갖췄다 — </a:t>
            </a:r>
            <a:r>
              <a:rPr lang="en-US" sz="4200" b="1" kern="0" spc="-8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서비스로서의 완성도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1861096"/>
            <a:ext cx="166782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-18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 · 편집 · 비밀번호 · 계정 삭제까지 — 계정 라이프사이클 전체를 다룬다.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2447776"/>
            <a:ext cx="857250" cy="381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54126" y="3678758"/>
            <a:ext cx="2159050" cy="419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66554" y="8010376"/>
            <a:ext cx="10801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프로필 화면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437061" y="8277076"/>
            <a:ext cx="15391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 + 편집 + 관리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48326" y="3707333"/>
            <a:ext cx="2159050" cy="419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33829" y="8038951"/>
            <a:ext cx="9338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구독 플랜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207895" y="8305651"/>
            <a:ext cx="15859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Pro · Team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0636151" y="3767584"/>
            <a:ext cx="1905000" cy="457200"/>
          </a:xfrm>
          <a:prstGeom prst="rect">
            <a:avLst/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10636151" y="4205734"/>
            <a:ext cx="1905000" cy="1905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10826651" y="3891409"/>
            <a:ext cx="1600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메뉴</a:t>
            </a:r>
            <a:endParaRPr lang="en-US" sz="1125" dirty="0"/>
          </a:p>
        </p:txBody>
      </p:sp>
      <p:sp>
        <p:nvSpPr>
          <p:cNvPr id="15" name="Shape 11"/>
          <p:cNvSpPr/>
          <p:nvPr/>
        </p:nvSpPr>
        <p:spPr>
          <a:xfrm>
            <a:off x="12541151" y="3767584"/>
            <a:ext cx="4698950" cy="457200"/>
          </a:xfrm>
          <a:prstGeom prst="rect">
            <a:avLst/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12541151" y="4205734"/>
            <a:ext cx="4698950" cy="1905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12731651" y="3891409"/>
            <a:ext cx="44589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</a:t>
            </a:r>
            <a:endParaRPr lang="en-US" sz="1125" dirty="0"/>
          </a:p>
        </p:txBody>
      </p:sp>
      <p:sp>
        <p:nvSpPr>
          <p:cNvPr id="18" name="Shape 14"/>
          <p:cNvSpPr/>
          <p:nvPr/>
        </p:nvSpPr>
        <p:spPr>
          <a:xfrm>
            <a:off x="10636151" y="4677221"/>
            <a:ext cx="1905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10826651" y="4329559"/>
            <a:ext cx="16002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편집</a:t>
            </a:r>
            <a:endParaRPr lang="en-US" sz="1275" dirty="0"/>
          </a:p>
        </p:txBody>
      </p:sp>
      <p:sp>
        <p:nvSpPr>
          <p:cNvPr id="20" name="Shape 16"/>
          <p:cNvSpPr/>
          <p:nvPr/>
        </p:nvSpPr>
        <p:spPr>
          <a:xfrm>
            <a:off x="12541151" y="4677221"/>
            <a:ext cx="46989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12731651" y="4329559"/>
            <a:ext cx="4458919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· 학교 · 전공 변경</a:t>
            </a:r>
            <a:endParaRPr lang="en-US" sz="1275" dirty="0"/>
          </a:p>
        </p:txBody>
      </p:sp>
      <p:sp>
        <p:nvSpPr>
          <p:cNvPr id="22" name="Shape 18"/>
          <p:cNvSpPr/>
          <p:nvPr/>
        </p:nvSpPr>
        <p:spPr>
          <a:xfrm>
            <a:off x="10636151" y="5134421"/>
            <a:ext cx="1905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10826651" y="4791521"/>
            <a:ext cx="1600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 변경</a:t>
            </a:r>
            <a:endParaRPr lang="en-US" sz="1275" dirty="0"/>
          </a:p>
        </p:txBody>
      </p:sp>
      <p:sp>
        <p:nvSpPr>
          <p:cNvPr id="24" name="Shape 20"/>
          <p:cNvSpPr/>
          <p:nvPr/>
        </p:nvSpPr>
        <p:spPr>
          <a:xfrm>
            <a:off x="12541151" y="5134421"/>
            <a:ext cx="46989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12731651" y="4791521"/>
            <a:ext cx="445891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비밀번호 검증 후 갱신</a:t>
            </a:r>
            <a:endParaRPr lang="en-US" sz="1275" dirty="0"/>
          </a:p>
        </p:txBody>
      </p:sp>
      <p:sp>
        <p:nvSpPr>
          <p:cNvPr id="26" name="Shape 22"/>
          <p:cNvSpPr/>
          <p:nvPr/>
        </p:nvSpPr>
        <p:spPr>
          <a:xfrm>
            <a:off x="10636151" y="5591621"/>
            <a:ext cx="1905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10826651" y="5248721"/>
            <a:ext cx="1600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가입 정보 조회</a:t>
            </a:r>
            <a:endParaRPr lang="en-US" sz="1275" dirty="0"/>
          </a:p>
        </p:txBody>
      </p:sp>
      <p:sp>
        <p:nvSpPr>
          <p:cNvPr id="28" name="Shape 24"/>
          <p:cNvSpPr/>
          <p:nvPr/>
        </p:nvSpPr>
        <p:spPr>
          <a:xfrm>
            <a:off x="12541151" y="5591621"/>
            <a:ext cx="46989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/>
          <p:nvPr/>
        </p:nvSpPr>
        <p:spPr>
          <a:xfrm>
            <a:off x="12731651" y="5248721"/>
            <a:ext cx="445891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· 가입일 · 마지막 로그인</a:t>
            </a:r>
            <a:endParaRPr lang="en-US" sz="1275" dirty="0"/>
          </a:p>
        </p:txBody>
      </p:sp>
      <p:sp>
        <p:nvSpPr>
          <p:cNvPr id="30" name="Shape 26"/>
          <p:cNvSpPr/>
          <p:nvPr/>
        </p:nvSpPr>
        <p:spPr>
          <a:xfrm>
            <a:off x="10636151" y="6048821"/>
            <a:ext cx="1905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10826651" y="5705921"/>
            <a:ext cx="1600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 설정</a:t>
            </a:r>
            <a:endParaRPr lang="en-US" sz="1275" dirty="0"/>
          </a:p>
        </p:txBody>
      </p:sp>
      <p:sp>
        <p:nvSpPr>
          <p:cNvPr id="32" name="Shape 28"/>
          <p:cNvSpPr/>
          <p:nvPr/>
        </p:nvSpPr>
        <p:spPr>
          <a:xfrm>
            <a:off x="12541151" y="6048821"/>
            <a:ext cx="46989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/>
          <p:nvPr/>
        </p:nvSpPr>
        <p:spPr>
          <a:xfrm>
            <a:off x="12731651" y="5705921"/>
            <a:ext cx="445891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· 영어 · 일본어 · 중국어</a:t>
            </a:r>
            <a:endParaRPr lang="en-US" sz="1275" dirty="0"/>
          </a:p>
        </p:txBody>
      </p:sp>
      <p:sp>
        <p:nvSpPr>
          <p:cNvPr id="34" name="Shape 30"/>
          <p:cNvSpPr/>
          <p:nvPr/>
        </p:nvSpPr>
        <p:spPr>
          <a:xfrm>
            <a:off x="10636151" y="6506021"/>
            <a:ext cx="1905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/>
          <p:nvPr/>
        </p:nvSpPr>
        <p:spPr>
          <a:xfrm>
            <a:off x="10826651" y="6163121"/>
            <a:ext cx="1600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구독 플랜</a:t>
            </a:r>
            <a:endParaRPr lang="en-US" sz="1275" dirty="0"/>
          </a:p>
        </p:txBody>
      </p:sp>
      <p:sp>
        <p:nvSpPr>
          <p:cNvPr id="36" name="Shape 32"/>
          <p:cNvSpPr/>
          <p:nvPr/>
        </p:nvSpPr>
        <p:spPr>
          <a:xfrm>
            <a:off x="12541151" y="6506021"/>
            <a:ext cx="46989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/>
          <p:nvPr/>
        </p:nvSpPr>
        <p:spPr>
          <a:xfrm>
            <a:off x="12731651" y="6163121"/>
            <a:ext cx="445891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/ Pro / Team 비교 · 변경</a:t>
            </a:r>
            <a:endParaRPr lang="en-US" sz="1275" dirty="0"/>
          </a:p>
        </p:txBody>
      </p:sp>
      <p:sp>
        <p:nvSpPr>
          <p:cNvPr id="38" name="Shape 34"/>
          <p:cNvSpPr/>
          <p:nvPr/>
        </p:nvSpPr>
        <p:spPr>
          <a:xfrm>
            <a:off x="10636151" y="6963221"/>
            <a:ext cx="1905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5"/>
          <p:cNvSpPr/>
          <p:nvPr/>
        </p:nvSpPr>
        <p:spPr>
          <a:xfrm>
            <a:off x="10826651" y="6620321"/>
            <a:ext cx="1600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 삭제</a:t>
            </a:r>
            <a:endParaRPr lang="en-US" sz="1275" dirty="0"/>
          </a:p>
        </p:txBody>
      </p:sp>
      <p:sp>
        <p:nvSpPr>
          <p:cNvPr id="40" name="Shape 36"/>
          <p:cNvSpPr/>
          <p:nvPr/>
        </p:nvSpPr>
        <p:spPr>
          <a:xfrm>
            <a:off x="12541151" y="6963221"/>
            <a:ext cx="46989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7"/>
          <p:cNvSpPr/>
          <p:nvPr/>
        </p:nvSpPr>
        <p:spPr>
          <a:xfrm>
            <a:off x="12731651" y="6620321"/>
            <a:ext cx="445891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· 노트 · 소스 cascade 정리</a:t>
            </a:r>
            <a:endParaRPr lang="en-US" sz="1275" dirty="0"/>
          </a:p>
        </p:txBody>
      </p:sp>
      <p:sp>
        <p:nvSpPr>
          <p:cNvPr id="42" name="Shape 38"/>
          <p:cNvSpPr/>
          <p:nvPr/>
        </p:nvSpPr>
        <p:spPr>
          <a:xfrm>
            <a:off x="10636151" y="7187059"/>
            <a:ext cx="6603950" cy="1303734"/>
          </a:xfrm>
          <a:prstGeom prst="roundRect">
            <a:avLst>
              <a:gd name="adj" fmla="val 8767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9"/>
          <p:cNvSpPr/>
          <p:nvPr/>
        </p:nvSpPr>
        <p:spPr>
          <a:xfrm>
            <a:off x="10902851" y="7415659"/>
            <a:ext cx="62526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9CB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메모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10902851" y="7701409"/>
            <a:ext cx="6252667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프로필은 단순 정보 화면이 </a:t>
            </a:r>
            <a:r>
              <a:rPr lang="en-US" sz="14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아니라</a:t>
            </a: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 err="1">
                <a:solidFill>
                  <a:srgbClr val="9CB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</a:t>
            </a:r>
            <a:r>
              <a:rPr lang="en-US" sz="1425" b="1" dirty="0">
                <a:solidFill>
                  <a:srgbClr val="9CB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라이프사이클 </a:t>
            </a: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— 가입, 사용, 변경, 탈퇴 — 를 다룬다.</a:t>
            </a:r>
            <a:endParaRPr lang="en-US" sz="1425" dirty="0"/>
          </a:p>
        </p:txBody>
      </p:sp>
      <p:sp>
        <p:nvSpPr>
          <p:cNvPr id="45" name="Shape 41"/>
          <p:cNvSpPr/>
          <p:nvPr/>
        </p:nvSpPr>
        <p:spPr>
          <a:xfrm>
            <a:off x="1047750" y="9620250"/>
            <a:ext cx="16192500" cy="36195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2"/>
          <p:cNvSpPr/>
          <p:nvPr/>
        </p:nvSpPr>
        <p:spPr>
          <a:xfrm>
            <a:off x="1047750" y="9620250"/>
            <a:ext cx="16192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3"/>
          <p:cNvSpPr/>
          <p:nvPr/>
        </p:nvSpPr>
        <p:spPr>
          <a:xfrm>
            <a:off x="1047750" y="9810750"/>
            <a:ext cx="1370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경영전략 팀 프로젝트</a:t>
            </a:r>
            <a:endParaRPr lang="en-US" sz="1125" dirty="0"/>
          </a:p>
        </p:txBody>
      </p:sp>
      <p:sp>
        <p:nvSpPr>
          <p:cNvPr id="48" name="Text 44"/>
          <p:cNvSpPr/>
          <p:nvPr/>
        </p:nvSpPr>
        <p:spPr>
          <a:xfrm>
            <a:off x="2494062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49" name="Text 45"/>
          <p:cNvSpPr/>
          <p:nvPr/>
        </p:nvSpPr>
        <p:spPr>
          <a:xfrm>
            <a:off x="2686496" y="9810750"/>
            <a:ext cx="8632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9팀 5차 발표</a:t>
            </a:r>
            <a:endParaRPr lang="en-US" sz="1125" dirty="0"/>
          </a:p>
        </p:txBody>
      </p:sp>
      <p:sp>
        <p:nvSpPr>
          <p:cNvPr id="50" name="Text 46"/>
          <p:cNvSpPr/>
          <p:nvPr/>
        </p:nvSpPr>
        <p:spPr>
          <a:xfrm>
            <a:off x="3625900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51" name="Text 47"/>
          <p:cNvSpPr/>
          <p:nvPr/>
        </p:nvSpPr>
        <p:spPr>
          <a:xfrm>
            <a:off x="3818334" y="9801225"/>
            <a:ext cx="612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</a:t>
            </a:r>
            <a:endParaRPr lang="en-US" sz="1125" dirty="0"/>
          </a:p>
        </p:txBody>
      </p:sp>
      <p:sp>
        <p:nvSpPr>
          <p:cNvPr id="52" name="Text 48"/>
          <p:cNvSpPr/>
          <p:nvPr/>
        </p:nvSpPr>
        <p:spPr>
          <a:xfrm>
            <a:off x="16783199" y="9801225"/>
            <a:ext cx="5332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66750"/>
            <a:ext cx="166782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데모 ③ — 메인 화면 / 강의 등록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1085850"/>
            <a:ext cx="16678275" cy="679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강의계획서 한 장 → </a:t>
            </a:r>
            <a:r>
              <a:rPr lang="en-US" sz="4200" b="1" kern="0" spc="-8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학기 전체의 컨텍스트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1861096"/>
            <a:ext cx="166782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-18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학기 초 1회만 등록. Gemini가 과목명·교수명·주차별 커리큘럼을 자동 추출하여 Step 0로 저장.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2447776"/>
            <a:ext cx="857250" cy="381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9570" y="3489474"/>
            <a:ext cx="240412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298" y="8200876"/>
            <a:ext cx="9338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메인 화면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56234" y="8467576"/>
            <a:ext cx="9940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직후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51711" y="3489474"/>
            <a:ext cx="2404224" cy="4572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85842" y="8200876"/>
            <a:ext cx="15190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강의계획서 업로드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515273" y="8467576"/>
            <a:ext cx="20603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TXT 드래그앤드롭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44000" y="3489474"/>
            <a:ext cx="2404120" cy="4572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70728" y="8200876"/>
            <a:ext cx="9338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등록 완료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299972" y="8467576"/>
            <a:ext cx="20754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과목명 · 교수명 자동 추출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12424321" y="4415284"/>
            <a:ext cx="4815929" cy="1700213"/>
          </a:xfrm>
          <a:prstGeom prst="roundRect">
            <a:avLst>
              <a:gd name="adj" fmla="val 6723"/>
            </a:avLst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12691021" y="4643884"/>
            <a:ext cx="44110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 자동 추출 항목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2577673" y="4967734"/>
            <a:ext cx="4472077" cy="957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과목명 · 교수명 · 학기</a:t>
            </a:r>
            <a:endParaRPr lang="en-US" sz="1275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주차별 강의 주제 (16주차)</a:t>
            </a:r>
            <a:endParaRPr lang="en-US" sz="1275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개념 사전 · 시험 출제 포인트</a:t>
            </a:r>
            <a:endParaRPr lang="en-US" sz="1275" dirty="0"/>
          </a:p>
        </p:txBody>
      </p:sp>
      <p:sp>
        <p:nvSpPr>
          <p:cNvPr id="18" name="Shape 13"/>
          <p:cNvSpPr/>
          <p:nvPr/>
        </p:nvSpPr>
        <p:spPr>
          <a:xfrm>
            <a:off x="12424321" y="6305996"/>
            <a:ext cx="4815929" cy="1537097"/>
          </a:xfrm>
          <a:prstGeom prst="roundRect">
            <a:avLst>
              <a:gd name="adj" fmla="val 7436"/>
            </a:avLst>
          </a:prstGeom>
          <a:solidFill>
            <a:srgbClr val="1E3A7A"/>
          </a:solidFill>
          <a:ln w="9525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12700546" y="6544121"/>
            <a:ext cx="439138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Step 0인가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2700546" y="6829871"/>
            <a:ext cx="4391384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노트 생성 시 </a:t>
            </a:r>
            <a:r>
              <a:rPr lang="en-US" sz="1275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맥락으로 자동 주입</a:t>
            </a: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단순 요약이 아니라 </a:t>
            </a: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과목 전체 흐름 안에서 이번 주의 위치를 이해한 </a:t>
            </a: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노트가 만들어진다.</a:t>
            </a:r>
            <a:endParaRPr lang="en-US" sz="1275" dirty="0"/>
          </a:p>
        </p:txBody>
      </p:sp>
      <p:sp>
        <p:nvSpPr>
          <p:cNvPr id="21" name="Text 16"/>
          <p:cNvSpPr/>
          <p:nvPr/>
        </p:nvSpPr>
        <p:spPr>
          <a:xfrm>
            <a:off x="12700546" y="7462093"/>
            <a:ext cx="43913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RAG의 simplified 버전</a:t>
            </a:r>
            <a:endParaRPr lang="en-US" sz="975" dirty="0"/>
          </a:p>
        </p:txBody>
      </p:sp>
      <p:sp>
        <p:nvSpPr>
          <p:cNvPr id="22" name="Shape 17"/>
          <p:cNvSpPr/>
          <p:nvPr/>
        </p:nvSpPr>
        <p:spPr>
          <a:xfrm>
            <a:off x="1047750" y="9620250"/>
            <a:ext cx="16192500" cy="36195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1047750" y="9620250"/>
            <a:ext cx="16192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/>
          <p:nvPr/>
        </p:nvSpPr>
        <p:spPr>
          <a:xfrm>
            <a:off x="1047750" y="9810750"/>
            <a:ext cx="1370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경영전략 팀 프로젝트</a:t>
            </a:r>
            <a:endParaRPr lang="en-US" sz="1125" dirty="0"/>
          </a:p>
        </p:txBody>
      </p:sp>
      <p:sp>
        <p:nvSpPr>
          <p:cNvPr id="25" name="Text 20"/>
          <p:cNvSpPr/>
          <p:nvPr/>
        </p:nvSpPr>
        <p:spPr>
          <a:xfrm>
            <a:off x="2494062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26" name="Text 21"/>
          <p:cNvSpPr/>
          <p:nvPr/>
        </p:nvSpPr>
        <p:spPr>
          <a:xfrm>
            <a:off x="2686496" y="9810750"/>
            <a:ext cx="8632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9팀 5차 발표</a:t>
            </a:r>
            <a:endParaRPr lang="en-US" sz="1125" dirty="0"/>
          </a:p>
        </p:txBody>
      </p:sp>
      <p:sp>
        <p:nvSpPr>
          <p:cNvPr id="27" name="Text 22"/>
          <p:cNvSpPr/>
          <p:nvPr/>
        </p:nvSpPr>
        <p:spPr>
          <a:xfrm>
            <a:off x="3625900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28" name="Text 23"/>
          <p:cNvSpPr/>
          <p:nvPr/>
        </p:nvSpPr>
        <p:spPr>
          <a:xfrm>
            <a:off x="3818334" y="9801225"/>
            <a:ext cx="612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</a:t>
            </a:r>
            <a:endParaRPr lang="en-US" sz="1125" dirty="0"/>
          </a:p>
        </p:txBody>
      </p:sp>
      <p:sp>
        <p:nvSpPr>
          <p:cNvPr id="29" name="Text 24"/>
          <p:cNvSpPr/>
          <p:nvPr/>
        </p:nvSpPr>
        <p:spPr>
          <a:xfrm>
            <a:off x="16783199" y="9801225"/>
            <a:ext cx="5332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66750"/>
            <a:ext cx="166782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데모 ④ — 노트 생성 → 조회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1085850"/>
            <a:ext cx="16678275" cy="1321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반복되는 핵심 </a:t>
            </a:r>
            <a:r>
              <a:rPr lang="en-US" sz="4200" b="1" kern="0" spc="-84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흐름</a:t>
            </a:r>
            <a:r>
              <a:rPr lang="en-US" sz="4200" b="1" kern="0" spc="-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4200" b="1" kern="0" spc="-8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입력 → 5단계 파이프라인 → 실시간 스트리밍 노트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2502991"/>
            <a:ext cx="166782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-18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스트리밍 + Step 0 컨텍스트 주입 + 백그라운드 처리. 4차 알파 빌드의 핵심 기능 유지.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3089672"/>
            <a:ext cx="857250" cy="381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55093" y="3829347"/>
            <a:ext cx="2470398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12330" y="8521898"/>
            <a:ext cx="9338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입력 단계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57536" y="8788598"/>
            <a:ext cx="14434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· 녹음 · 자료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61050" y="3857922"/>
            <a:ext cx="2470398" cy="4572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31780" y="8550473"/>
            <a:ext cx="17067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생성 중 (백그라운드)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31780" y="8817173"/>
            <a:ext cx="17067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 · SSE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67006" y="3829347"/>
            <a:ext cx="2470398" cy="4572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24243" y="8521898"/>
            <a:ext cx="9338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노트 조회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052322" y="8788598"/>
            <a:ext cx="16777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강의별 · 주차별 정리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865620" y="4554736"/>
            <a:ext cx="55357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57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 (5단계)</a:t>
            </a:r>
            <a:endParaRPr lang="en-US" sz="1425" dirty="0"/>
          </a:p>
        </p:txBody>
      </p:sp>
      <p:sp>
        <p:nvSpPr>
          <p:cNvPr id="16" name="Shape 11"/>
          <p:cNvSpPr/>
          <p:nvPr/>
        </p:nvSpPr>
        <p:spPr>
          <a:xfrm>
            <a:off x="11865620" y="4973836"/>
            <a:ext cx="5374481" cy="552450"/>
          </a:xfrm>
          <a:prstGeom prst="roundRect">
            <a:avLst>
              <a:gd name="adj" fmla="val 17241"/>
            </a:avLst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12037070" y="5107186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12037070" y="5107186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12456170" y="5154811"/>
            <a:ext cx="39954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Ingestion</a:t>
            </a:r>
            <a:endParaRPr lang="en-US" sz="1275" dirty="0"/>
          </a:p>
        </p:txBody>
      </p:sp>
      <p:sp>
        <p:nvSpPr>
          <p:cNvPr id="20" name="Text 15"/>
          <p:cNvSpPr/>
          <p:nvPr/>
        </p:nvSpPr>
        <p:spPr>
          <a:xfrm>
            <a:off x="16468576" y="5178623"/>
            <a:ext cx="6762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m4a / mp3</a:t>
            </a:r>
            <a:endParaRPr lang="en-US" sz="975" dirty="0"/>
          </a:p>
        </p:txBody>
      </p:sp>
      <p:sp>
        <p:nvSpPr>
          <p:cNvPr id="21" name="Shape 16"/>
          <p:cNvSpPr/>
          <p:nvPr/>
        </p:nvSpPr>
        <p:spPr>
          <a:xfrm>
            <a:off x="11865620" y="5678686"/>
            <a:ext cx="5374481" cy="552450"/>
          </a:xfrm>
          <a:prstGeom prst="roundRect">
            <a:avLst>
              <a:gd name="adj" fmla="val 17241"/>
            </a:avLst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12037070" y="5812036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12037070" y="5812036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2456170" y="5859661"/>
            <a:ext cx="37894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Speech-to-Text</a:t>
            </a:r>
            <a:endParaRPr lang="en-US" sz="1275" dirty="0"/>
          </a:p>
        </p:txBody>
      </p:sp>
      <p:sp>
        <p:nvSpPr>
          <p:cNvPr id="25" name="Text 20"/>
          <p:cNvSpPr/>
          <p:nvPr/>
        </p:nvSpPr>
        <p:spPr>
          <a:xfrm>
            <a:off x="16268551" y="5883473"/>
            <a:ext cx="8763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Audio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11865620" y="6383536"/>
            <a:ext cx="5374481" cy="552450"/>
          </a:xfrm>
          <a:prstGeom prst="roundRect">
            <a:avLst>
              <a:gd name="adj" fmla="val 17241"/>
            </a:avLst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12037070" y="6516886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12037070" y="6516886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12456170" y="6564511"/>
            <a:ext cx="36520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Aggregation</a:t>
            </a:r>
            <a:endParaRPr lang="en-US" sz="1275" dirty="0"/>
          </a:p>
        </p:txBody>
      </p:sp>
      <p:sp>
        <p:nvSpPr>
          <p:cNvPr id="30" name="Text 25"/>
          <p:cNvSpPr/>
          <p:nvPr/>
        </p:nvSpPr>
        <p:spPr>
          <a:xfrm>
            <a:off x="16135201" y="6588323"/>
            <a:ext cx="10096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asyncio.gather</a:t>
            </a:r>
            <a:endParaRPr lang="en-US" sz="975" dirty="0"/>
          </a:p>
        </p:txBody>
      </p:sp>
      <p:sp>
        <p:nvSpPr>
          <p:cNvPr id="31" name="Shape 26"/>
          <p:cNvSpPr/>
          <p:nvPr/>
        </p:nvSpPr>
        <p:spPr>
          <a:xfrm>
            <a:off x="11865620" y="7088386"/>
            <a:ext cx="5374481" cy="552450"/>
          </a:xfrm>
          <a:prstGeom prst="roundRect">
            <a:avLst>
              <a:gd name="adj" fmla="val 17241"/>
            </a:avLst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12037070" y="7221736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/>
          <p:nvPr/>
        </p:nvSpPr>
        <p:spPr>
          <a:xfrm>
            <a:off x="12037070" y="7221736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12456170" y="7269361"/>
            <a:ext cx="39267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 Context Injection</a:t>
            </a:r>
            <a:endParaRPr lang="en-US" sz="1275" dirty="0"/>
          </a:p>
        </p:txBody>
      </p:sp>
      <p:sp>
        <p:nvSpPr>
          <p:cNvPr id="35" name="Text 30"/>
          <p:cNvSpPr/>
          <p:nvPr/>
        </p:nvSpPr>
        <p:spPr>
          <a:xfrm>
            <a:off x="16401901" y="7293173"/>
            <a:ext cx="7429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강의계획서</a:t>
            </a:r>
            <a:endParaRPr lang="en-US" sz="975" dirty="0"/>
          </a:p>
        </p:txBody>
      </p:sp>
      <p:sp>
        <p:nvSpPr>
          <p:cNvPr id="36" name="Shape 31"/>
          <p:cNvSpPr/>
          <p:nvPr/>
        </p:nvSpPr>
        <p:spPr>
          <a:xfrm>
            <a:off x="11865620" y="7793236"/>
            <a:ext cx="5374481" cy="552450"/>
          </a:xfrm>
          <a:prstGeom prst="roundRect">
            <a:avLst>
              <a:gd name="adj" fmla="val 17241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2"/>
          <p:cNvSpPr/>
          <p:nvPr/>
        </p:nvSpPr>
        <p:spPr>
          <a:xfrm>
            <a:off x="12037070" y="7926586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3"/>
          <p:cNvSpPr/>
          <p:nvPr/>
        </p:nvSpPr>
        <p:spPr>
          <a:xfrm>
            <a:off x="12037070" y="7926586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12456170" y="7974211"/>
            <a:ext cx="35931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Generation</a:t>
            </a:r>
            <a:endParaRPr lang="en-US" sz="1275" dirty="0"/>
          </a:p>
        </p:txBody>
      </p:sp>
      <p:sp>
        <p:nvSpPr>
          <p:cNvPr id="40" name="Text 35"/>
          <p:cNvSpPr/>
          <p:nvPr/>
        </p:nvSpPr>
        <p:spPr>
          <a:xfrm>
            <a:off x="16078051" y="7998023"/>
            <a:ext cx="10668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CB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 Streaming</a:t>
            </a:r>
            <a:endParaRPr lang="en-US" sz="975" dirty="0"/>
          </a:p>
        </p:txBody>
      </p:sp>
      <p:sp>
        <p:nvSpPr>
          <p:cNvPr id="41" name="Shape 36"/>
          <p:cNvSpPr/>
          <p:nvPr/>
        </p:nvSpPr>
        <p:spPr>
          <a:xfrm>
            <a:off x="1047750" y="9620250"/>
            <a:ext cx="16192500" cy="36195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/>
          <p:cNvSpPr/>
          <p:nvPr/>
        </p:nvSpPr>
        <p:spPr>
          <a:xfrm>
            <a:off x="1047750" y="9620250"/>
            <a:ext cx="16192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/>
          <p:nvPr/>
        </p:nvSpPr>
        <p:spPr>
          <a:xfrm>
            <a:off x="1047750" y="9810750"/>
            <a:ext cx="1370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경영전략 팀 프로젝트</a:t>
            </a:r>
            <a:endParaRPr lang="en-US" sz="1125" dirty="0"/>
          </a:p>
        </p:txBody>
      </p:sp>
      <p:sp>
        <p:nvSpPr>
          <p:cNvPr id="44" name="Text 39"/>
          <p:cNvSpPr/>
          <p:nvPr/>
        </p:nvSpPr>
        <p:spPr>
          <a:xfrm>
            <a:off x="2494062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45" name="Text 40"/>
          <p:cNvSpPr/>
          <p:nvPr/>
        </p:nvSpPr>
        <p:spPr>
          <a:xfrm>
            <a:off x="2686496" y="9810750"/>
            <a:ext cx="8632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9팀 5차 발표</a:t>
            </a:r>
            <a:endParaRPr lang="en-US" sz="1125" dirty="0"/>
          </a:p>
        </p:txBody>
      </p:sp>
      <p:sp>
        <p:nvSpPr>
          <p:cNvPr id="46" name="Text 41"/>
          <p:cNvSpPr/>
          <p:nvPr/>
        </p:nvSpPr>
        <p:spPr>
          <a:xfrm>
            <a:off x="3625900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47" name="Text 42"/>
          <p:cNvSpPr/>
          <p:nvPr/>
        </p:nvSpPr>
        <p:spPr>
          <a:xfrm>
            <a:off x="3818334" y="9801225"/>
            <a:ext cx="612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</a:t>
            </a:r>
            <a:endParaRPr lang="en-US" sz="1125" dirty="0"/>
          </a:p>
        </p:txBody>
      </p:sp>
      <p:sp>
        <p:nvSpPr>
          <p:cNvPr id="48" name="Text 43"/>
          <p:cNvSpPr/>
          <p:nvPr/>
        </p:nvSpPr>
        <p:spPr>
          <a:xfrm>
            <a:off x="16783199" y="9801225"/>
            <a:ext cx="5332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66750"/>
            <a:ext cx="166782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사용자 피드백 &amp; 반영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1085850"/>
            <a:ext cx="16678275" cy="679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사용자 인터뷰 — </a:t>
            </a:r>
            <a:r>
              <a:rPr lang="en-US" sz="4200" b="1" kern="0" spc="-8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반영 완료 또는 로드맵 포함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1861096"/>
            <a:ext cx="166782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-18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배포 URL로 실사용 후 인터뷰. 가장 자주 나온 5가지 의견.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2447776"/>
            <a:ext cx="857250" cy="381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47750" y="2828776"/>
            <a:ext cx="3933825" cy="1133475"/>
          </a:xfrm>
          <a:prstGeom prst="roundRect">
            <a:avLst>
              <a:gd name="adj" fmla="val 10084"/>
            </a:avLst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7750" y="2828776"/>
            <a:ext cx="38100" cy="1133475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95400" y="2981176"/>
            <a:ext cx="35809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인터뷰이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323975" y="3282741"/>
            <a:ext cx="31774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613148" y="3362176"/>
            <a:ext cx="2165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5400" y="3628876"/>
            <a:ext cx="35809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사용자 정성 평가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5133975" y="2828776"/>
            <a:ext cx="3933825" cy="1133475"/>
          </a:xfrm>
          <a:prstGeom prst="roundRect">
            <a:avLst>
              <a:gd name="adj" fmla="val 10084"/>
            </a:avLst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133975" y="2828776"/>
            <a:ext cx="38100" cy="1133475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81625" y="2981176"/>
            <a:ext cx="35809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의견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435248" y="3282741"/>
            <a:ext cx="31774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5699373" y="3362176"/>
            <a:ext cx="2165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81625" y="3628876"/>
            <a:ext cx="35809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내용 제외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9220200" y="2828776"/>
            <a:ext cx="3933825" cy="1133475"/>
          </a:xfrm>
          <a:prstGeom prst="roundRect">
            <a:avLst>
              <a:gd name="adj" fmla="val 10084"/>
            </a:avLst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220200" y="2828776"/>
            <a:ext cx="38100" cy="1133475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467850" y="2981176"/>
            <a:ext cx="35809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6BE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반영·유지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9521473" y="3309372"/>
            <a:ext cx="31774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9785598" y="3362176"/>
            <a:ext cx="2165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67850" y="3628876"/>
            <a:ext cx="35809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강점 유지 + 즉시 반영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13306425" y="2828776"/>
            <a:ext cx="3933825" cy="1133475"/>
          </a:xfrm>
          <a:prstGeom prst="roundRect">
            <a:avLst>
              <a:gd name="adj" fmla="val 10084"/>
            </a:avLst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3306425" y="2828776"/>
            <a:ext cx="38100" cy="1133475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554075" y="2981176"/>
            <a:ext cx="35809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FF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3607698" y="3255374"/>
            <a:ext cx="31774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13871823" y="3362176"/>
            <a:ext cx="2165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554075" y="3628876"/>
            <a:ext cx="35809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발표까지 완료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1047750" y="4152751"/>
            <a:ext cx="1524000" cy="457200"/>
          </a:xfrm>
          <a:prstGeom prst="rect">
            <a:avLst/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47750" y="4590901"/>
            <a:ext cx="1524000" cy="1905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238250" y="4276576"/>
            <a:ext cx="1219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2571750" y="4152751"/>
            <a:ext cx="1905000" cy="457200"/>
          </a:xfrm>
          <a:prstGeom prst="rect">
            <a:avLst/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2571750" y="4590901"/>
            <a:ext cx="1905000" cy="1905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762250" y="4276576"/>
            <a:ext cx="1600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응답자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4476750" y="4152751"/>
            <a:ext cx="8382000" cy="457200"/>
          </a:xfrm>
          <a:prstGeom prst="rect">
            <a:avLst/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476750" y="4590901"/>
            <a:ext cx="8382000" cy="1905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667250" y="4276576"/>
            <a:ext cx="82524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 요약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12858750" y="4152751"/>
            <a:ext cx="4381500" cy="457200"/>
          </a:xfrm>
          <a:prstGeom prst="rect">
            <a:avLst/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2858750" y="4590901"/>
            <a:ext cx="4381500" cy="1905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3049250" y="4276576"/>
            <a:ext cx="41319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반영 상태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1047750" y="5300514"/>
            <a:ext cx="1524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238250" y="4824264"/>
            <a:ext cx="675382" cy="276225"/>
          </a:xfrm>
          <a:prstGeom prst="roundRect">
            <a:avLst>
              <a:gd name="adj" fmla="val 50000"/>
            </a:avLst>
          </a:prstGeom>
          <a:solidFill>
            <a:srgbClr val="2ECC71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352550" y="4871889"/>
            <a:ext cx="5229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6BE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강점</a:t>
            </a:r>
            <a:endParaRPr lang="en-US" sz="975" dirty="0"/>
          </a:p>
        </p:txBody>
      </p:sp>
      <p:sp>
        <p:nvSpPr>
          <p:cNvPr id="45" name="Shape 43"/>
          <p:cNvSpPr/>
          <p:nvPr/>
        </p:nvSpPr>
        <p:spPr>
          <a:xfrm>
            <a:off x="2571750" y="5300514"/>
            <a:ext cx="1905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2762250" y="4714726"/>
            <a:ext cx="160020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이O헌 · 이O택 · 안O민</a:t>
            </a:r>
            <a:endParaRPr lang="en-US" sz="1275" dirty="0"/>
          </a:p>
        </p:txBody>
      </p:sp>
      <p:sp>
        <p:nvSpPr>
          <p:cNvPr id="47" name="Shape 45"/>
          <p:cNvSpPr/>
          <p:nvPr/>
        </p:nvSpPr>
        <p:spPr>
          <a:xfrm>
            <a:off x="4476750" y="5300514"/>
            <a:ext cx="8382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667250" y="4714726"/>
            <a:ext cx="825246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하단 탭 구조가 직관적이고, 모바일 앱 형태라 처음 써도 쉽게 이해됨</a:t>
            </a:r>
            <a:endParaRPr lang="en-US" sz="1275" dirty="0"/>
          </a:p>
        </p:txBody>
      </p:sp>
      <p:sp>
        <p:nvSpPr>
          <p:cNvPr id="49" name="Shape 47"/>
          <p:cNvSpPr/>
          <p:nvPr/>
        </p:nvSpPr>
        <p:spPr>
          <a:xfrm>
            <a:off x="12858750" y="5300514"/>
            <a:ext cx="4381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13049250" y="4714726"/>
            <a:ext cx="4131945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강점 유지 </a:t>
            </a: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하단 탭 / 모바일 앱 구조 베타에도 유지</a:t>
            </a:r>
            <a:endParaRPr lang="en-US" sz="1275" dirty="0"/>
          </a:p>
        </p:txBody>
      </p:sp>
      <p:sp>
        <p:nvSpPr>
          <p:cNvPr id="51" name="Shape 49"/>
          <p:cNvSpPr/>
          <p:nvPr/>
        </p:nvSpPr>
        <p:spPr>
          <a:xfrm>
            <a:off x="1047750" y="5795814"/>
            <a:ext cx="1524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238250" y="5419576"/>
            <a:ext cx="731193" cy="276225"/>
          </a:xfrm>
          <a:prstGeom prst="roundRect">
            <a:avLst>
              <a:gd name="adj" fmla="val 50000"/>
            </a:avLst>
          </a:prstGeom>
          <a:solidFill>
            <a:srgbClr val="2ECC71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352550" y="5467201"/>
            <a:ext cx="5787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6BE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강점</a:t>
            </a:r>
            <a:endParaRPr lang="en-US" sz="975" dirty="0"/>
          </a:p>
        </p:txBody>
      </p:sp>
      <p:sp>
        <p:nvSpPr>
          <p:cNvPr id="54" name="Shape 52"/>
          <p:cNvSpPr/>
          <p:nvPr/>
        </p:nvSpPr>
        <p:spPr>
          <a:xfrm>
            <a:off x="2571750" y="5795814"/>
            <a:ext cx="1905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2762250" y="5414814"/>
            <a:ext cx="1600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소O규 · 오O정</a:t>
            </a:r>
            <a:endParaRPr lang="en-US" sz="1275" dirty="0"/>
          </a:p>
        </p:txBody>
      </p:sp>
      <p:sp>
        <p:nvSpPr>
          <p:cNvPr id="56" name="Shape 54"/>
          <p:cNvSpPr/>
          <p:nvPr/>
        </p:nvSpPr>
        <p:spPr>
          <a:xfrm>
            <a:off x="4476750" y="5795814"/>
            <a:ext cx="8382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667250" y="5414814"/>
            <a:ext cx="82524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문제 자동 생성이 가장 유용 — 대학 수업은 문제집이 없어서 셀프 점검 도구가 부재함</a:t>
            </a:r>
            <a:endParaRPr lang="en-US" sz="1275" dirty="0"/>
          </a:p>
        </p:txBody>
      </p:sp>
      <p:sp>
        <p:nvSpPr>
          <p:cNvPr id="58" name="Shape 56"/>
          <p:cNvSpPr/>
          <p:nvPr/>
        </p:nvSpPr>
        <p:spPr>
          <a:xfrm>
            <a:off x="12858750" y="5795814"/>
            <a:ext cx="4381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13049250" y="5414814"/>
            <a:ext cx="41319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강점 유지 </a:t>
            </a: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Self-Exam 섹션 고정 (서술 2 + 객관 3)</a:t>
            </a:r>
            <a:endParaRPr lang="en-US" sz="1275" dirty="0"/>
          </a:p>
        </p:txBody>
      </p:sp>
      <p:sp>
        <p:nvSpPr>
          <p:cNvPr id="60" name="Shape 58"/>
          <p:cNvSpPr/>
          <p:nvPr/>
        </p:nvSpPr>
        <p:spPr>
          <a:xfrm>
            <a:off x="1047750" y="6291114"/>
            <a:ext cx="1524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238250" y="5914876"/>
            <a:ext cx="791766" cy="276225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352550" y="5962501"/>
            <a:ext cx="6393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명확화</a:t>
            </a:r>
            <a:endParaRPr lang="en-US" sz="975" dirty="0"/>
          </a:p>
        </p:txBody>
      </p:sp>
      <p:sp>
        <p:nvSpPr>
          <p:cNvPr id="63" name="Shape 61"/>
          <p:cNvSpPr/>
          <p:nvPr/>
        </p:nvSpPr>
        <p:spPr>
          <a:xfrm>
            <a:off x="2571750" y="6291114"/>
            <a:ext cx="1905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2762250" y="5910114"/>
            <a:ext cx="1600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이O택</a:t>
            </a:r>
            <a:endParaRPr lang="en-US" sz="1275" dirty="0"/>
          </a:p>
        </p:txBody>
      </p:sp>
      <p:sp>
        <p:nvSpPr>
          <p:cNvPr id="65" name="Shape 63"/>
          <p:cNvSpPr/>
          <p:nvPr/>
        </p:nvSpPr>
        <p:spPr>
          <a:xfrm>
            <a:off x="4476750" y="6291114"/>
            <a:ext cx="8382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4667250" y="5910114"/>
            <a:ext cx="82524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'강의 등록'과 '노트 생성' 차이가 처음엔 와닿지 않음 — 학기 1회 vs 매주 반복</a:t>
            </a:r>
            <a:endParaRPr lang="en-US" sz="1275" dirty="0"/>
          </a:p>
        </p:txBody>
      </p:sp>
      <p:sp>
        <p:nvSpPr>
          <p:cNvPr id="67" name="Shape 65"/>
          <p:cNvSpPr/>
          <p:nvPr/>
        </p:nvSpPr>
        <p:spPr>
          <a:xfrm>
            <a:off x="12858750" y="6291114"/>
            <a:ext cx="4381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13049250" y="5910114"/>
            <a:ext cx="41319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반영 완료 </a:t>
            </a: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Step 0 배지 + '학기 초 1회' 라벨 추가</a:t>
            </a:r>
            <a:endParaRPr lang="en-US" sz="1275" dirty="0"/>
          </a:p>
        </p:txBody>
      </p:sp>
      <p:sp>
        <p:nvSpPr>
          <p:cNvPr id="69" name="Shape 67"/>
          <p:cNvSpPr/>
          <p:nvPr/>
        </p:nvSpPr>
        <p:spPr>
          <a:xfrm>
            <a:off x="1047750" y="6786414"/>
            <a:ext cx="1524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1238250" y="6410176"/>
            <a:ext cx="731193" cy="276225"/>
          </a:xfrm>
          <a:prstGeom prst="roundRect">
            <a:avLst>
              <a:gd name="adj" fmla="val 50000"/>
            </a:avLst>
          </a:prstGeom>
          <a:solidFill>
            <a:srgbClr val="F39C12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1352550" y="6457801"/>
            <a:ext cx="5787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FF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요청</a:t>
            </a:r>
            <a:endParaRPr lang="en-US" sz="975" dirty="0"/>
          </a:p>
        </p:txBody>
      </p:sp>
      <p:sp>
        <p:nvSpPr>
          <p:cNvPr id="72" name="Shape 70"/>
          <p:cNvSpPr/>
          <p:nvPr/>
        </p:nvSpPr>
        <p:spPr>
          <a:xfrm>
            <a:off x="2571750" y="6786414"/>
            <a:ext cx="1905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2762250" y="6405414"/>
            <a:ext cx="1600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이O헌 · 오O정</a:t>
            </a:r>
            <a:endParaRPr lang="en-US" sz="1275" dirty="0"/>
          </a:p>
        </p:txBody>
      </p:sp>
      <p:sp>
        <p:nvSpPr>
          <p:cNvPr id="74" name="Shape 72"/>
          <p:cNvSpPr/>
          <p:nvPr/>
        </p:nvSpPr>
        <p:spPr>
          <a:xfrm>
            <a:off x="4476750" y="6786414"/>
            <a:ext cx="8382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4667250" y="6405414"/>
            <a:ext cx="82524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다크모드에서 일부 화면 색 대비가 약함</a:t>
            </a:r>
            <a:endParaRPr lang="en-US" sz="1275" dirty="0"/>
          </a:p>
        </p:txBody>
      </p:sp>
      <p:sp>
        <p:nvSpPr>
          <p:cNvPr id="76" name="Shape 74"/>
          <p:cNvSpPr/>
          <p:nvPr/>
        </p:nvSpPr>
        <p:spPr>
          <a:xfrm>
            <a:off x="12858750" y="6786414"/>
            <a:ext cx="4381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13049250" y="6405414"/>
            <a:ext cx="41319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⟳ 진행 중 </a:t>
            </a: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색 토큰 재정의 · 최종 발표까지 완료</a:t>
            </a:r>
            <a:endParaRPr lang="en-US" sz="1275" dirty="0"/>
          </a:p>
        </p:txBody>
      </p:sp>
      <p:sp>
        <p:nvSpPr>
          <p:cNvPr id="78" name="Shape 76"/>
          <p:cNvSpPr/>
          <p:nvPr/>
        </p:nvSpPr>
        <p:spPr>
          <a:xfrm>
            <a:off x="1047750" y="7281714"/>
            <a:ext cx="1524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238250" y="6905476"/>
            <a:ext cx="731193" cy="276225"/>
          </a:xfrm>
          <a:prstGeom prst="roundRect">
            <a:avLst>
              <a:gd name="adj" fmla="val 50000"/>
            </a:avLst>
          </a:prstGeom>
          <a:solidFill>
            <a:srgbClr val="F39C12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1352550" y="6953101"/>
            <a:ext cx="5787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FF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요청</a:t>
            </a:r>
            <a:endParaRPr lang="en-US" sz="975" dirty="0"/>
          </a:p>
        </p:txBody>
      </p:sp>
      <p:sp>
        <p:nvSpPr>
          <p:cNvPr id="81" name="Shape 79"/>
          <p:cNvSpPr/>
          <p:nvPr/>
        </p:nvSpPr>
        <p:spPr>
          <a:xfrm>
            <a:off x="2571750" y="7281714"/>
            <a:ext cx="1905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2762250" y="6900714"/>
            <a:ext cx="1600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이O헌 · 안O민</a:t>
            </a:r>
            <a:endParaRPr lang="en-US" sz="1275" dirty="0"/>
          </a:p>
        </p:txBody>
      </p:sp>
      <p:sp>
        <p:nvSpPr>
          <p:cNvPr id="83" name="Shape 81"/>
          <p:cNvSpPr/>
          <p:nvPr/>
        </p:nvSpPr>
        <p:spPr>
          <a:xfrm>
            <a:off x="4476750" y="7281714"/>
            <a:ext cx="8382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4667250" y="6900714"/>
            <a:ext cx="82524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수업자료·녹음 파일 복수 업로드가 제한적임</a:t>
            </a:r>
            <a:endParaRPr lang="en-US" sz="1275" dirty="0"/>
          </a:p>
        </p:txBody>
      </p:sp>
      <p:sp>
        <p:nvSpPr>
          <p:cNvPr id="85" name="Shape 83"/>
          <p:cNvSpPr/>
          <p:nvPr/>
        </p:nvSpPr>
        <p:spPr>
          <a:xfrm>
            <a:off x="12858750" y="7281714"/>
            <a:ext cx="4381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13049250" y="6900714"/>
            <a:ext cx="41319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⟳ 진행 중 </a:t>
            </a:r>
            <a:r>
              <a:rPr lang="en-US" sz="1275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백엔드 list 입력 지원, 프론트 UI 추가 중</a:t>
            </a:r>
            <a:endParaRPr lang="en-US" sz="1275" dirty="0"/>
          </a:p>
        </p:txBody>
      </p:sp>
      <p:sp>
        <p:nvSpPr>
          <p:cNvPr id="87" name="Shape 85"/>
          <p:cNvSpPr/>
          <p:nvPr/>
        </p:nvSpPr>
        <p:spPr>
          <a:xfrm>
            <a:off x="1047750" y="7524601"/>
            <a:ext cx="16192500" cy="823913"/>
          </a:xfrm>
          <a:prstGeom prst="roundRect">
            <a:avLst>
              <a:gd name="adj" fmla="val 16185"/>
            </a:avLst>
          </a:prstGeom>
          <a:solidFill>
            <a:srgbClr val="1E3A7A"/>
          </a:solidFill>
          <a:ln w="9525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1323975" y="7727007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1428750" y="7788920"/>
            <a:ext cx="285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90" name="Text 88"/>
          <p:cNvSpPr/>
          <p:nvPr/>
        </p:nvSpPr>
        <p:spPr>
          <a:xfrm>
            <a:off x="1971675" y="7705576"/>
            <a:ext cx="154421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13주차 최종 발표에서 공유 예정</a:t>
            </a:r>
            <a:endParaRPr lang="en-US" sz="975" dirty="0"/>
          </a:p>
        </p:txBody>
      </p:sp>
      <p:sp>
        <p:nvSpPr>
          <p:cNvPr id="91" name="Text 89"/>
          <p:cNvSpPr/>
          <p:nvPr/>
        </p:nvSpPr>
        <p:spPr>
          <a:xfrm>
            <a:off x="1971675" y="7924651"/>
            <a:ext cx="1544212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입력 (칠판 OCR) · 키워드 검색 · 다크모드 보정 · 복수 파일 업로드 — 개선 완료 결과 공유</a:t>
            </a:r>
            <a:endParaRPr lang="en-US" sz="1275" dirty="0"/>
          </a:p>
        </p:txBody>
      </p:sp>
      <p:sp>
        <p:nvSpPr>
          <p:cNvPr id="92" name="Shape 90"/>
          <p:cNvSpPr/>
          <p:nvPr/>
        </p:nvSpPr>
        <p:spPr>
          <a:xfrm>
            <a:off x="1047750" y="9620250"/>
            <a:ext cx="16192500" cy="36195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1047750" y="9620250"/>
            <a:ext cx="16192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/>
          <p:nvPr/>
        </p:nvSpPr>
        <p:spPr>
          <a:xfrm>
            <a:off x="1047750" y="9810750"/>
            <a:ext cx="1370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경영전략 팀 프로젝트</a:t>
            </a:r>
            <a:endParaRPr lang="en-US" sz="1125" dirty="0"/>
          </a:p>
        </p:txBody>
      </p:sp>
      <p:sp>
        <p:nvSpPr>
          <p:cNvPr id="95" name="Text 93"/>
          <p:cNvSpPr/>
          <p:nvPr/>
        </p:nvSpPr>
        <p:spPr>
          <a:xfrm>
            <a:off x="2494062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96" name="Text 94"/>
          <p:cNvSpPr/>
          <p:nvPr/>
        </p:nvSpPr>
        <p:spPr>
          <a:xfrm>
            <a:off x="2686496" y="9810750"/>
            <a:ext cx="8632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9팀 5차 발표</a:t>
            </a:r>
            <a:endParaRPr lang="en-US" sz="1125" dirty="0"/>
          </a:p>
        </p:txBody>
      </p:sp>
      <p:sp>
        <p:nvSpPr>
          <p:cNvPr id="97" name="Text 95"/>
          <p:cNvSpPr/>
          <p:nvPr/>
        </p:nvSpPr>
        <p:spPr>
          <a:xfrm>
            <a:off x="3625900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98" name="Text 96"/>
          <p:cNvSpPr/>
          <p:nvPr/>
        </p:nvSpPr>
        <p:spPr>
          <a:xfrm>
            <a:off x="3818334" y="9801225"/>
            <a:ext cx="612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</a:t>
            </a:r>
            <a:endParaRPr lang="en-US" sz="1125" dirty="0"/>
          </a:p>
        </p:txBody>
      </p:sp>
      <p:sp>
        <p:nvSpPr>
          <p:cNvPr id="99" name="Text 97"/>
          <p:cNvSpPr/>
          <p:nvPr/>
        </p:nvSpPr>
        <p:spPr>
          <a:xfrm>
            <a:off x="16783199" y="9801225"/>
            <a:ext cx="5332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66750"/>
            <a:ext cx="166782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4차 대비 개선점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1085850"/>
            <a:ext cx="16678275" cy="679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 — </a:t>
            </a:r>
            <a:r>
              <a:rPr lang="en-US" sz="4200" b="1" kern="0" spc="-8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계층 추가 + 배포 인프라 완성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1861096"/>
            <a:ext cx="166782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-18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엔드포인트 9개 → 19개로 확장. 사용자별 데이터 격리 + Render 외부 배포 파이프라인 구축.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2447776"/>
            <a:ext cx="857250" cy="381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47750" y="2828776"/>
            <a:ext cx="4495800" cy="1209675"/>
          </a:xfrm>
          <a:prstGeom prst="roundRect">
            <a:avLst>
              <a:gd name="adj" fmla="val 9449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57300" y="2981176"/>
            <a:ext cx="419900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엔드포인트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57300" y="3381226"/>
            <a:ext cx="2034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strike="sngStrike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79798" y="3419326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65548" y="3219301"/>
            <a:ext cx="63534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2419945" y="3447901"/>
            <a:ext cx="362545" cy="200025"/>
          </a:xfrm>
          <a:prstGeom prst="roundRect">
            <a:avLst>
              <a:gd name="adj" fmla="val 28571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496145" y="3476476"/>
            <a:ext cx="2863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257300" y="3705076"/>
            <a:ext cx="419900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인증·세션·프로필 API 신규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5695950" y="2828776"/>
            <a:ext cx="3746450" cy="1209675"/>
          </a:xfrm>
          <a:prstGeom prst="roundRect">
            <a:avLst>
              <a:gd name="adj" fmla="val 9449"/>
            </a:avLst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695950" y="2828776"/>
            <a:ext cx="38100" cy="1209675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43600" y="2981176"/>
            <a:ext cx="338792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계층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943600" y="3219301"/>
            <a:ext cx="338792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5943600" y="3619351"/>
            <a:ext cx="338792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· 배포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9594800" y="2828776"/>
            <a:ext cx="3746450" cy="1209675"/>
          </a:xfrm>
          <a:prstGeom prst="roundRect">
            <a:avLst>
              <a:gd name="adj" fmla="val 9449"/>
            </a:avLst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594800" y="2828776"/>
            <a:ext cx="38100" cy="1209675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842450" y="2981176"/>
            <a:ext cx="338792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DB 테이블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9842450" y="3219301"/>
            <a:ext cx="338792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9842450" y="3619351"/>
            <a:ext cx="338792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· 세션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13493651" y="2828776"/>
            <a:ext cx="3746599" cy="1209675"/>
          </a:xfrm>
          <a:prstGeom prst="roundRect">
            <a:avLst>
              <a:gd name="adj" fmla="val 9449"/>
            </a:avLst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3493651" y="2828776"/>
            <a:ext cx="38100" cy="1209675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741301" y="2981176"/>
            <a:ext cx="338808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6BE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화면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3741301" y="3219301"/>
            <a:ext cx="338808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13741301" y="3619351"/>
            <a:ext cx="338808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로그인·가입·프로필·구독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1047750" y="4228951"/>
            <a:ext cx="2095500" cy="447675"/>
          </a:xfrm>
          <a:prstGeom prst="rect">
            <a:avLst/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047750" y="4657576"/>
            <a:ext cx="2095500" cy="1905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238250" y="4352776"/>
            <a:ext cx="17907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143250" y="4228951"/>
            <a:ext cx="3429000" cy="447675"/>
          </a:xfrm>
          <a:prstGeom prst="rect">
            <a:avLst/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143250" y="4657576"/>
            <a:ext cx="3429000" cy="1905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333750" y="4352776"/>
            <a:ext cx="31508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72250" y="4228951"/>
            <a:ext cx="9429750" cy="447675"/>
          </a:xfrm>
          <a:prstGeom prst="rect">
            <a:avLst/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572250" y="4657576"/>
            <a:ext cx="9429750" cy="1905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762750" y="4352776"/>
            <a:ext cx="933164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6002000" y="4228951"/>
            <a:ext cx="1238250" cy="447675"/>
          </a:xfrm>
          <a:prstGeom prst="rect">
            <a:avLst/>
          </a:prstGeom>
          <a:solidFill>
            <a:srgbClr val="152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6002000" y="4657576"/>
            <a:ext cx="1238250" cy="1905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6116300" y="4352776"/>
            <a:ext cx="9334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kern="0" spc="1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47750" y="5119539"/>
            <a:ext cx="2095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1238250" y="4781401"/>
            <a:ext cx="17907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143250" y="5119539"/>
            <a:ext cx="3429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333750" y="4781401"/>
            <a:ext cx="315087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2.5-flash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572250" y="5119539"/>
            <a:ext cx="94297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762750" y="4781401"/>
            <a:ext cx="933164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노트 생성 · STT 음성 변환 · 강의계획서 분석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6002000" y="5119539"/>
            <a:ext cx="1238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6116300" y="4781401"/>
            <a:ext cx="9334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47750" y="5567214"/>
            <a:ext cx="2095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1238250" y="5233839"/>
            <a:ext cx="1790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143250" y="5567214"/>
            <a:ext cx="3429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3333750" y="5233839"/>
            <a:ext cx="31508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Python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572250" y="5567214"/>
            <a:ext cx="94297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6762750" y="5233839"/>
            <a:ext cx="93316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· SSE 스트리밍 · </a:t>
            </a: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엔드포인트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6002000" y="5567214"/>
            <a:ext cx="1238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6713250" y="5271939"/>
            <a:ext cx="336500" cy="17145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6713250" y="5300514"/>
            <a:ext cx="260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825" b="1" kern="0" spc="1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825" dirty="0"/>
          </a:p>
        </p:txBody>
      </p:sp>
      <p:sp>
        <p:nvSpPr>
          <p:cNvPr id="58" name="Shape 56"/>
          <p:cNvSpPr/>
          <p:nvPr/>
        </p:nvSpPr>
        <p:spPr>
          <a:xfrm>
            <a:off x="1047750" y="6014889"/>
            <a:ext cx="2095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1238250" y="5681514"/>
            <a:ext cx="1790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143250" y="6014889"/>
            <a:ext cx="3429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3333750" y="5681514"/>
            <a:ext cx="31508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SQLAlchemy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572250" y="6014889"/>
            <a:ext cx="94297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6762750" y="5681514"/>
            <a:ext cx="93316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· 노트 · 소스 + </a:t>
            </a: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· 세션 테이블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6002000" y="6014889"/>
            <a:ext cx="1238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6773674" y="5719614"/>
            <a:ext cx="276076" cy="17145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16773674" y="5748189"/>
            <a:ext cx="19987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825" b="1" kern="0" spc="1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825" dirty="0"/>
          </a:p>
        </p:txBody>
      </p:sp>
      <p:sp>
        <p:nvSpPr>
          <p:cNvPr id="67" name="Shape 65"/>
          <p:cNvSpPr/>
          <p:nvPr/>
        </p:nvSpPr>
        <p:spPr>
          <a:xfrm>
            <a:off x="1047750" y="6024414"/>
            <a:ext cx="16192500" cy="447675"/>
          </a:xfrm>
          <a:prstGeom prst="rect">
            <a:avLst/>
          </a:prstGeom>
          <a:solidFill>
            <a:srgbClr val="4A90D9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1047750" y="6462564"/>
            <a:ext cx="2095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1238250" y="6129189"/>
            <a:ext cx="1790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</a:t>
            </a:r>
            <a:r>
              <a:rPr lang="en-US" sz="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143250" y="6462564"/>
            <a:ext cx="3429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3333750" y="6129189"/>
            <a:ext cx="31508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SHA256 + salt · localStorage 토큰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572250" y="6462564"/>
            <a:ext cx="94297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6762750" y="6129189"/>
            <a:ext cx="93316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72h 세션 · 사용자별 데이터 격리 · 자동 로그인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6002000" y="6462564"/>
            <a:ext cx="1238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6700302" y="6143476"/>
            <a:ext cx="349448" cy="20955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16700302" y="6172051"/>
            <a:ext cx="2732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825" b="1" kern="0" spc="1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</a:t>
            </a:r>
            <a:endParaRPr lang="en-US" sz="825" dirty="0"/>
          </a:p>
        </p:txBody>
      </p:sp>
      <p:sp>
        <p:nvSpPr>
          <p:cNvPr id="77" name="Shape 75"/>
          <p:cNvSpPr/>
          <p:nvPr/>
        </p:nvSpPr>
        <p:spPr>
          <a:xfrm>
            <a:off x="1047750" y="6910239"/>
            <a:ext cx="2095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1238250" y="6576864"/>
            <a:ext cx="1790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처리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143250" y="6910239"/>
            <a:ext cx="3429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3333750" y="6576864"/>
            <a:ext cx="31508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PyMuPDF (fitz)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572250" y="6910239"/>
            <a:ext cx="94297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6762750" y="6576864"/>
            <a:ext cx="93316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→ 텍스트 추출 (강의계획서 · 수업자료)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16002000" y="6910239"/>
            <a:ext cx="1238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16116300" y="6576864"/>
            <a:ext cx="9334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1047750" y="7357914"/>
            <a:ext cx="2095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1238250" y="7024539"/>
            <a:ext cx="1790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3143250" y="7357914"/>
            <a:ext cx="3429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3333750" y="7024539"/>
            <a:ext cx="31508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HTML/CSS/JS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6572250" y="7357914"/>
            <a:ext cx="94297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6762750" y="7024539"/>
            <a:ext cx="93316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파일 SPA · 모바일 430px 셸 · </a:t>
            </a: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신규 화면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16002000" y="7357914"/>
            <a:ext cx="1238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16773674" y="7062639"/>
            <a:ext cx="276076" cy="17145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16773674" y="7091214"/>
            <a:ext cx="19987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825" b="1" kern="0" spc="1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</a:t>
            </a:r>
            <a:endParaRPr lang="en-US" sz="825" dirty="0"/>
          </a:p>
        </p:txBody>
      </p:sp>
      <p:sp>
        <p:nvSpPr>
          <p:cNvPr id="94" name="Shape 92"/>
          <p:cNvSpPr/>
          <p:nvPr/>
        </p:nvSpPr>
        <p:spPr>
          <a:xfrm>
            <a:off x="1047750" y="7805589"/>
            <a:ext cx="2095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1238250" y="7472214"/>
            <a:ext cx="1790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3143250" y="7805589"/>
            <a:ext cx="3429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3333750" y="7472214"/>
            <a:ext cx="31508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marked.js · MediaRecorder API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6572250" y="7805589"/>
            <a:ext cx="94297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/>
          <p:nvPr/>
        </p:nvSpPr>
        <p:spPr>
          <a:xfrm>
            <a:off x="6762750" y="7472214"/>
            <a:ext cx="93316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노트 마크다운 렌더링 · 브라우저 내 원클릭 음성 녹음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16002000" y="7805589"/>
            <a:ext cx="1238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/>
          <p:nvPr/>
        </p:nvSpPr>
        <p:spPr>
          <a:xfrm>
            <a:off x="16116300" y="7472214"/>
            <a:ext cx="9334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1047750" y="7815114"/>
            <a:ext cx="16192500" cy="447675"/>
          </a:xfrm>
          <a:prstGeom prst="rect">
            <a:avLst/>
          </a:prstGeom>
          <a:solidFill>
            <a:srgbClr val="4A90D9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1047750" y="8253264"/>
            <a:ext cx="2095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2"/>
          <p:cNvSpPr/>
          <p:nvPr/>
        </p:nvSpPr>
        <p:spPr>
          <a:xfrm>
            <a:off x="1238250" y="7919889"/>
            <a:ext cx="1790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</a:t>
            </a:r>
            <a:r>
              <a:rPr lang="en-US" sz="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3143250" y="8253264"/>
            <a:ext cx="3429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4"/>
          <p:cNvSpPr/>
          <p:nvPr/>
        </p:nvSpPr>
        <p:spPr>
          <a:xfrm>
            <a:off x="3333750" y="7919889"/>
            <a:ext cx="31508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· GitHub 자동 배포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6572250" y="8253264"/>
            <a:ext cx="94297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06"/>
          <p:cNvSpPr/>
          <p:nvPr/>
        </p:nvSpPr>
        <p:spPr>
          <a:xfrm>
            <a:off x="6762750" y="7919889"/>
            <a:ext cx="93316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URL </a:t>
            </a:r>
            <a:r>
              <a:rPr lang="en-US" sz="1056" dirty="0">
                <a:solidFill>
                  <a:srgbClr val="CADCFC"/>
                </a:solidFill>
                <a:highlight>
                  <a:srgbClr val="4A90D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lecture-note-2cb6.onrender.com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16002000" y="8253264"/>
            <a:ext cx="1238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16700302" y="7934176"/>
            <a:ext cx="349448" cy="20955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9"/>
          <p:cNvSpPr/>
          <p:nvPr/>
        </p:nvSpPr>
        <p:spPr>
          <a:xfrm>
            <a:off x="16700302" y="7962751"/>
            <a:ext cx="2732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825" b="1" kern="0" spc="1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</a:t>
            </a:r>
            <a:endParaRPr lang="en-US" sz="825" dirty="0"/>
          </a:p>
        </p:txBody>
      </p:sp>
      <p:sp>
        <p:nvSpPr>
          <p:cNvPr id="112" name="Shape 110"/>
          <p:cNvSpPr/>
          <p:nvPr/>
        </p:nvSpPr>
        <p:spPr>
          <a:xfrm>
            <a:off x="1047750" y="8486626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4A90D9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1"/>
          <p:cNvSpPr/>
          <p:nvPr/>
        </p:nvSpPr>
        <p:spPr>
          <a:xfrm>
            <a:off x="1314450" y="8477101"/>
            <a:ext cx="25537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5차 신규 계층 </a:t>
            </a: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베타 빌드에서 처음 도입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4058692" y="8486626"/>
            <a:ext cx="293489" cy="17145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3"/>
          <p:cNvSpPr/>
          <p:nvPr/>
        </p:nvSpPr>
        <p:spPr>
          <a:xfrm>
            <a:off x="4134892" y="8515201"/>
            <a:ext cx="21728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+N</a:t>
            </a:r>
            <a:endParaRPr lang="en-US" sz="825" dirty="0"/>
          </a:p>
        </p:txBody>
      </p:sp>
      <p:sp>
        <p:nvSpPr>
          <p:cNvPr id="116" name="Text 114"/>
          <p:cNvSpPr/>
          <p:nvPr/>
        </p:nvSpPr>
        <p:spPr>
          <a:xfrm>
            <a:off x="4447431" y="8477101"/>
            <a:ext cx="21937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변경량 (엔드포인트 · 테이블 · 화면 등)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1047750" y="9620250"/>
            <a:ext cx="16192500" cy="36195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>
            <a:off x="1047750" y="9620250"/>
            <a:ext cx="16192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" name="Text 117"/>
          <p:cNvSpPr/>
          <p:nvPr/>
        </p:nvSpPr>
        <p:spPr>
          <a:xfrm>
            <a:off x="1047750" y="9810750"/>
            <a:ext cx="1370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경영전략 팀 프로젝트</a:t>
            </a:r>
            <a:endParaRPr lang="en-US" sz="1125" dirty="0"/>
          </a:p>
        </p:txBody>
      </p:sp>
      <p:sp>
        <p:nvSpPr>
          <p:cNvPr id="120" name="Text 118"/>
          <p:cNvSpPr/>
          <p:nvPr/>
        </p:nvSpPr>
        <p:spPr>
          <a:xfrm>
            <a:off x="2494062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121" name="Text 119"/>
          <p:cNvSpPr/>
          <p:nvPr/>
        </p:nvSpPr>
        <p:spPr>
          <a:xfrm>
            <a:off x="2686496" y="9810750"/>
            <a:ext cx="8632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9팀 5차 발표</a:t>
            </a:r>
            <a:endParaRPr lang="en-US" sz="1125" dirty="0"/>
          </a:p>
        </p:txBody>
      </p:sp>
      <p:sp>
        <p:nvSpPr>
          <p:cNvPr id="122" name="Text 120"/>
          <p:cNvSpPr/>
          <p:nvPr/>
        </p:nvSpPr>
        <p:spPr>
          <a:xfrm>
            <a:off x="3625900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123" name="Text 121"/>
          <p:cNvSpPr/>
          <p:nvPr/>
        </p:nvSpPr>
        <p:spPr>
          <a:xfrm>
            <a:off x="3818334" y="9801225"/>
            <a:ext cx="612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</a:t>
            </a:r>
            <a:endParaRPr lang="en-US" sz="1125" dirty="0"/>
          </a:p>
        </p:txBody>
      </p:sp>
      <p:sp>
        <p:nvSpPr>
          <p:cNvPr id="124" name="Text 122"/>
          <p:cNvSpPr/>
          <p:nvPr/>
        </p:nvSpPr>
        <p:spPr>
          <a:xfrm>
            <a:off x="16783199" y="9801225"/>
            <a:ext cx="5332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66750"/>
            <a:ext cx="166782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다음 단계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1085850"/>
            <a:ext cx="16678275" cy="679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5차 이후 → </a:t>
            </a:r>
            <a:r>
              <a:rPr lang="en-US" sz="4200" b="1" kern="0" spc="-8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13주차 최종 발표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1861096"/>
            <a:ext cx="166782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-18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 최종 반영 · 앱 패키징과 개선 · 서비스 런칭 로드맵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2447776"/>
            <a:ext cx="857250" cy="381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343150" y="3552676"/>
            <a:ext cx="13601700" cy="19050"/>
          </a:xfrm>
          <a:prstGeom prst="rect">
            <a:avLst/>
          </a:prstGeom>
          <a:solidFill>
            <a:srgbClr val="9AB6FF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7750" y="2828776"/>
            <a:ext cx="5194250" cy="3395663"/>
          </a:xfrm>
          <a:prstGeom prst="roundRect">
            <a:avLst>
              <a:gd name="adj" fmla="val 3927"/>
            </a:avLst>
          </a:prstGeom>
          <a:solidFill>
            <a:srgbClr val="2A3A7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00175" y="2666851"/>
            <a:ext cx="1390799" cy="295275"/>
          </a:xfrm>
          <a:prstGeom prst="roundRect">
            <a:avLst>
              <a:gd name="adj" fmla="val 50000"/>
            </a:avLst>
          </a:prstGeom>
          <a:solidFill>
            <a:srgbClr val="1E2D5A"/>
          </a:solidFill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552575" y="2724001"/>
            <a:ext cx="11621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6월 초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400175" y="3295501"/>
            <a:ext cx="5200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119836" y="3295501"/>
            <a:ext cx="769739" cy="285750"/>
          </a:xfrm>
          <a:prstGeom prst="roundRect">
            <a:avLst>
              <a:gd name="adj" fmla="val 50000"/>
            </a:avLst>
          </a:prstGeom>
          <a:solidFill>
            <a:srgbClr val="F39C12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234136" y="3343126"/>
            <a:ext cx="6173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FF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예정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400175" y="3790801"/>
            <a:ext cx="46240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 최종 반영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66875" y="4314676"/>
            <a:ext cx="435738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다크모드 대비 보정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666875" y="4652814"/>
            <a:ext cx="435738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복수 파일 업로드 UI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666875" y="4990951"/>
            <a:ext cx="435738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사용자 5명 → </a:t>
            </a:r>
            <a:r>
              <a:rPr lang="en-US" sz="1275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15명 </a:t>
            </a: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확대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666875" y="5329089"/>
            <a:ext cx="435738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수업 적용 (이번 주)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666875" y="5667226"/>
            <a:ext cx="435738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사용성·정확도 정량 평가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6546800" y="2828776"/>
            <a:ext cx="5194250" cy="3395663"/>
          </a:xfrm>
          <a:prstGeom prst="roundRect">
            <a:avLst>
              <a:gd name="adj" fmla="val 3927"/>
            </a:avLst>
          </a:prstGeom>
          <a:solidFill>
            <a:srgbClr val="2A3A7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899225" y="2666851"/>
            <a:ext cx="1390799" cy="295275"/>
          </a:xfrm>
          <a:prstGeom prst="roundRect">
            <a:avLst>
              <a:gd name="adj" fmla="val 50000"/>
            </a:avLst>
          </a:prstGeom>
          <a:solidFill>
            <a:srgbClr val="1E2D5A"/>
          </a:solidFill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051625" y="2724001"/>
            <a:ext cx="11621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6월 중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899225" y="3295501"/>
            <a:ext cx="5200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10618887" y="3295501"/>
            <a:ext cx="769739" cy="285750"/>
          </a:xfrm>
          <a:prstGeom prst="roundRect">
            <a:avLst>
              <a:gd name="adj" fmla="val 50000"/>
            </a:avLst>
          </a:prstGeom>
          <a:solidFill>
            <a:srgbClr val="F39C12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0733187" y="3343126"/>
            <a:ext cx="6173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FF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예정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99225" y="3790801"/>
            <a:ext cx="46240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패키징 + 개선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165925" y="4314676"/>
            <a:ext cx="435738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매니페스트 </a:t>
            </a: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홈 화면 설치 · 앱 아이콘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7165925" y="4652814"/>
            <a:ext cx="435738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입력 (칠판 OCR) — Gemini Vision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7165925" y="4990951"/>
            <a:ext cx="435738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노트 키워드 검색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7165925" y="5329089"/>
            <a:ext cx="435738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오픈소스 전환 검토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7165925" y="5667226"/>
            <a:ext cx="435738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구조 재검증 (역마진 해소)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12045851" y="2828776"/>
            <a:ext cx="5194250" cy="3395663"/>
          </a:xfrm>
          <a:prstGeom prst="roundRect">
            <a:avLst>
              <a:gd name="adj" fmla="val 3927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2388751" y="2657326"/>
            <a:ext cx="1692920" cy="257175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2522101" y="2695426"/>
            <a:ext cx="15024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1E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13주차 최종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2388751" y="3285976"/>
            <a:ext cx="5200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00" dirty="0"/>
          </a:p>
        </p:txBody>
      </p:sp>
      <p:sp>
        <p:nvSpPr>
          <p:cNvPr id="35" name="Shape 33"/>
          <p:cNvSpPr/>
          <p:nvPr/>
        </p:nvSpPr>
        <p:spPr>
          <a:xfrm>
            <a:off x="16262598" y="3285976"/>
            <a:ext cx="634603" cy="24765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6376898" y="3333601"/>
            <a:ext cx="4822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1E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2388751" y="3781276"/>
            <a:ext cx="46437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런칭 로드맵 발표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2275403" y="4305151"/>
            <a:ext cx="4697998" cy="1633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런칭 로드맵</a:t>
            </a:r>
            <a:endParaRPr lang="en-US" sz="1275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테스트 사용자 데이터</a:t>
            </a:r>
            <a:endParaRPr lang="en-US" sz="1275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 구조 최종 검증</a:t>
            </a:r>
            <a:endParaRPr lang="en-US" sz="1275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진출 전략</a:t>
            </a:r>
            <a:endParaRPr lang="en-US" sz="1275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파이프라인 확장</a:t>
            </a:r>
            <a:endParaRPr lang="en-US" sz="1275" dirty="0"/>
          </a:p>
        </p:txBody>
      </p:sp>
      <p:sp>
        <p:nvSpPr>
          <p:cNvPr id="39" name="Shape 37"/>
          <p:cNvSpPr/>
          <p:nvPr/>
        </p:nvSpPr>
        <p:spPr>
          <a:xfrm>
            <a:off x="1047750" y="6453039"/>
            <a:ext cx="16192500" cy="2324100"/>
          </a:xfrm>
          <a:prstGeom prst="roundRect">
            <a:avLst>
              <a:gd name="adj" fmla="val 7377"/>
            </a:avLst>
          </a:prstGeom>
          <a:solidFill>
            <a:srgbClr val="152040"/>
          </a:solidFill>
          <a:ln w="9525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476375" y="7197477"/>
            <a:ext cx="86837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476375" y="7492752"/>
            <a:ext cx="8683740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kern="0" spc="-10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감사합니다.</a:t>
            </a:r>
            <a:endParaRPr lang="en-US" sz="4050" dirty="0"/>
          </a:p>
        </p:txBody>
      </p:sp>
      <p:sp>
        <p:nvSpPr>
          <p:cNvPr id="42" name="Shape 40"/>
          <p:cNvSpPr/>
          <p:nvPr/>
        </p:nvSpPr>
        <p:spPr>
          <a:xfrm>
            <a:off x="10326291" y="6767364"/>
            <a:ext cx="6485334" cy="733425"/>
          </a:xfrm>
          <a:prstGeom prst="roundRect">
            <a:avLst>
              <a:gd name="adj" fmla="val 15584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0326291" y="6767364"/>
            <a:ext cx="38100" cy="733425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0573941" y="6919764"/>
            <a:ext cx="620897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573941" y="7138839"/>
            <a:ext cx="620897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lecture-note-2cb6.onrender.com</a:t>
            </a:r>
            <a:endParaRPr lang="en-US" sz="1425" dirty="0"/>
          </a:p>
        </p:txBody>
      </p:sp>
      <p:sp>
        <p:nvSpPr>
          <p:cNvPr id="46" name="Shape 44"/>
          <p:cNvSpPr/>
          <p:nvPr/>
        </p:nvSpPr>
        <p:spPr>
          <a:xfrm>
            <a:off x="10326291" y="7672239"/>
            <a:ext cx="6485334" cy="790575"/>
          </a:xfrm>
          <a:prstGeom prst="roundRect">
            <a:avLst>
              <a:gd name="adj" fmla="val 14458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0326291" y="7672239"/>
            <a:ext cx="38100" cy="790575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0573941" y="7824639"/>
            <a:ext cx="62089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· 경영전략 9팀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573941" y="8053239"/>
            <a:ext cx="62089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이병헌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(팀장) </a:t>
            </a: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김도환 · 최철원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047750" y="9620250"/>
            <a:ext cx="16192500" cy="36195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47750" y="9620250"/>
            <a:ext cx="16192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1047750" y="9810750"/>
            <a:ext cx="1370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경영전략 팀 프로젝트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2494062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2686496" y="9810750"/>
            <a:ext cx="8632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9팀 5차 발표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3625900" y="9801225"/>
            <a:ext cx="116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3818334" y="9801225"/>
            <a:ext cx="612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16783199" y="9801225"/>
            <a:ext cx="5332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1875</Words>
  <Application>Microsoft Office PowerPoint</Application>
  <PresentationFormat>사용자 지정</PresentationFormat>
  <Paragraphs>423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Moira Wide</cp:lastModifiedBy>
  <cp:revision>2</cp:revision>
  <dcterms:created xsi:type="dcterms:W3CDTF">2026-05-25T17:42:11Z</dcterms:created>
  <dcterms:modified xsi:type="dcterms:W3CDTF">2026-05-25T17:51:39Z</dcterms:modified>
</cp:coreProperties>
</file>