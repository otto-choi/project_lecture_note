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1" r:id="rId6"/>
    <p:sldId id="260" r:id="rId7"/>
    <p:sldId id="262" r:id="rId8"/>
    <p:sldId id="267" r:id="rId9"/>
    <p:sldId id="269" r:id="rId10"/>
    <p:sldId id="263" r:id="rId11"/>
    <p:sldId id="264" r:id="rId12"/>
    <p:sldId id="265" r:id="rId13"/>
    <p:sldId id="266"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1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6" autoAdjust="0"/>
    <p:restoredTop sz="84960" autoAdjust="0"/>
  </p:normalViewPr>
  <p:slideViewPr>
    <p:cSldViewPr snapToGrid="0" snapToObjects="1">
      <p:cViewPr varScale="1">
        <p:scale>
          <a:sx n="92" d="100"/>
          <a:sy n="92" d="100"/>
        </p:scale>
        <p:origin x="98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065818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경영전략 9팀입니다.
저희는 강의 녹음, 수업 자료, 개인 필기를 결합해 AI가 자동으로 통합 요약 노트를 생성해주는 서비스 '렉처노트'를 개발하고 있습니다.
이번 3차 발표에서는 지난 발표에서 설계만 완료했던 백엔드를 실제로 구현하고, 엔드-투-엔드 파이프라인이 동작하는 것을 직접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세 파트로 구성됩니다.
첫 번째는 현재 프로젝트 진행 상황, 두 번째는 실제 구현된 백엔드와 파이프라인 시연, 세 번째는 이번 주에 결정한 STT 전략 변경과 그 배경입니다.
마지막에는 '결국 다 Gemini API를 쓰면 왜 우리 서비스인가'라는 질문에 대한 저희의 답도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폭포수 모델의 안정성과 애자일의 유연성을 결합한 하이브리드 방식으로 개발하고 있습니다.
1, 2차 발표를 통해 요구분석과 시스템 설계를 각각 100% 완료했고, 이번 주부터 구현 단계에 본격 진입했습니다.
구현 단계 전체 작업량 중 현재 약 35%를 완료한 상태입니다.
백엔드 API, 데이터베이스, PDF 파서, STT, LLM 연동까지 서버 측 핵심 기능은 모두 동작 확인이 끝났습니다.
남은 65%는 프론트엔드 UI, 서버 배포, 그리고 실사용자 테스트입니다.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화면의 로드맵에서 별표 표시된 위치가 현재 저희 위치입니다. 5주차, 3차 발표 시점입니다.
2차 발표 이후 일정대로 구현 단계에 진입해, 이번 주에 백엔드 MVP를 완성했습니다.
3차 발표 완료 조건으로 설정했던 네 가지 항목 모두 체크했습니다.
다음 목표는 8주차 알파 빌드로, 프론트엔드를 붙여 팀원들이 직접 앱처럼 사용해볼 수 있는 형태를 만드는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화면이 렉처노트의 전체 데이터 흐름입니다.
크게 두 단계로 나뉩니다.
첫 번째 단계는 학기 초 한 번만 하는 강의 등록입니다. 강의계획서 PDF를 업로드하면 Gemini가 전체 커리큘럼을 읽고 "이 과목에서 어떤 개념이 어느 주차에 나오고, 시험에서 어떤 부분이 중요한지"를 미리 분석합니다.
두 번째 단계는 수업이 끝난 후 매주 반복하는 흐름입니다. 강의 녹음, 수업 자료 PDF, 개인 필기, 그리고 방금 만들어둔 Step 0 로드맵, 이 네 가지를 Data Aggregator가 하나로 합칩니다.
이걸 Gemini에 전달하면 5개 섹션으로 구성된 구조화 노트가 생성됩니다.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백엔드에는 세 개의 API 엔드포인트가 구현되어 있습니다.
첫 번째는 강의계획서를 업로드하면 LLM이 전체 커리큘럼을 분석해서 이번 수업이 전체 강의에서 어떤 위치인지 파악하는 Step 0 분석 기능입니다.
두 번째는 실제 수업 날, 음성 파일과 수업 자료 PDF, 그리고 개인 필기를 올리면 통합 요약 노트를 생성해주는 핵심 기능입니다.
세 번째는 생성된 노트를 HTML 파일로 다운로드할 수 있는 기능으로, 브라우저에서 열고 인쇄하면 PDF로 저장됩니다.
세 기능 모두 실제 음성 파일과 PDF로 테스트해서 정상 동작을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화면은 FastAPI가 자동으로 제공하는 Swagger UI입니다. 별도 앱 없이 브라우저에서 바로 API를 테스트할 수 있습니다.
왼쪽에서 강의계획서 PDF를 올리고 강의명을 입력하면, 오른쪽처럼 Gemini가 분석한 강의 로드맵이 응답으로 돌아옵니다.
그다음 수업자료 PDF, 음성 파일, 개인 필기를 함께 올리면, 아래쪽 화면처럼 5섹션 구조화 노트가 JSON으로 반환됩니다.
현재는 개발 편의를 위해 Swagger UI를 사용하고 있고, 8주차 알파 빌드에서는 이 기능들이 일반 사용자가 쓸 수 있는 웹 인터페이스로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32639-8529-7268-97A0-8D6B69FED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4B515-E557-F5BA-C544-7CB1628AE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D38AE-46B3-A7F2-60AF-5F5B4AF2C0AB}"/>
              </a:ext>
            </a:extLst>
          </p:cNvPr>
          <p:cNvSpPr>
            <a:spLocks noGrp="1"/>
          </p:cNvSpPr>
          <p:nvPr>
            <p:ph type="body" idx="1"/>
          </p:nvPr>
        </p:nvSpPr>
        <p:spPr/>
        <p:txBody>
          <a:bodyPr/>
          <a:lstStyle/>
          <a:p>
            <a:r>
              <a:rPr lang="en-US" dirty="0"/>
              <a:t>화면은 FastAPI가 자동으로 제공하는 Swagger UI입니다. 별도 앱 없이 브라우저에서 바로 API를 테스트할 수 있습니다.
왼쪽에서 강의계획서 PDF를 올리고 강의명을 입력하면, 오른쪽처럼 Gemini가 분석한 강의 로드맵이 응답으로 돌아옵니다.
그다음 수업자료 PDF, 음성 파일, 개인 필기를 함께 올리면, 아래쪽 화면처럼 5섹션 구조화 노트가 JSON으로 반환됩니다.
현재는 개발 편의를 위해 Swagger UI를 사용하고 있고, 8주차 알파 빌드에서는 이 기능들이 일반 사용자가 쓸 수 있는 웹 인터페이스로 연결됩니다.</a:t>
            </a:r>
          </a:p>
        </p:txBody>
      </p:sp>
      <p:sp>
        <p:nvSpPr>
          <p:cNvPr id="4" name="Slide Number Placeholder 3">
            <a:extLst>
              <a:ext uri="{FF2B5EF4-FFF2-40B4-BE49-F238E27FC236}">
                <a16:creationId xmlns:a16="http://schemas.microsoft.com/office/drawing/2014/main" id="{C7CD4116-94CE-8C89-C96C-D81BE109E83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77909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AA925-F2DC-1881-69F0-80D325BC8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AE1C1-17D1-BAF2-EEE5-C27002BF5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142A3-B5E2-B361-5D1F-4FAE79982D1B}"/>
              </a:ext>
            </a:extLst>
          </p:cNvPr>
          <p:cNvSpPr>
            <a:spLocks noGrp="1"/>
          </p:cNvSpPr>
          <p:nvPr>
            <p:ph type="body" idx="1"/>
          </p:nvPr>
        </p:nvSpPr>
        <p:spPr/>
        <p:txBody>
          <a:bodyPr/>
          <a:lstStyle/>
          <a:p>
            <a:r>
              <a:rPr lang="en-US" dirty="0"/>
              <a:t>화면은 FastAPI가 자동으로 제공하는 Swagger UI입니다. 별도 앱 없이 브라우저에서 바로 API를 테스트할 수 있습니다.
왼쪽에서 강의계획서 PDF를 올리고 강의명을 입력하면, 오른쪽처럼 Gemini가 분석한 강의 로드맵이 응답으로 돌아옵니다.
그다음 수업자료 PDF, 음성 파일, 개인 필기를 함께 올리면, 아래쪽 화면처럼 5섹션 구조화 노트가 JSON으로 반환됩니다.
현재는 개발 편의를 위해 Swagger UI를 사용하고 있고, 8주차 알파 빌드에서는 이 기능들이 일반 사용자가 쓸 수 있는 웹 인터페이스로 연결됩니다.</a:t>
            </a:r>
          </a:p>
        </p:txBody>
      </p:sp>
      <p:sp>
        <p:nvSpPr>
          <p:cNvPr id="4" name="Slide Number Placeholder 3">
            <a:extLst>
              <a:ext uri="{FF2B5EF4-FFF2-40B4-BE49-F238E27FC236}">
                <a16:creationId xmlns:a16="http://schemas.microsoft.com/office/drawing/2014/main" id="{2CFE46CE-A2CA-F559-8D93-F565CE15886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88698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이것이 실제로 생성된 노트 결과물입니다. 조직행동론 3주차 강의를 테스트에 사용했습니다.
단순히 내용을 요약하는 것이 아니라, 교수님이 음성으로 강조한 부분과 슬라이드 내용을 구분해서 통합하고, 이 수업이 강의계획서상 어떤 의미를 갖는지까지 포함됩니다.
중요도 별점은 Gemini가 Step 0 로드맵을 참고해서 시험 출제 가능성을 반영한 것이고, 맨 아래에는 실제 시험에서 나올 법한 예상 문제가 생성됩니다.
이 결과물은 HTML 파일로 저장되고, 브라우저에서 인쇄하면 PDF로 변환됩니다.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 발표에서 저희는 STT 비용이 전체 원가의 90%를 차지해서 역마진 구조라는 문제를 솔직히 말씀드렸고, 해결 방안으로 Whisper 전환을 언급했습니다.
이번에 그 결정을 한 단계 앞당겼습니다. CLOVA 무료 티어가 개발 중에 소진되면서 실제로 서비스가 멈추는 상황이 발생했고, 이를 계기로 Gemini 멀티모달 STT로 전환했습니다.
Gemini는 음성 파일을 바로 이해할 수 있어서 별도 STT 변환 없이 하나의 API 호출로 처리됩니다.
장기적으로는 Whisper 오픈소스를 자체 서버에 배포해서 STT 비용을 완전히 없앨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사실 이 질문은 저희도 스스로에게 던진 질문입니다. 다 Gemini면 왜 굳이 저희 서비스를 쓰나?
첫 번째는 사용성입니다. 수업 중에 별도 앱 열고, 파일 저장하고, 업로드하는 과정을 거치는 것과, 앱 하나 켜서 녹음 시작 버튼 누르는 것은 완전히 다른 경험입니다.
두 번째는 강의계획서 기반 맥락입니다. 이 개념이 기말고사에서 얼마나 중요한지를 강의계획서를 읽어서 자동으로 처리합니다.
세 번째는 프라이버시입니다. Whisper를 자체 서버에 배포하면, 강의 음성이 Google 서버로 가지 않고 저희 서버에서만 처리됩니다.
네 번째는 포맷입니다. 교수님 강조 포인트를 별도로 분류하고 시험에 나올 법한 문제를 함께 생성해줍니다.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 백엔드 완성으로 저희는 '아이디어를 코드로 증명'하는 단계를 마쳤습니다.
다음 단계는 이 백엔드 위에 일반 사용자가 쓸 수 있는 UI를 붙이는 것입니다.
특히 녹음 기능을 앱 안에 통합하는 것이 8주차 핵심 목표입니다.
10주차에는 저희 팀원이 아닌 외부 사용자, 실제 학생들에게 써보게 하고 피드백을 받겠습니다.
이상으로 렉처노트 3차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A90D9"/>
          </a:solidFill>
          <a:ln/>
        </p:spPr>
        <p:txBody>
          <a:bodyPr/>
          <a:lstStyle/>
          <a:p>
            <a:endParaRPr lang="ko-KR" altLang="en-US"/>
          </a:p>
        </p:txBody>
      </p:sp>
      <p:sp>
        <p:nvSpPr>
          <p:cNvPr id="3" name="Shape 1"/>
          <p:cNvSpPr/>
          <p:nvPr/>
        </p:nvSpPr>
        <p:spPr>
          <a:xfrm flipH="1">
            <a:off x="164592" y="0"/>
            <a:ext cx="1097280" cy="5143500"/>
          </a:xfrm>
          <a:prstGeom prst="rtTriangle">
            <a:avLst/>
          </a:prstGeom>
          <a:solidFill>
            <a:srgbClr val="1E3A7A"/>
          </a:solidFill>
          <a:ln/>
        </p:spPr>
        <p:txBody>
          <a:bodyPr/>
          <a:lstStyle/>
          <a:p>
            <a:endParaRPr lang="ko-KR" altLang="en-US"/>
          </a:p>
        </p:txBody>
      </p:sp>
      <p:sp>
        <p:nvSpPr>
          <p:cNvPr id="4" name="Shape 2"/>
          <p:cNvSpPr/>
          <p:nvPr/>
        </p:nvSpPr>
        <p:spPr>
          <a:xfrm>
            <a:off x="7132320" y="-1097280"/>
            <a:ext cx="3200400" cy="3200400"/>
          </a:xfrm>
          <a:prstGeom prst="ellipse">
            <a:avLst/>
          </a:prstGeom>
          <a:solidFill>
            <a:srgbClr val="4A90D9">
              <a:alpha val="18000"/>
            </a:srgbClr>
          </a:solidFill>
          <a:ln/>
        </p:spPr>
        <p:txBody>
          <a:bodyPr/>
          <a:lstStyle/>
          <a:p>
            <a:endParaRPr lang="ko-KR" altLang="en-US"/>
          </a:p>
        </p:txBody>
      </p:sp>
      <p:sp>
        <p:nvSpPr>
          <p:cNvPr id="5" name="Shape 3"/>
          <p:cNvSpPr/>
          <p:nvPr/>
        </p:nvSpPr>
        <p:spPr>
          <a:xfrm>
            <a:off x="7772400" y="3200400"/>
            <a:ext cx="1828800" cy="1828800"/>
          </a:xfrm>
          <a:prstGeom prst="ellipse">
            <a:avLst/>
          </a:prstGeom>
          <a:solidFill>
            <a:srgbClr val="CADCFC">
              <a:alpha val="12000"/>
            </a:srgbClr>
          </a:solidFill>
          <a:ln/>
        </p:spPr>
        <p:txBody>
          <a:bodyPr/>
          <a:lstStyle/>
          <a:p>
            <a:endParaRPr lang="ko-KR" altLang="en-US"/>
          </a:p>
        </p:txBody>
      </p:sp>
      <p:sp>
        <p:nvSpPr>
          <p:cNvPr id="6" name="Text 4"/>
          <p:cNvSpPr/>
          <p:nvPr/>
        </p:nvSpPr>
        <p:spPr>
          <a:xfrm>
            <a:off x="640080" y="822960"/>
            <a:ext cx="7772400" cy="100584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LectureNote</a:t>
            </a:r>
            <a:endParaRPr lang="en-US" sz="5600" dirty="0"/>
          </a:p>
        </p:txBody>
      </p:sp>
      <p:sp>
        <p:nvSpPr>
          <p:cNvPr id="7" name="Text 5"/>
          <p:cNvSpPr/>
          <p:nvPr/>
        </p:nvSpPr>
        <p:spPr>
          <a:xfrm>
            <a:off x="640080" y="1737360"/>
            <a:ext cx="4572000" cy="594360"/>
          </a:xfrm>
          <a:prstGeom prst="rect">
            <a:avLst/>
          </a:prstGeom>
          <a:noFill/>
          <a:ln/>
        </p:spPr>
        <p:txBody>
          <a:bodyPr wrap="square" lIns="0" tIns="0" rIns="0" bIns="0" rtlCol="0" anchor="ctr"/>
          <a:lstStyle/>
          <a:p>
            <a:pPr marL="0" indent="0">
              <a:buNone/>
            </a:pPr>
            <a:r>
              <a:rPr lang="en-US" sz="2200" b="1" dirty="0">
                <a:solidFill>
                  <a:srgbClr val="CADCFC"/>
                </a:solidFill>
                <a:latin typeface="Calibri" pitchFamily="34" charset="0"/>
                <a:ea typeface="Calibri" pitchFamily="34" charset="-122"/>
                <a:cs typeface="Calibri" pitchFamily="34" charset="-120"/>
              </a:rPr>
              <a:t>렉처노트</a:t>
            </a:r>
            <a:endParaRPr lang="en-US" sz="2200" dirty="0"/>
          </a:p>
        </p:txBody>
      </p:sp>
      <p:sp>
        <p:nvSpPr>
          <p:cNvPr id="8" name="Shape 6"/>
          <p:cNvSpPr/>
          <p:nvPr/>
        </p:nvSpPr>
        <p:spPr>
          <a:xfrm>
            <a:off x="640080" y="2395728"/>
            <a:ext cx="5486400" cy="41148"/>
          </a:xfrm>
          <a:prstGeom prst="rect">
            <a:avLst/>
          </a:prstGeom>
          <a:solidFill>
            <a:srgbClr val="4A90D9"/>
          </a:solidFill>
          <a:ln/>
        </p:spPr>
        <p:txBody>
          <a:bodyPr/>
          <a:lstStyle/>
          <a:p>
            <a:endParaRPr lang="ko-KR" altLang="en-US"/>
          </a:p>
        </p:txBody>
      </p:sp>
      <p:sp>
        <p:nvSpPr>
          <p:cNvPr id="9" name="Text 7"/>
          <p:cNvSpPr/>
          <p:nvPr/>
        </p:nvSpPr>
        <p:spPr>
          <a:xfrm>
            <a:off x="640080" y="2514600"/>
            <a:ext cx="7772400" cy="64008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백엔드 MVP 완성 및 파이프라인 시연</a:t>
            </a:r>
            <a:endParaRPr lang="en-US" sz="2000" dirty="0"/>
          </a:p>
        </p:txBody>
      </p:sp>
      <p:sp>
        <p:nvSpPr>
          <p:cNvPr id="10" name="Shape 8"/>
          <p:cNvSpPr/>
          <p:nvPr/>
        </p:nvSpPr>
        <p:spPr>
          <a:xfrm>
            <a:off x="0" y="4480560"/>
            <a:ext cx="9144000" cy="662940"/>
          </a:xfrm>
          <a:prstGeom prst="rect">
            <a:avLst/>
          </a:prstGeom>
          <a:solidFill>
            <a:srgbClr val="4A90D9"/>
          </a:solidFill>
          <a:ln/>
        </p:spPr>
        <p:txBody>
          <a:bodyPr/>
          <a:lstStyle/>
          <a:p>
            <a:endParaRPr lang="ko-KR" altLang="en-US"/>
          </a:p>
        </p:txBody>
      </p:sp>
      <p:sp>
        <p:nvSpPr>
          <p:cNvPr id="11" name="Text 9"/>
          <p:cNvSpPr/>
          <p:nvPr/>
        </p:nvSpPr>
        <p:spPr>
          <a:xfrm>
            <a:off x="457200" y="4507992"/>
            <a:ext cx="822960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경영전략 9팀  |  </a:t>
            </a:r>
            <a:r>
              <a:rPr lang="en-US" sz="1300" dirty="0" err="1">
                <a:solidFill>
                  <a:srgbClr val="FFFFFF"/>
                </a:solidFill>
                <a:latin typeface="Calibri" pitchFamily="34" charset="0"/>
                <a:ea typeface="Calibri" pitchFamily="34" charset="-122"/>
                <a:cs typeface="Calibri" pitchFamily="34" charset="-120"/>
              </a:rPr>
              <a:t>이병헌</a:t>
            </a:r>
            <a:r>
              <a:rPr lang="en-US" sz="1300" dirty="0">
                <a:solidFill>
                  <a:srgbClr val="FFFFFF"/>
                </a:solidFill>
                <a:latin typeface="Calibri" pitchFamily="34" charset="0"/>
                <a:ea typeface="Calibri" pitchFamily="34" charset="-122"/>
                <a:cs typeface="Calibri" pitchFamily="34" charset="-120"/>
              </a:rPr>
              <a:t>(</a:t>
            </a:r>
            <a:r>
              <a:rPr lang="ko-KR" altLang="en-US" sz="1300" dirty="0">
                <a:solidFill>
                  <a:srgbClr val="FFFFFF"/>
                </a:solidFill>
                <a:latin typeface="Calibri" pitchFamily="34" charset="0"/>
                <a:ea typeface="Calibri" pitchFamily="34" charset="-122"/>
                <a:cs typeface="Calibri" pitchFamily="34" charset="-120"/>
              </a:rPr>
              <a:t>팀장</a:t>
            </a:r>
            <a:r>
              <a:rPr lang="en-US" altLang="ko-KR" sz="1300" dirty="0">
                <a:solidFill>
                  <a:srgbClr val="FFFFFF"/>
                </a:solidFill>
                <a:latin typeface="Calibri" pitchFamily="34" charset="0"/>
                <a:ea typeface="Calibri" pitchFamily="34" charset="-122"/>
                <a:cs typeface="Calibri" pitchFamily="34" charset="-120"/>
              </a:rPr>
              <a:t>)</a:t>
            </a:r>
            <a:r>
              <a:rPr lang="en-US" sz="1300" dirty="0">
                <a:solidFill>
                  <a:srgbClr val="FFFFFF"/>
                </a:solidFill>
                <a:latin typeface="Calibri" pitchFamily="34" charset="0"/>
                <a:ea typeface="Calibri" pitchFamily="34" charset="-122"/>
                <a:cs typeface="Calibri" pitchFamily="34" charset="-120"/>
              </a:rPr>
              <a:t> · </a:t>
            </a:r>
            <a:r>
              <a:rPr lang="en-US" sz="1300" dirty="0" err="1">
                <a:solidFill>
                  <a:srgbClr val="FFFFFF"/>
                </a:solidFill>
                <a:latin typeface="Calibri" pitchFamily="34" charset="0"/>
                <a:ea typeface="Calibri" pitchFamily="34" charset="-122"/>
                <a:cs typeface="Calibri" pitchFamily="34" charset="-120"/>
              </a:rPr>
              <a:t>김도환</a:t>
            </a:r>
            <a:r>
              <a:rPr lang="en-US" sz="1300" dirty="0">
                <a:solidFill>
                  <a:srgbClr val="FFFFFF"/>
                </a:solidFill>
                <a:latin typeface="Calibri" pitchFamily="34" charset="0"/>
                <a:ea typeface="Calibri" pitchFamily="34" charset="-122"/>
                <a:cs typeface="Calibri" pitchFamily="34" charset="-120"/>
              </a:rPr>
              <a:t> · 최철원  |  2026년 4월</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51E4F"/>
          </a:solidFill>
          <a:ln/>
        </p:spPr>
        <p:txBody>
          <a:bodyPr/>
          <a:lstStyle/>
          <a:p>
            <a:endParaRPr lang="ko-KR" altLang="en-US"/>
          </a:p>
        </p:txBody>
      </p:sp>
      <p:sp>
        <p:nvSpPr>
          <p:cNvPr id="3" name="Shape 1"/>
          <p:cNvSpPr/>
          <p:nvPr/>
        </p:nvSpPr>
        <p:spPr>
          <a:xfrm>
            <a:off x="0" y="0"/>
            <a:ext cx="164592" cy="5143500"/>
          </a:xfrm>
          <a:prstGeom prst="rect">
            <a:avLst/>
          </a:prstGeom>
          <a:solidFill>
            <a:srgbClr val="4A90D9"/>
          </a:solidFill>
          <a:ln/>
        </p:spPr>
        <p:txBody>
          <a:bodyPr/>
          <a:lstStyle/>
          <a:p>
            <a:endParaRPr lang="ko-KR" altLang="en-US"/>
          </a:p>
        </p:txBody>
      </p:sp>
      <p:sp>
        <p:nvSpPr>
          <p:cNvPr id="4" name="Text 2"/>
          <p:cNvSpPr/>
          <p:nvPr/>
        </p:nvSpPr>
        <p:spPr>
          <a:xfrm>
            <a:off x="365760" y="91440"/>
            <a:ext cx="8229600" cy="594360"/>
          </a:xfrm>
          <a:prstGeom prst="rect">
            <a:avLst/>
          </a:prstGeom>
          <a:noFill/>
          <a:ln/>
        </p:spPr>
        <p:txBody>
          <a:bodyPr wrap="square" lIns="0" tIns="0" rIns="0" bIns="0" rtlCol="0" anchor="ctr"/>
          <a:lstStyle/>
          <a:p>
            <a:pPr marL="0" indent="0">
              <a:buNone/>
            </a:pPr>
            <a:r>
              <a:rPr lang="ko-KR" altLang="en-US" sz="2600" b="1" dirty="0">
                <a:solidFill>
                  <a:srgbClr val="FFFFFF"/>
                </a:solidFill>
                <a:latin typeface="Calibri" pitchFamily="34" charset="0"/>
                <a:ea typeface="Calibri" pitchFamily="34" charset="-122"/>
                <a:cs typeface="Calibri" pitchFamily="34" charset="-120"/>
              </a:rPr>
              <a:t>발</a:t>
            </a:r>
            <a:r>
              <a:rPr lang="en-US" sz="2600" b="1" dirty="0">
                <a:solidFill>
                  <a:srgbClr val="FFFFFF"/>
                </a:solidFill>
                <a:latin typeface="Calibri" pitchFamily="34" charset="0"/>
                <a:ea typeface="Calibri" pitchFamily="34" charset="-122"/>
                <a:cs typeface="Calibri" pitchFamily="34" charset="-120"/>
              </a:rPr>
              <a:t>표 구성</a:t>
            </a:r>
            <a:endParaRPr lang="en-US" sz="2600" dirty="0"/>
          </a:p>
        </p:txBody>
      </p:sp>
      <p:sp>
        <p:nvSpPr>
          <p:cNvPr id="5" name="Shape 3"/>
          <p:cNvSpPr/>
          <p:nvPr/>
        </p:nvSpPr>
        <p:spPr>
          <a:xfrm>
            <a:off x="457200" y="914400"/>
            <a:ext cx="4023360" cy="86868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6" name="Shape 4"/>
          <p:cNvSpPr/>
          <p:nvPr/>
        </p:nvSpPr>
        <p:spPr>
          <a:xfrm>
            <a:off x="566928" y="1097280"/>
            <a:ext cx="457200" cy="457200"/>
          </a:xfrm>
          <a:prstGeom prst="ellipse">
            <a:avLst/>
          </a:prstGeom>
          <a:solidFill>
            <a:srgbClr val="4A90D9"/>
          </a:solidFill>
          <a:ln/>
        </p:spPr>
        <p:txBody>
          <a:bodyPr/>
          <a:lstStyle/>
          <a:p>
            <a:endParaRPr lang="ko-KR" altLang="en-US"/>
          </a:p>
        </p:txBody>
      </p:sp>
      <p:sp>
        <p:nvSpPr>
          <p:cNvPr id="7" name="Text 5"/>
          <p:cNvSpPr/>
          <p:nvPr/>
        </p:nvSpPr>
        <p:spPr>
          <a:xfrm>
            <a:off x="566928"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115568" y="1005840"/>
            <a:ext cx="32461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SDLC 진행 현황</a:t>
            </a:r>
            <a:endParaRPr lang="en-US" sz="1400" dirty="0"/>
          </a:p>
        </p:txBody>
      </p:sp>
      <p:sp>
        <p:nvSpPr>
          <p:cNvPr id="9" name="Text 7"/>
          <p:cNvSpPr/>
          <p:nvPr/>
        </p:nvSpPr>
        <p:spPr>
          <a:xfrm>
            <a:off x="1115568" y="1389888"/>
            <a:ext cx="3246120" cy="320040"/>
          </a:xfrm>
          <a:prstGeom prst="rect">
            <a:avLst/>
          </a:prstGeom>
          <a:noFill/>
          <a:ln/>
        </p:spPr>
        <p:txBody>
          <a:bodyPr wrap="square" lIns="0" tIns="0" rIns="0" bIns="0" rtlCol="0" anchor="ctr"/>
          <a:lstStyle/>
          <a:p>
            <a:pPr marL="0" indent="0">
              <a:buNone/>
            </a:pPr>
            <a:r>
              <a:rPr lang="en-US" sz="1100" dirty="0">
                <a:solidFill>
                  <a:srgbClr val="A8BDD8"/>
                </a:solidFill>
                <a:latin typeface="Calibri" pitchFamily="34" charset="0"/>
                <a:ea typeface="Calibri" pitchFamily="34" charset="-122"/>
                <a:cs typeface="Calibri" pitchFamily="34" charset="-120"/>
              </a:rPr>
              <a:t>지금 어디쯤 왔나</a:t>
            </a:r>
            <a:endParaRPr lang="en-US" sz="1100" dirty="0"/>
          </a:p>
        </p:txBody>
      </p:sp>
      <p:sp>
        <p:nvSpPr>
          <p:cNvPr id="10" name="Shape 8"/>
          <p:cNvSpPr/>
          <p:nvPr/>
        </p:nvSpPr>
        <p:spPr>
          <a:xfrm>
            <a:off x="4709160" y="914400"/>
            <a:ext cx="4023360" cy="86868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11" name="Shape 9"/>
          <p:cNvSpPr/>
          <p:nvPr/>
        </p:nvSpPr>
        <p:spPr>
          <a:xfrm>
            <a:off x="4818888" y="1097280"/>
            <a:ext cx="457200" cy="457200"/>
          </a:xfrm>
          <a:prstGeom prst="ellipse">
            <a:avLst/>
          </a:prstGeom>
          <a:solidFill>
            <a:srgbClr val="4A90D9"/>
          </a:solidFill>
          <a:ln/>
        </p:spPr>
        <p:txBody>
          <a:bodyPr/>
          <a:lstStyle/>
          <a:p>
            <a:endParaRPr lang="ko-KR" altLang="en-US"/>
          </a:p>
        </p:txBody>
      </p:sp>
      <p:sp>
        <p:nvSpPr>
          <p:cNvPr id="12" name="Text 10"/>
          <p:cNvSpPr/>
          <p:nvPr/>
        </p:nvSpPr>
        <p:spPr>
          <a:xfrm>
            <a:off x="4818888"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367528" y="1005840"/>
            <a:ext cx="32461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프로젝트 로드맵 업데이트</a:t>
            </a:r>
            <a:endParaRPr lang="en-US" sz="1400" dirty="0"/>
          </a:p>
        </p:txBody>
      </p:sp>
      <p:sp>
        <p:nvSpPr>
          <p:cNvPr id="14" name="Text 12"/>
          <p:cNvSpPr/>
          <p:nvPr/>
        </p:nvSpPr>
        <p:spPr>
          <a:xfrm>
            <a:off x="5367528" y="1389888"/>
            <a:ext cx="3246120" cy="320040"/>
          </a:xfrm>
          <a:prstGeom prst="rect">
            <a:avLst/>
          </a:prstGeom>
          <a:noFill/>
          <a:ln/>
        </p:spPr>
        <p:txBody>
          <a:bodyPr wrap="square" lIns="0" tIns="0" rIns="0" bIns="0" rtlCol="0" anchor="ctr"/>
          <a:lstStyle/>
          <a:p>
            <a:pPr marL="0" indent="0">
              <a:buNone/>
            </a:pPr>
            <a:r>
              <a:rPr lang="en-US" sz="1100" dirty="0">
                <a:solidFill>
                  <a:srgbClr val="A8BDD8"/>
                </a:solidFill>
                <a:latin typeface="Calibri" pitchFamily="34" charset="0"/>
                <a:ea typeface="Calibri" pitchFamily="34" charset="-122"/>
                <a:cs typeface="Calibri" pitchFamily="34" charset="-120"/>
              </a:rPr>
              <a:t>3차 마일스톤 달성</a:t>
            </a:r>
            <a:endParaRPr lang="en-US" sz="1100" dirty="0"/>
          </a:p>
        </p:txBody>
      </p:sp>
      <p:sp>
        <p:nvSpPr>
          <p:cNvPr id="15" name="Shape 13"/>
          <p:cNvSpPr/>
          <p:nvPr/>
        </p:nvSpPr>
        <p:spPr>
          <a:xfrm>
            <a:off x="457200" y="1828800"/>
            <a:ext cx="4023360" cy="86868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16" name="Shape 14"/>
          <p:cNvSpPr/>
          <p:nvPr/>
        </p:nvSpPr>
        <p:spPr>
          <a:xfrm>
            <a:off x="566928" y="2011680"/>
            <a:ext cx="457200" cy="457200"/>
          </a:xfrm>
          <a:prstGeom prst="ellipse">
            <a:avLst/>
          </a:prstGeom>
          <a:solidFill>
            <a:srgbClr val="4A90D9"/>
          </a:solidFill>
          <a:ln/>
        </p:spPr>
        <p:txBody>
          <a:bodyPr/>
          <a:lstStyle/>
          <a:p>
            <a:endParaRPr lang="ko-KR" altLang="en-US"/>
          </a:p>
        </p:txBody>
      </p:sp>
      <p:sp>
        <p:nvSpPr>
          <p:cNvPr id="17" name="Text 15"/>
          <p:cNvSpPr/>
          <p:nvPr/>
        </p:nvSpPr>
        <p:spPr>
          <a:xfrm>
            <a:off x="566928" y="20116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115568" y="1920240"/>
            <a:ext cx="3246120" cy="384048"/>
          </a:xfrm>
          <a:prstGeom prst="rect">
            <a:avLst/>
          </a:prstGeom>
          <a:noFill/>
          <a:ln/>
        </p:spPr>
        <p:txBody>
          <a:bodyPr wrap="square" lIns="0" tIns="0" rIns="0" bIns="0" rtlCol="0" anchor="ctr"/>
          <a:lstStyle/>
          <a:p>
            <a:pPr marL="0" indent="0">
              <a:buNone/>
            </a:pPr>
            <a:r>
              <a:rPr lang="en-US" sz="1400" b="1" dirty="0" err="1">
                <a:solidFill>
                  <a:srgbClr val="FFFFFF"/>
                </a:solidFill>
                <a:latin typeface="Calibri" pitchFamily="34" charset="0"/>
                <a:ea typeface="Calibri" pitchFamily="34" charset="-122"/>
                <a:cs typeface="Calibri" pitchFamily="34" charset="-120"/>
              </a:rPr>
              <a:t>핵심</a:t>
            </a:r>
            <a:r>
              <a:rPr lang="en-US" sz="1400" b="1" dirty="0">
                <a:solidFill>
                  <a:srgbClr val="FFFFFF"/>
                </a:solidFill>
                <a:latin typeface="Calibri" pitchFamily="34" charset="0"/>
                <a:ea typeface="Calibri" pitchFamily="34" charset="-122"/>
                <a:cs typeface="Calibri" pitchFamily="34" charset="-120"/>
              </a:rPr>
              <a:t> 성과</a:t>
            </a:r>
            <a:endParaRPr lang="en-US" sz="1400" dirty="0"/>
          </a:p>
        </p:txBody>
      </p:sp>
      <p:sp>
        <p:nvSpPr>
          <p:cNvPr id="19" name="Text 17"/>
          <p:cNvSpPr/>
          <p:nvPr/>
        </p:nvSpPr>
        <p:spPr>
          <a:xfrm>
            <a:off x="1115568" y="2304288"/>
            <a:ext cx="3246120" cy="320040"/>
          </a:xfrm>
          <a:prstGeom prst="rect">
            <a:avLst/>
          </a:prstGeom>
          <a:noFill/>
          <a:ln/>
        </p:spPr>
        <p:txBody>
          <a:bodyPr wrap="square" lIns="0" tIns="0" rIns="0" bIns="0" rtlCol="0" anchor="ctr"/>
          <a:lstStyle/>
          <a:p>
            <a:pPr marL="0" indent="0">
              <a:buNone/>
            </a:pPr>
            <a:r>
              <a:rPr lang="en-US" sz="1100" dirty="0">
                <a:solidFill>
                  <a:srgbClr val="A8BDD8"/>
                </a:solidFill>
                <a:latin typeface="Calibri" pitchFamily="34" charset="0"/>
                <a:ea typeface="Calibri" pitchFamily="34" charset="-122"/>
                <a:cs typeface="Calibri" pitchFamily="34" charset="-120"/>
              </a:rPr>
              <a:t>백엔드 MVP 완성</a:t>
            </a:r>
            <a:endParaRPr lang="en-US" sz="1100" dirty="0"/>
          </a:p>
        </p:txBody>
      </p:sp>
      <p:sp>
        <p:nvSpPr>
          <p:cNvPr id="20" name="Shape 18"/>
          <p:cNvSpPr/>
          <p:nvPr/>
        </p:nvSpPr>
        <p:spPr>
          <a:xfrm>
            <a:off x="4709160" y="1828800"/>
            <a:ext cx="4023360" cy="86868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1" name="Shape 19"/>
          <p:cNvSpPr/>
          <p:nvPr/>
        </p:nvSpPr>
        <p:spPr>
          <a:xfrm>
            <a:off x="4818888" y="2011680"/>
            <a:ext cx="457200" cy="457200"/>
          </a:xfrm>
          <a:prstGeom prst="ellipse">
            <a:avLst/>
          </a:prstGeom>
          <a:solidFill>
            <a:srgbClr val="4A90D9"/>
          </a:solidFill>
          <a:ln/>
        </p:spPr>
        <p:txBody>
          <a:bodyPr/>
          <a:lstStyle/>
          <a:p>
            <a:endParaRPr lang="ko-KR" altLang="en-US"/>
          </a:p>
        </p:txBody>
      </p:sp>
      <p:sp>
        <p:nvSpPr>
          <p:cNvPr id="22" name="Text 20"/>
          <p:cNvSpPr/>
          <p:nvPr/>
        </p:nvSpPr>
        <p:spPr>
          <a:xfrm>
            <a:off x="4818888" y="20116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5367528" y="1920240"/>
            <a:ext cx="32461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시스템 데이터 파이프라인</a:t>
            </a:r>
            <a:endParaRPr lang="en-US" sz="1400" dirty="0"/>
          </a:p>
        </p:txBody>
      </p:sp>
      <p:sp>
        <p:nvSpPr>
          <p:cNvPr id="24" name="Text 22"/>
          <p:cNvSpPr/>
          <p:nvPr/>
        </p:nvSpPr>
        <p:spPr>
          <a:xfrm>
            <a:off x="5367528" y="2304288"/>
            <a:ext cx="3246120" cy="320040"/>
          </a:xfrm>
          <a:prstGeom prst="rect">
            <a:avLst/>
          </a:prstGeom>
          <a:noFill/>
          <a:ln/>
        </p:spPr>
        <p:txBody>
          <a:bodyPr wrap="square" lIns="0" tIns="0" rIns="0" bIns="0" rtlCol="0" anchor="ctr"/>
          <a:lstStyle/>
          <a:p>
            <a:pPr marL="0" indent="0">
              <a:buNone/>
            </a:pPr>
            <a:r>
              <a:rPr lang="en-US" sz="1100" dirty="0">
                <a:solidFill>
                  <a:srgbClr val="A8BDD8"/>
                </a:solidFill>
                <a:latin typeface="Calibri" pitchFamily="34" charset="0"/>
                <a:ea typeface="Calibri" pitchFamily="34" charset="-122"/>
                <a:cs typeface="Calibri" pitchFamily="34" charset="-120"/>
              </a:rPr>
              <a:t>엔드-투-엔드 흐름</a:t>
            </a:r>
            <a:endParaRPr lang="en-US" sz="1100" dirty="0"/>
          </a:p>
        </p:txBody>
      </p:sp>
      <p:sp>
        <p:nvSpPr>
          <p:cNvPr id="25" name="Shape 23"/>
          <p:cNvSpPr/>
          <p:nvPr/>
        </p:nvSpPr>
        <p:spPr>
          <a:xfrm>
            <a:off x="457200" y="2743200"/>
            <a:ext cx="4023360" cy="86868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6" name="Shape 24"/>
          <p:cNvSpPr/>
          <p:nvPr/>
        </p:nvSpPr>
        <p:spPr>
          <a:xfrm>
            <a:off x="566928" y="2926080"/>
            <a:ext cx="457200" cy="457200"/>
          </a:xfrm>
          <a:prstGeom prst="ellipse">
            <a:avLst/>
          </a:prstGeom>
          <a:solidFill>
            <a:srgbClr val="4A90D9"/>
          </a:solidFill>
          <a:ln/>
        </p:spPr>
        <p:txBody>
          <a:bodyPr/>
          <a:lstStyle/>
          <a:p>
            <a:endParaRPr lang="ko-KR" altLang="en-US"/>
          </a:p>
        </p:txBody>
      </p:sp>
      <p:sp>
        <p:nvSpPr>
          <p:cNvPr id="27" name="Text 25"/>
          <p:cNvSpPr/>
          <p:nvPr/>
        </p:nvSpPr>
        <p:spPr>
          <a:xfrm>
            <a:off x="566928" y="2926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1115568" y="2834640"/>
            <a:ext cx="32461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실제 동작 데모</a:t>
            </a:r>
            <a:endParaRPr lang="en-US" sz="1400" dirty="0"/>
          </a:p>
        </p:txBody>
      </p:sp>
      <p:sp>
        <p:nvSpPr>
          <p:cNvPr id="29" name="Text 27"/>
          <p:cNvSpPr/>
          <p:nvPr/>
        </p:nvSpPr>
        <p:spPr>
          <a:xfrm>
            <a:off x="1115568" y="3218688"/>
            <a:ext cx="3246120" cy="320040"/>
          </a:xfrm>
          <a:prstGeom prst="rect">
            <a:avLst/>
          </a:prstGeom>
          <a:noFill/>
          <a:ln/>
        </p:spPr>
        <p:txBody>
          <a:bodyPr wrap="square" lIns="0" tIns="0" rIns="0" bIns="0" rtlCol="0" anchor="ctr"/>
          <a:lstStyle/>
          <a:p>
            <a:pPr marL="0" indent="0">
              <a:buNone/>
            </a:pPr>
            <a:r>
              <a:rPr lang="en-US" sz="1100" dirty="0">
                <a:solidFill>
                  <a:srgbClr val="A8BDD8"/>
                </a:solidFill>
                <a:latin typeface="Calibri" pitchFamily="34" charset="0"/>
                <a:ea typeface="Calibri" pitchFamily="34" charset="-122"/>
                <a:cs typeface="Calibri" pitchFamily="34" charset="-120"/>
              </a:rPr>
              <a:t>Swagger UI 화면 캡처</a:t>
            </a:r>
            <a:endParaRPr lang="en-US" sz="1100" dirty="0"/>
          </a:p>
        </p:txBody>
      </p:sp>
      <p:sp>
        <p:nvSpPr>
          <p:cNvPr id="30" name="Shape 28"/>
          <p:cNvSpPr/>
          <p:nvPr/>
        </p:nvSpPr>
        <p:spPr>
          <a:xfrm>
            <a:off x="4709160" y="2743200"/>
            <a:ext cx="4023360" cy="86868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31" name="Shape 29"/>
          <p:cNvSpPr/>
          <p:nvPr/>
        </p:nvSpPr>
        <p:spPr>
          <a:xfrm>
            <a:off x="4818888" y="2926080"/>
            <a:ext cx="457200" cy="457200"/>
          </a:xfrm>
          <a:prstGeom prst="ellipse">
            <a:avLst/>
          </a:prstGeom>
          <a:solidFill>
            <a:srgbClr val="4A90D9"/>
          </a:solidFill>
          <a:ln/>
        </p:spPr>
        <p:txBody>
          <a:bodyPr/>
          <a:lstStyle/>
          <a:p>
            <a:endParaRPr lang="ko-KR" altLang="en-US"/>
          </a:p>
        </p:txBody>
      </p:sp>
      <p:sp>
        <p:nvSpPr>
          <p:cNvPr id="32" name="Text 30"/>
          <p:cNvSpPr/>
          <p:nvPr/>
        </p:nvSpPr>
        <p:spPr>
          <a:xfrm>
            <a:off x="4818888" y="2926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5367528" y="2834640"/>
            <a:ext cx="32461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설계 변경 사항</a:t>
            </a:r>
            <a:endParaRPr lang="en-US" sz="1400" dirty="0"/>
          </a:p>
        </p:txBody>
      </p:sp>
      <p:sp>
        <p:nvSpPr>
          <p:cNvPr id="34" name="Text 32"/>
          <p:cNvSpPr/>
          <p:nvPr/>
        </p:nvSpPr>
        <p:spPr>
          <a:xfrm>
            <a:off x="5367528" y="3218688"/>
            <a:ext cx="3246120" cy="320040"/>
          </a:xfrm>
          <a:prstGeom prst="rect">
            <a:avLst/>
          </a:prstGeom>
          <a:noFill/>
          <a:ln/>
        </p:spPr>
        <p:txBody>
          <a:bodyPr wrap="square" lIns="0" tIns="0" rIns="0" bIns="0" rtlCol="0" anchor="ctr"/>
          <a:lstStyle/>
          <a:p>
            <a:pPr marL="0" indent="0">
              <a:buNone/>
            </a:pPr>
            <a:r>
              <a:rPr lang="en-US" sz="1100" dirty="0">
                <a:solidFill>
                  <a:srgbClr val="A8BDD8"/>
                </a:solidFill>
                <a:latin typeface="Calibri" pitchFamily="34" charset="0"/>
                <a:ea typeface="Calibri" pitchFamily="34" charset="-122"/>
                <a:cs typeface="Calibri" pitchFamily="34" charset="-120"/>
              </a:rPr>
              <a:t>STT 전략 재결정</a:t>
            </a:r>
            <a:endParaRPr lang="en-US" sz="1100" dirty="0"/>
          </a:p>
        </p:txBody>
      </p:sp>
      <p:sp>
        <p:nvSpPr>
          <p:cNvPr id="35" name="Shape 33"/>
          <p:cNvSpPr/>
          <p:nvPr/>
        </p:nvSpPr>
        <p:spPr>
          <a:xfrm>
            <a:off x="457200" y="3657600"/>
            <a:ext cx="4023360" cy="86868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36" name="Shape 34"/>
          <p:cNvSpPr/>
          <p:nvPr/>
        </p:nvSpPr>
        <p:spPr>
          <a:xfrm>
            <a:off x="566928" y="3840480"/>
            <a:ext cx="457200" cy="457200"/>
          </a:xfrm>
          <a:prstGeom prst="ellipse">
            <a:avLst/>
          </a:prstGeom>
          <a:solidFill>
            <a:srgbClr val="4A90D9"/>
          </a:solidFill>
          <a:ln/>
        </p:spPr>
        <p:txBody>
          <a:bodyPr/>
          <a:lstStyle/>
          <a:p>
            <a:endParaRPr lang="ko-KR" altLang="en-US"/>
          </a:p>
        </p:txBody>
      </p:sp>
      <p:sp>
        <p:nvSpPr>
          <p:cNvPr id="37" name="Text 35"/>
          <p:cNvSpPr/>
          <p:nvPr/>
        </p:nvSpPr>
        <p:spPr>
          <a:xfrm>
            <a:off x="566928"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8" name="Text 36"/>
          <p:cNvSpPr/>
          <p:nvPr/>
        </p:nvSpPr>
        <p:spPr>
          <a:xfrm>
            <a:off x="1115568" y="3749040"/>
            <a:ext cx="32461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차별화 전략</a:t>
            </a:r>
            <a:endParaRPr lang="en-US" sz="1400" dirty="0"/>
          </a:p>
        </p:txBody>
      </p:sp>
      <p:sp>
        <p:nvSpPr>
          <p:cNvPr id="39" name="Text 37"/>
          <p:cNvSpPr/>
          <p:nvPr/>
        </p:nvSpPr>
        <p:spPr>
          <a:xfrm>
            <a:off x="1115568" y="4133088"/>
            <a:ext cx="3246120" cy="320040"/>
          </a:xfrm>
          <a:prstGeom prst="rect">
            <a:avLst/>
          </a:prstGeom>
          <a:noFill/>
          <a:ln/>
        </p:spPr>
        <p:txBody>
          <a:bodyPr wrap="square" lIns="0" tIns="0" rIns="0" bIns="0" rtlCol="0" anchor="ctr"/>
          <a:lstStyle/>
          <a:p>
            <a:pPr marL="0" indent="0">
              <a:buNone/>
            </a:pPr>
            <a:r>
              <a:rPr lang="en-US" sz="1100" dirty="0">
                <a:solidFill>
                  <a:srgbClr val="A8BDD8"/>
                </a:solidFill>
                <a:latin typeface="Calibri" pitchFamily="34" charset="0"/>
                <a:ea typeface="Calibri" pitchFamily="34" charset="-122"/>
                <a:cs typeface="Calibri" pitchFamily="34" charset="-120"/>
              </a:rPr>
              <a:t>왜 우리 서비스인가</a:t>
            </a:r>
            <a:endParaRPr lang="en-US" sz="1100" dirty="0"/>
          </a:p>
        </p:txBody>
      </p:sp>
      <p:sp>
        <p:nvSpPr>
          <p:cNvPr id="40" name="Shape 38"/>
          <p:cNvSpPr/>
          <p:nvPr/>
        </p:nvSpPr>
        <p:spPr>
          <a:xfrm>
            <a:off x="4709160" y="3657600"/>
            <a:ext cx="4023360" cy="86868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41" name="Shape 39"/>
          <p:cNvSpPr/>
          <p:nvPr/>
        </p:nvSpPr>
        <p:spPr>
          <a:xfrm>
            <a:off x="4818888" y="3840480"/>
            <a:ext cx="457200" cy="457200"/>
          </a:xfrm>
          <a:prstGeom prst="ellipse">
            <a:avLst/>
          </a:prstGeom>
          <a:solidFill>
            <a:srgbClr val="4A90D9"/>
          </a:solidFill>
          <a:ln/>
        </p:spPr>
        <p:txBody>
          <a:bodyPr/>
          <a:lstStyle/>
          <a:p>
            <a:endParaRPr lang="ko-KR" altLang="en-US"/>
          </a:p>
        </p:txBody>
      </p:sp>
      <p:sp>
        <p:nvSpPr>
          <p:cNvPr id="42" name="Text 40"/>
          <p:cNvSpPr/>
          <p:nvPr/>
        </p:nvSpPr>
        <p:spPr>
          <a:xfrm>
            <a:off x="4818888"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3" name="Text 41"/>
          <p:cNvSpPr/>
          <p:nvPr/>
        </p:nvSpPr>
        <p:spPr>
          <a:xfrm>
            <a:off x="5367528" y="3749040"/>
            <a:ext cx="32461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다음 단계</a:t>
            </a:r>
            <a:endParaRPr lang="en-US" sz="1400" dirty="0"/>
          </a:p>
        </p:txBody>
      </p:sp>
      <p:sp>
        <p:nvSpPr>
          <p:cNvPr id="44" name="Text 42"/>
          <p:cNvSpPr/>
          <p:nvPr/>
        </p:nvSpPr>
        <p:spPr>
          <a:xfrm>
            <a:off x="5367528" y="4133088"/>
            <a:ext cx="3246120" cy="320040"/>
          </a:xfrm>
          <a:prstGeom prst="rect">
            <a:avLst/>
          </a:prstGeom>
          <a:noFill/>
          <a:ln/>
        </p:spPr>
        <p:txBody>
          <a:bodyPr wrap="square" lIns="0" tIns="0" rIns="0" bIns="0" rtlCol="0" anchor="ctr"/>
          <a:lstStyle/>
          <a:p>
            <a:pPr marL="0" indent="0">
              <a:buNone/>
            </a:pPr>
            <a:r>
              <a:rPr lang="en-US" sz="1100" dirty="0">
                <a:solidFill>
                  <a:srgbClr val="A8BDD8"/>
                </a:solidFill>
                <a:latin typeface="Calibri" pitchFamily="34" charset="0"/>
                <a:ea typeface="Calibri" pitchFamily="34" charset="-122"/>
                <a:cs typeface="Calibri" pitchFamily="34" charset="-120"/>
              </a:rPr>
              <a:t>알파 빌드를 향해</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51E4F"/>
          </a:solidFill>
          <a:ln/>
        </p:spPr>
        <p:txBody>
          <a:bodyPr/>
          <a:lstStyle/>
          <a:p>
            <a:endParaRPr lang="ko-KR" altLang="en-US"/>
          </a:p>
        </p:txBody>
      </p:sp>
      <p:sp>
        <p:nvSpPr>
          <p:cNvPr id="3" name="Shape 1"/>
          <p:cNvSpPr/>
          <p:nvPr/>
        </p:nvSpPr>
        <p:spPr>
          <a:xfrm>
            <a:off x="0" y="0"/>
            <a:ext cx="164592" cy="5143500"/>
          </a:xfrm>
          <a:prstGeom prst="rect">
            <a:avLst/>
          </a:prstGeom>
          <a:solidFill>
            <a:srgbClr val="4A90D9"/>
          </a:solidFill>
          <a:ln/>
        </p:spPr>
        <p:txBody>
          <a:bodyPr/>
          <a:lstStyle/>
          <a:p>
            <a:endParaRPr lang="ko-KR" altLang="en-US"/>
          </a:p>
        </p:txBody>
      </p:sp>
      <p:sp>
        <p:nvSpPr>
          <p:cNvPr id="4" name="Text 2"/>
          <p:cNvSpPr/>
          <p:nvPr/>
        </p:nvSpPr>
        <p:spPr>
          <a:xfrm>
            <a:off x="365760" y="91440"/>
            <a:ext cx="64008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SDLC 진행 현황</a:t>
            </a:r>
            <a:endParaRPr lang="en-US" sz="2600" dirty="0"/>
          </a:p>
        </p:txBody>
      </p:sp>
      <p:sp>
        <p:nvSpPr>
          <p:cNvPr id="5" name="Text 3"/>
          <p:cNvSpPr/>
          <p:nvPr/>
        </p:nvSpPr>
        <p:spPr>
          <a:xfrm>
            <a:off x="365760" y="109728"/>
            <a:ext cx="8412480" cy="594360"/>
          </a:xfrm>
          <a:prstGeom prst="rect">
            <a:avLst/>
          </a:prstGeom>
          <a:noFill/>
          <a:ln/>
        </p:spPr>
        <p:txBody>
          <a:bodyPr wrap="square" lIns="0" tIns="0" rIns="0" bIns="0" rtlCol="0" anchor="ctr"/>
          <a:lstStyle/>
          <a:p>
            <a:pPr marL="0" indent="0" algn="r">
              <a:buNone/>
            </a:pPr>
            <a:r>
              <a:rPr lang="en-US" sz="1400" dirty="0">
                <a:solidFill>
                  <a:srgbClr val="CADCFC"/>
                </a:solidFill>
                <a:latin typeface="Calibri" pitchFamily="34" charset="0"/>
                <a:ea typeface="Calibri" pitchFamily="34" charset="-122"/>
                <a:cs typeface="Calibri" pitchFamily="34" charset="-120"/>
              </a:rPr>
              <a:t>구현(Implementation) 단계 진입 완료</a:t>
            </a:r>
            <a:endParaRPr lang="en-US" sz="1400" dirty="0"/>
          </a:p>
        </p:txBody>
      </p:sp>
      <p:sp>
        <p:nvSpPr>
          <p:cNvPr id="6" name="Text 4"/>
          <p:cNvSpPr/>
          <p:nvPr/>
        </p:nvSpPr>
        <p:spPr>
          <a:xfrm>
            <a:off x="320040" y="932688"/>
            <a:ext cx="1508760" cy="310896"/>
          </a:xfrm>
          <a:prstGeom prst="rect">
            <a:avLst/>
          </a:prstGeom>
          <a:noFill/>
          <a:ln/>
        </p:spPr>
        <p:txBody>
          <a:bodyPr wrap="square" lIns="0" tIns="0" rIns="0" bIns="0" rtlCol="0" anchor="ctr"/>
          <a:lstStyle/>
          <a:p>
            <a:pPr marL="0" indent="0">
              <a:buNone/>
            </a:pPr>
            <a:r>
              <a:rPr lang="en-US" sz="1200" dirty="0">
                <a:solidFill>
                  <a:srgbClr val="A8BDD8"/>
                </a:solidFill>
                <a:latin typeface="Calibri" pitchFamily="34" charset="0"/>
                <a:ea typeface="Calibri" pitchFamily="34" charset="-122"/>
                <a:cs typeface="Calibri" pitchFamily="34" charset="-120"/>
              </a:rPr>
              <a:t>요구분석</a:t>
            </a:r>
            <a:endParaRPr lang="en-US" sz="1200" dirty="0"/>
          </a:p>
        </p:txBody>
      </p:sp>
      <p:sp>
        <p:nvSpPr>
          <p:cNvPr id="7" name="Shape 5"/>
          <p:cNvSpPr/>
          <p:nvPr/>
        </p:nvSpPr>
        <p:spPr>
          <a:xfrm>
            <a:off x="1920240" y="914400"/>
            <a:ext cx="4846320" cy="347472"/>
          </a:xfrm>
          <a:prstGeom prst="rect">
            <a:avLst/>
          </a:prstGeom>
          <a:solidFill>
            <a:srgbClr val="243060"/>
          </a:solidFill>
          <a:ln/>
        </p:spPr>
        <p:txBody>
          <a:bodyPr/>
          <a:lstStyle/>
          <a:p>
            <a:endParaRPr lang="ko-KR" altLang="en-US"/>
          </a:p>
        </p:txBody>
      </p:sp>
      <p:sp>
        <p:nvSpPr>
          <p:cNvPr id="8" name="Shape 6"/>
          <p:cNvSpPr/>
          <p:nvPr/>
        </p:nvSpPr>
        <p:spPr>
          <a:xfrm>
            <a:off x="1920240" y="914400"/>
            <a:ext cx="4846320" cy="347472"/>
          </a:xfrm>
          <a:prstGeom prst="rect">
            <a:avLst/>
          </a:prstGeom>
          <a:solidFill>
            <a:srgbClr val="2ECC71"/>
          </a:solidFill>
          <a:ln/>
        </p:spPr>
        <p:txBody>
          <a:bodyPr/>
          <a:lstStyle/>
          <a:p>
            <a:endParaRPr lang="ko-KR" altLang="en-US"/>
          </a:p>
        </p:txBody>
      </p:sp>
      <p:sp>
        <p:nvSpPr>
          <p:cNvPr id="9" name="Text 7"/>
          <p:cNvSpPr/>
          <p:nvPr/>
        </p:nvSpPr>
        <p:spPr>
          <a:xfrm>
            <a:off x="6839712" y="932688"/>
            <a:ext cx="475488" cy="310896"/>
          </a:xfrm>
          <a:prstGeom prst="rect">
            <a:avLst/>
          </a:prstGeom>
          <a:noFill/>
          <a:ln/>
        </p:spPr>
        <p:txBody>
          <a:bodyPr wrap="square" lIns="0" tIns="0" rIns="0" bIns="0" rtlCol="0" anchor="ctr"/>
          <a:lstStyle/>
          <a:p>
            <a:pPr marL="0" indent="0">
              <a:buNone/>
            </a:pPr>
            <a:r>
              <a:rPr lang="en-US" sz="1200" b="1" dirty="0">
                <a:solidFill>
                  <a:srgbClr val="2ECC71"/>
                </a:solidFill>
                <a:latin typeface="Calibri" pitchFamily="34" charset="0"/>
                <a:ea typeface="Calibri" pitchFamily="34" charset="-122"/>
                <a:cs typeface="Calibri" pitchFamily="34" charset="-120"/>
              </a:rPr>
              <a:t>100%</a:t>
            </a:r>
            <a:endParaRPr lang="en-US" sz="1200" dirty="0"/>
          </a:p>
        </p:txBody>
      </p:sp>
      <p:sp>
        <p:nvSpPr>
          <p:cNvPr id="10" name="Text 8"/>
          <p:cNvSpPr/>
          <p:nvPr/>
        </p:nvSpPr>
        <p:spPr>
          <a:xfrm>
            <a:off x="7360920" y="932688"/>
            <a:ext cx="2011680" cy="310896"/>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 완료 (3주차)</a:t>
            </a:r>
            <a:endParaRPr lang="en-US" sz="1000" dirty="0"/>
          </a:p>
        </p:txBody>
      </p:sp>
      <p:sp>
        <p:nvSpPr>
          <p:cNvPr id="11" name="Text 9"/>
          <p:cNvSpPr/>
          <p:nvPr/>
        </p:nvSpPr>
        <p:spPr>
          <a:xfrm>
            <a:off x="320040" y="1371600"/>
            <a:ext cx="1508760" cy="310896"/>
          </a:xfrm>
          <a:prstGeom prst="rect">
            <a:avLst/>
          </a:prstGeom>
          <a:noFill/>
          <a:ln/>
        </p:spPr>
        <p:txBody>
          <a:bodyPr wrap="square" lIns="0" tIns="0" rIns="0" bIns="0" rtlCol="0" anchor="ctr"/>
          <a:lstStyle/>
          <a:p>
            <a:pPr marL="0" indent="0">
              <a:buNone/>
            </a:pPr>
            <a:r>
              <a:rPr lang="en-US" sz="1200" dirty="0">
                <a:solidFill>
                  <a:srgbClr val="A8BDD8"/>
                </a:solidFill>
                <a:latin typeface="Calibri" pitchFamily="34" charset="0"/>
                <a:ea typeface="Calibri" pitchFamily="34" charset="-122"/>
                <a:cs typeface="Calibri" pitchFamily="34" charset="-120"/>
              </a:rPr>
              <a:t>시스템설계</a:t>
            </a:r>
            <a:endParaRPr lang="en-US" sz="1200" dirty="0"/>
          </a:p>
        </p:txBody>
      </p:sp>
      <p:sp>
        <p:nvSpPr>
          <p:cNvPr id="12" name="Shape 10"/>
          <p:cNvSpPr/>
          <p:nvPr/>
        </p:nvSpPr>
        <p:spPr>
          <a:xfrm>
            <a:off x="1920240" y="1353312"/>
            <a:ext cx="4846320" cy="347472"/>
          </a:xfrm>
          <a:prstGeom prst="rect">
            <a:avLst/>
          </a:prstGeom>
          <a:solidFill>
            <a:srgbClr val="243060"/>
          </a:solidFill>
          <a:ln/>
        </p:spPr>
        <p:txBody>
          <a:bodyPr/>
          <a:lstStyle/>
          <a:p>
            <a:endParaRPr lang="ko-KR" altLang="en-US"/>
          </a:p>
        </p:txBody>
      </p:sp>
      <p:sp>
        <p:nvSpPr>
          <p:cNvPr id="13" name="Shape 11"/>
          <p:cNvSpPr/>
          <p:nvPr/>
        </p:nvSpPr>
        <p:spPr>
          <a:xfrm>
            <a:off x="1920240" y="1353312"/>
            <a:ext cx="4846320" cy="347472"/>
          </a:xfrm>
          <a:prstGeom prst="rect">
            <a:avLst/>
          </a:prstGeom>
          <a:solidFill>
            <a:srgbClr val="2ECC71"/>
          </a:solidFill>
          <a:ln/>
        </p:spPr>
        <p:txBody>
          <a:bodyPr/>
          <a:lstStyle/>
          <a:p>
            <a:endParaRPr lang="ko-KR" altLang="en-US"/>
          </a:p>
        </p:txBody>
      </p:sp>
      <p:sp>
        <p:nvSpPr>
          <p:cNvPr id="14" name="Text 12"/>
          <p:cNvSpPr/>
          <p:nvPr/>
        </p:nvSpPr>
        <p:spPr>
          <a:xfrm>
            <a:off x="6839712" y="1371600"/>
            <a:ext cx="475488" cy="310896"/>
          </a:xfrm>
          <a:prstGeom prst="rect">
            <a:avLst/>
          </a:prstGeom>
          <a:noFill/>
          <a:ln/>
        </p:spPr>
        <p:txBody>
          <a:bodyPr wrap="square" lIns="0" tIns="0" rIns="0" bIns="0" rtlCol="0" anchor="ctr"/>
          <a:lstStyle/>
          <a:p>
            <a:pPr marL="0" indent="0">
              <a:buNone/>
            </a:pPr>
            <a:r>
              <a:rPr lang="en-US" sz="1200" b="1" dirty="0">
                <a:solidFill>
                  <a:srgbClr val="2ECC71"/>
                </a:solidFill>
                <a:latin typeface="Calibri" pitchFamily="34" charset="0"/>
                <a:ea typeface="Calibri" pitchFamily="34" charset="-122"/>
                <a:cs typeface="Calibri" pitchFamily="34" charset="-120"/>
              </a:rPr>
              <a:t>100%</a:t>
            </a:r>
            <a:endParaRPr lang="en-US" sz="1200" dirty="0"/>
          </a:p>
        </p:txBody>
      </p:sp>
      <p:sp>
        <p:nvSpPr>
          <p:cNvPr id="15" name="Text 13"/>
          <p:cNvSpPr/>
          <p:nvPr/>
        </p:nvSpPr>
        <p:spPr>
          <a:xfrm>
            <a:off x="7360920" y="1371600"/>
            <a:ext cx="2011680" cy="310896"/>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 완료 (4주차, 2차발표)</a:t>
            </a:r>
            <a:endParaRPr lang="en-US" sz="1000" dirty="0"/>
          </a:p>
        </p:txBody>
      </p:sp>
      <p:sp>
        <p:nvSpPr>
          <p:cNvPr id="16" name="Text 14"/>
          <p:cNvSpPr/>
          <p:nvPr/>
        </p:nvSpPr>
        <p:spPr>
          <a:xfrm>
            <a:off x="320040" y="1810512"/>
            <a:ext cx="15087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구  현</a:t>
            </a:r>
            <a:endParaRPr lang="en-US" sz="1200" dirty="0"/>
          </a:p>
        </p:txBody>
      </p:sp>
      <p:sp>
        <p:nvSpPr>
          <p:cNvPr id="17" name="Shape 15"/>
          <p:cNvSpPr/>
          <p:nvPr/>
        </p:nvSpPr>
        <p:spPr>
          <a:xfrm>
            <a:off x="1920240" y="1792224"/>
            <a:ext cx="4846320" cy="347472"/>
          </a:xfrm>
          <a:prstGeom prst="rect">
            <a:avLst/>
          </a:prstGeom>
          <a:solidFill>
            <a:srgbClr val="243060"/>
          </a:solidFill>
          <a:ln/>
        </p:spPr>
        <p:txBody>
          <a:bodyPr/>
          <a:lstStyle/>
          <a:p>
            <a:endParaRPr lang="ko-KR" altLang="en-US"/>
          </a:p>
        </p:txBody>
      </p:sp>
      <p:sp>
        <p:nvSpPr>
          <p:cNvPr id="18" name="Shape 16"/>
          <p:cNvSpPr/>
          <p:nvPr/>
        </p:nvSpPr>
        <p:spPr>
          <a:xfrm>
            <a:off x="1920240" y="1792224"/>
            <a:ext cx="1696212" cy="347472"/>
          </a:xfrm>
          <a:prstGeom prst="rect">
            <a:avLst/>
          </a:prstGeom>
          <a:solidFill>
            <a:srgbClr val="F39C12"/>
          </a:solidFill>
          <a:ln/>
        </p:spPr>
        <p:txBody>
          <a:bodyPr/>
          <a:lstStyle/>
          <a:p>
            <a:endParaRPr lang="ko-KR" altLang="en-US"/>
          </a:p>
        </p:txBody>
      </p:sp>
      <p:sp>
        <p:nvSpPr>
          <p:cNvPr id="19" name="Text 17"/>
          <p:cNvSpPr/>
          <p:nvPr/>
        </p:nvSpPr>
        <p:spPr>
          <a:xfrm>
            <a:off x="6839712" y="1810512"/>
            <a:ext cx="475488" cy="310896"/>
          </a:xfrm>
          <a:prstGeom prst="rect">
            <a:avLst/>
          </a:prstGeom>
          <a:noFill/>
          <a:ln/>
        </p:spPr>
        <p:txBody>
          <a:bodyPr wrap="square" lIns="0" tIns="0" rIns="0" bIns="0" rtlCol="0" anchor="ctr"/>
          <a:lstStyle/>
          <a:p>
            <a:pPr marL="0" indent="0">
              <a:buNone/>
            </a:pPr>
            <a:r>
              <a:rPr lang="en-US" sz="1200" b="1" dirty="0">
                <a:solidFill>
                  <a:srgbClr val="F39C12"/>
                </a:solidFill>
                <a:latin typeface="Calibri" pitchFamily="34" charset="0"/>
                <a:ea typeface="Calibri" pitchFamily="34" charset="-122"/>
                <a:cs typeface="Calibri" pitchFamily="34" charset="-120"/>
              </a:rPr>
              <a:t>35%</a:t>
            </a:r>
            <a:endParaRPr lang="en-US" sz="1200" dirty="0"/>
          </a:p>
        </p:txBody>
      </p:sp>
      <p:sp>
        <p:nvSpPr>
          <p:cNvPr id="20" name="Text 18"/>
          <p:cNvSpPr/>
          <p:nvPr/>
        </p:nvSpPr>
        <p:spPr>
          <a:xfrm>
            <a:off x="7360920" y="1810512"/>
            <a:ext cx="2011680" cy="310896"/>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현재 — 백엔드 API 완성</a:t>
            </a:r>
            <a:endParaRPr lang="en-US" sz="1000" dirty="0"/>
          </a:p>
        </p:txBody>
      </p:sp>
      <p:sp>
        <p:nvSpPr>
          <p:cNvPr id="21" name="Text 19"/>
          <p:cNvSpPr/>
          <p:nvPr/>
        </p:nvSpPr>
        <p:spPr>
          <a:xfrm>
            <a:off x="320040" y="2249424"/>
            <a:ext cx="1508760" cy="310896"/>
          </a:xfrm>
          <a:prstGeom prst="rect">
            <a:avLst/>
          </a:prstGeom>
          <a:noFill/>
          <a:ln/>
        </p:spPr>
        <p:txBody>
          <a:bodyPr wrap="square" lIns="0" tIns="0" rIns="0" bIns="0" rtlCol="0" anchor="ctr"/>
          <a:lstStyle/>
          <a:p>
            <a:pPr marL="0" indent="0">
              <a:buNone/>
            </a:pPr>
            <a:r>
              <a:rPr lang="en-US" sz="1200" dirty="0">
                <a:solidFill>
                  <a:srgbClr val="A8BDD8"/>
                </a:solidFill>
                <a:latin typeface="Calibri" pitchFamily="34" charset="0"/>
                <a:ea typeface="Calibri" pitchFamily="34" charset="-122"/>
                <a:cs typeface="Calibri" pitchFamily="34" charset="-120"/>
              </a:rPr>
              <a:t>테스트</a:t>
            </a:r>
            <a:endParaRPr lang="en-US" sz="1200" dirty="0"/>
          </a:p>
        </p:txBody>
      </p:sp>
      <p:sp>
        <p:nvSpPr>
          <p:cNvPr id="22" name="Shape 20"/>
          <p:cNvSpPr/>
          <p:nvPr/>
        </p:nvSpPr>
        <p:spPr>
          <a:xfrm>
            <a:off x="1920240" y="2231136"/>
            <a:ext cx="4846320" cy="347472"/>
          </a:xfrm>
          <a:prstGeom prst="rect">
            <a:avLst/>
          </a:prstGeom>
          <a:solidFill>
            <a:srgbClr val="243060"/>
          </a:solidFill>
          <a:ln/>
        </p:spPr>
        <p:txBody>
          <a:bodyPr/>
          <a:lstStyle/>
          <a:p>
            <a:endParaRPr lang="ko-KR" altLang="en-US"/>
          </a:p>
        </p:txBody>
      </p:sp>
      <p:sp>
        <p:nvSpPr>
          <p:cNvPr id="23" name="Text 21"/>
          <p:cNvSpPr/>
          <p:nvPr/>
        </p:nvSpPr>
        <p:spPr>
          <a:xfrm>
            <a:off x="6839712" y="2249424"/>
            <a:ext cx="475488" cy="310896"/>
          </a:xfrm>
          <a:prstGeom prst="rect">
            <a:avLst/>
          </a:prstGeom>
          <a:noFill/>
          <a:ln/>
        </p:spPr>
        <p:txBody>
          <a:bodyPr wrap="square" lIns="0" tIns="0" rIns="0" bIns="0" rtlCol="0" anchor="ctr"/>
          <a:lstStyle/>
          <a:p>
            <a:pPr marL="0" indent="0">
              <a:buNone/>
            </a:pPr>
            <a:r>
              <a:rPr lang="en-US" sz="1200" b="1" dirty="0">
                <a:solidFill>
                  <a:srgbClr val="8899AA"/>
                </a:solidFill>
                <a:latin typeface="Calibri" pitchFamily="34" charset="0"/>
                <a:ea typeface="Calibri" pitchFamily="34" charset="-122"/>
                <a:cs typeface="Calibri" pitchFamily="34" charset="-120"/>
              </a:rPr>
              <a:t>0%</a:t>
            </a:r>
            <a:endParaRPr lang="en-US" sz="1200" dirty="0"/>
          </a:p>
        </p:txBody>
      </p:sp>
      <p:sp>
        <p:nvSpPr>
          <p:cNvPr id="24" name="Text 22"/>
          <p:cNvSpPr/>
          <p:nvPr/>
        </p:nvSpPr>
        <p:spPr>
          <a:xfrm>
            <a:off x="7360920" y="2249424"/>
            <a:ext cx="2011680" cy="310896"/>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예정 (7-8주차)</a:t>
            </a:r>
            <a:endParaRPr lang="en-US" sz="1000" dirty="0"/>
          </a:p>
        </p:txBody>
      </p:sp>
      <p:sp>
        <p:nvSpPr>
          <p:cNvPr id="25" name="Text 23"/>
          <p:cNvSpPr/>
          <p:nvPr/>
        </p:nvSpPr>
        <p:spPr>
          <a:xfrm>
            <a:off x="320040" y="2688336"/>
            <a:ext cx="1508760" cy="310896"/>
          </a:xfrm>
          <a:prstGeom prst="rect">
            <a:avLst/>
          </a:prstGeom>
          <a:noFill/>
          <a:ln/>
        </p:spPr>
        <p:txBody>
          <a:bodyPr wrap="square" lIns="0" tIns="0" rIns="0" bIns="0" rtlCol="0" anchor="ctr"/>
          <a:lstStyle/>
          <a:p>
            <a:pPr marL="0" indent="0">
              <a:buNone/>
            </a:pPr>
            <a:r>
              <a:rPr lang="en-US" sz="1200" dirty="0">
                <a:solidFill>
                  <a:srgbClr val="A8BDD8"/>
                </a:solidFill>
                <a:latin typeface="Calibri" pitchFamily="34" charset="0"/>
                <a:ea typeface="Calibri" pitchFamily="34" charset="-122"/>
                <a:cs typeface="Calibri" pitchFamily="34" charset="-120"/>
              </a:rPr>
              <a:t>배  포</a:t>
            </a:r>
            <a:endParaRPr lang="en-US" sz="1200" dirty="0"/>
          </a:p>
        </p:txBody>
      </p:sp>
      <p:sp>
        <p:nvSpPr>
          <p:cNvPr id="26" name="Shape 24"/>
          <p:cNvSpPr/>
          <p:nvPr/>
        </p:nvSpPr>
        <p:spPr>
          <a:xfrm>
            <a:off x="1920240" y="2670048"/>
            <a:ext cx="4846320" cy="347472"/>
          </a:xfrm>
          <a:prstGeom prst="rect">
            <a:avLst/>
          </a:prstGeom>
          <a:solidFill>
            <a:srgbClr val="243060"/>
          </a:solidFill>
          <a:ln/>
        </p:spPr>
        <p:txBody>
          <a:bodyPr/>
          <a:lstStyle/>
          <a:p>
            <a:endParaRPr lang="ko-KR" altLang="en-US"/>
          </a:p>
        </p:txBody>
      </p:sp>
      <p:sp>
        <p:nvSpPr>
          <p:cNvPr id="27" name="Text 25"/>
          <p:cNvSpPr/>
          <p:nvPr/>
        </p:nvSpPr>
        <p:spPr>
          <a:xfrm>
            <a:off x="6839712" y="2688336"/>
            <a:ext cx="475488" cy="310896"/>
          </a:xfrm>
          <a:prstGeom prst="rect">
            <a:avLst/>
          </a:prstGeom>
          <a:noFill/>
          <a:ln/>
        </p:spPr>
        <p:txBody>
          <a:bodyPr wrap="square" lIns="0" tIns="0" rIns="0" bIns="0" rtlCol="0" anchor="ctr"/>
          <a:lstStyle/>
          <a:p>
            <a:pPr marL="0" indent="0">
              <a:buNone/>
            </a:pPr>
            <a:r>
              <a:rPr lang="en-US" sz="1200" b="1" dirty="0">
                <a:solidFill>
                  <a:srgbClr val="8899AA"/>
                </a:solidFill>
                <a:latin typeface="Calibri" pitchFamily="34" charset="0"/>
                <a:ea typeface="Calibri" pitchFamily="34" charset="-122"/>
                <a:cs typeface="Calibri" pitchFamily="34" charset="-120"/>
              </a:rPr>
              <a:t>0%</a:t>
            </a:r>
            <a:endParaRPr lang="en-US" sz="1200" dirty="0"/>
          </a:p>
        </p:txBody>
      </p:sp>
      <p:sp>
        <p:nvSpPr>
          <p:cNvPr id="28" name="Text 26"/>
          <p:cNvSpPr/>
          <p:nvPr/>
        </p:nvSpPr>
        <p:spPr>
          <a:xfrm>
            <a:off x="7360920" y="2688336"/>
            <a:ext cx="2011680" cy="310896"/>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예정 (10주차~)</a:t>
            </a:r>
            <a:endParaRPr lang="en-US" sz="1000" dirty="0"/>
          </a:p>
        </p:txBody>
      </p:sp>
      <p:sp>
        <p:nvSpPr>
          <p:cNvPr id="29" name="Text 27"/>
          <p:cNvSpPr/>
          <p:nvPr/>
        </p:nvSpPr>
        <p:spPr>
          <a:xfrm>
            <a:off x="320040" y="2977948"/>
            <a:ext cx="3657600" cy="3200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구현 35% 세부 근거</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2065844350"/>
              </p:ext>
            </p:extLst>
          </p:nvPr>
        </p:nvGraphicFramePr>
        <p:xfrm>
          <a:off x="320040" y="3325420"/>
          <a:ext cx="8503920" cy="1813560"/>
        </p:xfrm>
        <a:graphic>
          <a:graphicData uri="http://schemas.openxmlformats.org/drawingml/2006/table">
            <a:tbl>
              <a:tblPr/>
              <a:tblGrid>
                <a:gridCol w="6400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22402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구현 영역</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4A90D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상태</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4A90D9"/>
                    </a:solidFill>
                  </a:tcPr>
                </a:tc>
                <a:extLst>
                  <a:ext uri="{0D108BD9-81ED-4DB2-BD59-A6C34878D82A}">
                    <a16:rowId xmlns:a16="http://schemas.microsoft.com/office/drawing/2014/main" val="10000"/>
                  </a:ext>
                </a:extLst>
              </a:tr>
              <a:tr h="22402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백엔드 API 서버 (FastAPI)</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 완료</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1"/>
                  </a:ext>
                </a:extLst>
              </a:tr>
              <a:tr h="22402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데이터베이스 스키마 (SQLite)</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 완료</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2"/>
                  </a:ext>
                </a:extLst>
              </a:tr>
              <a:tr h="22402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PDF 파서 / STT / 데이터 병합</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 완료</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3"/>
                  </a:ext>
                </a:extLst>
              </a:tr>
              <a:tr h="22402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LLM 연동 + 프롬프트 튜닝</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 완료</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4"/>
                  </a:ext>
                </a:extLst>
              </a:tr>
              <a:tr h="22402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프론트엔드 UI</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 미착수</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5"/>
                  </a:ext>
                </a:extLst>
              </a:tr>
              <a:tr h="22402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서버 배포 / 인프라 / 사용자 테스트</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 미착수</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51E4F"/>
          </a:solidFill>
          <a:ln/>
        </p:spPr>
        <p:txBody>
          <a:bodyPr/>
          <a:lstStyle/>
          <a:p>
            <a:endParaRPr lang="ko-KR" altLang="en-US"/>
          </a:p>
        </p:txBody>
      </p:sp>
      <p:sp>
        <p:nvSpPr>
          <p:cNvPr id="3" name="Shape 1"/>
          <p:cNvSpPr/>
          <p:nvPr/>
        </p:nvSpPr>
        <p:spPr>
          <a:xfrm>
            <a:off x="0" y="0"/>
            <a:ext cx="164592" cy="5143500"/>
          </a:xfrm>
          <a:prstGeom prst="rect">
            <a:avLst/>
          </a:prstGeom>
          <a:solidFill>
            <a:srgbClr val="4A90D9"/>
          </a:solidFill>
          <a:ln/>
        </p:spPr>
        <p:txBody>
          <a:bodyPr/>
          <a:lstStyle/>
          <a:p>
            <a:endParaRPr lang="ko-KR" altLang="en-US"/>
          </a:p>
        </p:txBody>
      </p:sp>
      <p:sp>
        <p:nvSpPr>
          <p:cNvPr id="4" name="Text 2"/>
          <p:cNvSpPr/>
          <p:nvPr/>
        </p:nvSpPr>
        <p:spPr>
          <a:xfrm>
            <a:off x="365760" y="91440"/>
            <a:ext cx="64008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프로젝트 로드맵</a:t>
            </a:r>
            <a:endParaRPr lang="en-US" sz="2600" dirty="0"/>
          </a:p>
        </p:txBody>
      </p:sp>
      <p:sp>
        <p:nvSpPr>
          <p:cNvPr id="5" name="Text 3"/>
          <p:cNvSpPr/>
          <p:nvPr/>
        </p:nvSpPr>
        <p:spPr>
          <a:xfrm>
            <a:off x="365760" y="109728"/>
            <a:ext cx="8412480" cy="594360"/>
          </a:xfrm>
          <a:prstGeom prst="rect">
            <a:avLst/>
          </a:prstGeom>
          <a:noFill/>
          <a:ln/>
        </p:spPr>
        <p:txBody>
          <a:bodyPr wrap="square" lIns="0" tIns="0" rIns="0" bIns="0" rtlCol="0" anchor="ctr"/>
          <a:lstStyle/>
          <a:p>
            <a:pPr marL="0" indent="0" algn="r">
              <a:buNone/>
            </a:pPr>
            <a:r>
              <a:rPr lang="en-US" sz="1400" dirty="0">
                <a:solidFill>
                  <a:srgbClr val="CADCFC"/>
                </a:solidFill>
                <a:latin typeface="Calibri" pitchFamily="34" charset="0"/>
                <a:ea typeface="Calibri" pitchFamily="34" charset="-122"/>
                <a:cs typeface="Calibri" pitchFamily="34" charset="-120"/>
              </a:rPr>
              <a:t>3차 발표 마일스톤 달성</a:t>
            </a:r>
            <a:endParaRPr lang="en-US" sz="1400" dirty="0"/>
          </a:p>
        </p:txBody>
      </p:sp>
      <p:sp>
        <p:nvSpPr>
          <p:cNvPr id="6" name="Shape 4"/>
          <p:cNvSpPr/>
          <p:nvPr/>
        </p:nvSpPr>
        <p:spPr>
          <a:xfrm>
            <a:off x="365760" y="1929384"/>
            <a:ext cx="8412480" cy="73152"/>
          </a:xfrm>
          <a:prstGeom prst="rect">
            <a:avLst/>
          </a:prstGeom>
          <a:solidFill>
            <a:srgbClr val="2A3A70"/>
          </a:solidFill>
          <a:ln/>
        </p:spPr>
        <p:txBody>
          <a:bodyPr/>
          <a:lstStyle/>
          <a:p>
            <a:endParaRPr lang="ko-KR" altLang="en-US"/>
          </a:p>
        </p:txBody>
      </p:sp>
      <p:sp>
        <p:nvSpPr>
          <p:cNvPr id="7" name="Shape 5"/>
          <p:cNvSpPr/>
          <p:nvPr/>
        </p:nvSpPr>
        <p:spPr>
          <a:xfrm>
            <a:off x="365760" y="1929384"/>
            <a:ext cx="4206240" cy="73152"/>
          </a:xfrm>
          <a:prstGeom prst="rect">
            <a:avLst/>
          </a:prstGeom>
          <a:solidFill>
            <a:srgbClr val="2ECC71"/>
          </a:solidFill>
          <a:ln/>
        </p:spPr>
        <p:txBody>
          <a:bodyPr/>
          <a:lstStyle/>
          <a:p>
            <a:endParaRPr lang="ko-KR" altLang="en-US"/>
          </a:p>
        </p:txBody>
      </p:sp>
      <p:sp>
        <p:nvSpPr>
          <p:cNvPr id="8" name="Shape 6"/>
          <p:cNvSpPr/>
          <p:nvPr/>
        </p:nvSpPr>
        <p:spPr>
          <a:xfrm>
            <a:off x="344424" y="1837944"/>
            <a:ext cx="256032" cy="256032"/>
          </a:xfrm>
          <a:prstGeom prst="ellipse">
            <a:avLst/>
          </a:prstGeom>
          <a:solidFill>
            <a:srgbClr val="2ECC71"/>
          </a:solidFill>
          <a:ln w="12700">
            <a:solidFill>
              <a:srgbClr val="2ECC71"/>
            </a:solidFill>
            <a:prstDash val="solid"/>
          </a:ln>
        </p:spPr>
        <p:txBody>
          <a:bodyPr/>
          <a:lstStyle/>
          <a:p>
            <a:endParaRPr lang="ko-KR" altLang="en-US"/>
          </a:p>
        </p:txBody>
      </p:sp>
      <p:sp>
        <p:nvSpPr>
          <p:cNvPr id="9" name="Text 7"/>
          <p:cNvSpPr/>
          <p:nvPr/>
        </p:nvSpPr>
        <p:spPr>
          <a:xfrm>
            <a:off x="-259080" y="1143000"/>
            <a:ext cx="1463040" cy="365760"/>
          </a:xfrm>
          <a:prstGeom prst="rect">
            <a:avLst/>
          </a:prstGeom>
          <a:noFill/>
          <a:ln/>
        </p:spPr>
        <p:txBody>
          <a:bodyPr wrap="square" lIns="0" tIns="0" rIns="0" bIns="0" rtlCol="0" anchor="ctr"/>
          <a:lstStyle/>
          <a:p>
            <a:pPr marL="0" indent="0" algn="ctr">
              <a:buNone/>
            </a:pPr>
            <a:r>
              <a:rPr lang="en-US" sz="900" dirty="0">
                <a:solidFill>
                  <a:srgbClr val="A8BDD8"/>
                </a:solidFill>
                <a:latin typeface="Calibri" pitchFamily="34" charset="0"/>
                <a:ea typeface="Calibri" pitchFamily="34" charset="-122"/>
                <a:cs typeface="Calibri" pitchFamily="34" charset="-120"/>
              </a:rPr>
              <a:t>1-2주차</a:t>
            </a:r>
            <a:endParaRPr lang="en-US" sz="900" dirty="0"/>
          </a:p>
        </p:txBody>
      </p:sp>
      <p:sp>
        <p:nvSpPr>
          <p:cNvPr id="10" name="Text 8"/>
          <p:cNvSpPr/>
          <p:nvPr/>
        </p:nvSpPr>
        <p:spPr>
          <a:xfrm>
            <a:off x="-237744" y="2221992"/>
            <a:ext cx="1463040" cy="64008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아이디어</a:t>
            </a:r>
            <a:endParaRPr lang="en-US" sz="1000" dirty="0"/>
          </a:p>
          <a:p>
            <a:pPr marL="0" indent="0" algn="ctr">
              <a:buNone/>
            </a:pPr>
            <a:r>
              <a:rPr lang="en-US" sz="1000" dirty="0">
                <a:solidFill>
                  <a:srgbClr val="CADCFC"/>
                </a:solidFill>
                <a:latin typeface="Calibri" pitchFamily="34" charset="0"/>
                <a:ea typeface="Calibri" pitchFamily="34" charset="-122"/>
                <a:cs typeface="Calibri" pitchFamily="34" charset="-120"/>
              </a:rPr>
              <a:t>기획</a:t>
            </a:r>
            <a:endParaRPr lang="en-US" sz="1000" dirty="0"/>
          </a:p>
        </p:txBody>
      </p:sp>
      <p:sp>
        <p:nvSpPr>
          <p:cNvPr id="11" name="Shape 9"/>
          <p:cNvSpPr/>
          <p:nvPr/>
        </p:nvSpPr>
        <p:spPr>
          <a:xfrm>
            <a:off x="1639824" y="1837944"/>
            <a:ext cx="256032" cy="256032"/>
          </a:xfrm>
          <a:prstGeom prst="ellipse">
            <a:avLst/>
          </a:prstGeom>
          <a:solidFill>
            <a:srgbClr val="2ECC71"/>
          </a:solidFill>
          <a:ln w="12700">
            <a:solidFill>
              <a:srgbClr val="2ECC71"/>
            </a:solidFill>
            <a:prstDash val="solid"/>
          </a:ln>
        </p:spPr>
        <p:txBody>
          <a:bodyPr/>
          <a:lstStyle/>
          <a:p>
            <a:endParaRPr lang="ko-KR" altLang="en-US"/>
          </a:p>
        </p:txBody>
      </p:sp>
      <p:sp>
        <p:nvSpPr>
          <p:cNvPr id="12" name="Text 10"/>
          <p:cNvSpPr/>
          <p:nvPr/>
        </p:nvSpPr>
        <p:spPr>
          <a:xfrm>
            <a:off x="1036320" y="1143000"/>
            <a:ext cx="1463040" cy="365760"/>
          </a:xfrm>
          <a:prstGeom prst="rect">
            <a:avLst/>
          </a:prstGeom>
          <a:noFill/>
          <a:ln/>
        </p:spPr>
        <p:txBody>
          <a:bodyPr wrap="square" lIns="0" tIns="0" rIns="0" bIns="0" rtlCol="0" anchor="ctr"/>
          <a:lstStyle/>
          <a:p>
            <a:pPr marL="0" indent="0" algn="ctr">
              <a:buNone/>
            </a:pPr>
            <a:r>
              <a:rPr lang="en-US" sz="900" dirty="0">
                <a:solidFill>
                  <a:srgbClr val="A8BDD8"/>
                </a:solidFill>
                <a:latin typeface="Calibri" pitchFamily="34" charset="0"/>
                <a:ea typeface="Calibri" pitchFamily="34" charset="-122"/>
                <a:cs typeface="Calibri" pitchFamily="34" charset="-120"/>
              </a:rPr>
              <a:t>3주차</a:t>
            </a:r>
            <a:endParaRPr lang="en-US" sz="900" dirty="0"/>
          </a:p>
        </p:txBody>
      </p:sp>
      <p:sp>
        <p:nvSpPr>
          <p:cNvPr id="13" name="Shape 11"/>
          <p:cNvSpPr/>
          <p:nvPr/>
        </p:nvSpPr>
        <p:spPr>
          <a:xfrm>
            <a:off x="1127760" y="731520"/>
            <a:ext cx="1280160" cy="320040"/>
          </a:xfrm>
          <a:prstGeom prst="roundRect">
            <a:avLst>
              <a:gd name="adj" fmla="val 14286"/>
            </a:avLst>
          </a:prstGeom>
          <a:solidFill>
            <a:srgbClr val="4A90D9"/>
          </a:solidFill>
          <a:ln/>
        </p:spPr>
        <p:txBody>
          <a:bodyPr/>
          <a:lstStyle/>
          <a:p>
            <a:endParaRPr lang="ko-KR" altLang="en-US"/>
          </a:p>
        </p:txBody>
      </p:sp>
      <p:sp>
        <p:nvSpPr>
          <p:cNvPr id="14" name="Text 12"/>
          <p:cNvSpPr/>
          <p:nvPr/>
        </p:nvSpPr>
        <p:spPr>
          <a:xfrm>
            <a:off x="1127760" y="731520"/>
            <a:ext cx="128016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1차발표</a:t>
            </a:r>
            <a:endParaRPr lang="en-US" sz="900" dirty="0"/>
          </a:p>
        </p:txBody>
      </p:sp>
      <p:sp>
        <p:nvSpPr>
          <p:cNvPr id="15" name="Text 13"/>
          <p:cNvSpPr/>
          <p:nvPr/>
        </p:nvSpPr>
        <p:spPr>
          <a:xfrm>
            <a:off x="1036320" y="2221992"/>
            <a:ext cx="1463040" cy="64008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요구분석</a:t>
            </a:r>
            <a:endParaRPr lang="en-US" sz="1000" dirty="0"/>
          </a:p>
          <a:p>
            <a:pPr marL="0" indent="0" algn="ctr">
              <a:buNone/>
            </a:pPr>
            <a:r>
              <a:rPr lang="en-US" sz="1000" dirty="0">
                <a:solidFill>
                  <a:srgbClr val="CADCFC"/>
                </a:solidFill>
                <a:latin typeface="Calibri" pitchFamily="34" charset="0"/>
                <a:ea typeface="Calibri" pitchFamily="34" charset="-122"/>
                <a:cs typeface="Calibri" pitchFamily="34" charset="-120"/>
              </a:rPr>
              <a:t>완료</a:t>
            </a:r>
            <a:endParaRPr lang="en-US" sz="1000" dirty="0"/>
          </a:p>
        </p:txBody>
      </p:sp>
      <p:sp>
        <p:nvSpPr>
          <p:cNvPr id="16" name="Shape 14"/>
          <p:cNvSpPr/>
          <p:nvPr/>
        </p:nvSpPr>
        <p:spPr>
          <a:xfrm>
            <a:off x="3041904" y="1837944"/>
            <a:ext cx="256032" cy="256032"/>
          </a:xfrm>
          <a:prstGeom prst="ellipse">
            <a:avLst/>
          </a:prstGeom>
          <a:solidFill>
            <a:srgbClr val="2ECC71"/>
          </a:solidFill>
          <a:ln w="12700">
            <a:solidFill>
              <a:srgbClr val="2ECC71"/>
            </a:solidFill>
            <a:prstDash val="solid"/>
          </a:ln>
        </p:spPr>
        <p:txBody>
          <a:bodyPr/>
          <a:lstStyle/>
          <a:p>
            <a:endParaRPr lang="ko-KR" altLang="en-US"/>
          </a:p>
        </p:txBody>
      </p:sp>
      <p:sp>
        <p:nvSpPr>
          <p:cNvPr id="17" name="Text 15"/>
          <p:cNvSpPr/>
          <p:nvPr/>
        </p:nvSpPr>
        <p:spPr>
          <a:xfrm>
            <a:off x="2438400" y="1143000"/>
            <a:ext cx="1463040" cy="365760"/>
          </a:xfrm>
          <a:prstGeom prst="rect">
            <a:avLst/>
          </a:prstGeom>
          <a:noFill/>
          <a:ln/>
        </p:spPr>
        <p:txBody>
          <a:bodyPr wrap="square" lIns="0" tIns="0" rIns="0" bIns="0" rtlCol="0" anchor="ctr"/>
          <a:lstStyle/>
          <a:p>
            <a:pPr marL="0" indent="0" algn="ctr">
              <a:buNone/>
            </a:pPr>
            <a:r>
              <a:rPr lang="en-US" sz="900" dirty="0">
                <a:solidFill>
                  <a:srgbClr val="A8BDD8"/>
                </a:solidFill>
                <a:latin typeface="Calibri" pitchFamily="34" charset="0"/>
                <a:ea typeface="Calibri" pitchFamily="34" charset="-122"/>
                <a:cs typeface="Calibri" pitchFamily="34" charset="-120"/>
              </a:rPr>
              <a:t>4주차</a:t>
            </a:r>
            <a:endParaRPr lang="en-US" sz="900" dirty="0"/>
          </a:p>
        </p:txBody>
      </p:sp>
      <p:sp>
        <p:nvSpPr>
          <p:cNvPr id="18" name="Shape 16"/>
          <p:cNvSpPr/>
          <p:nvPr/>
        </p:nvSpPr>
        <p:spPr>
          <a:xfrm>
            <a:off x="2529840" y="731520"/>
            <a:ext cx="1280160" cy="320040"/>
          </a:xfrm>
          <a:prstGeom prst="roundRect">
            <a:avLst>
              <a:gd name="adj" fmla="val 14286"/>
            </a:avLst>
          </a:prstGeom>
          <a:solidFill>
            <a:srgbClr val="4A90D9"/>
          </a:solidFill>
          <a:ln/>
        </p:spPr>
        <p:txBody>
          <a:bodyPr/>
          <a:lstStyle/>
          <a:p>
            <a:endParaRPr lang="ko-KR" altLang="en-US"/>
          </a:p>
        </p:txBody>
      </p:sp>
      <p:sp>
        <p:nvSpPr>
          <p:cNvPr id="19" name="Text 17"/>
          <p:cNvSpPr/>
          <p:nvPr/>
        </p:nvSpPr>
        <p:spPr>
          <a:xfrm>
            <a:off x="2529840" y="731520"/>
            <a:ext cx="128016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2차발표</a:t>
            </a:r>
            <a:endParaRPr lang="en-US" sz="900" dirty="0"/>
          </a:p>
        </p:txBody>
      </p:sp>
      <p:sp>
        <p:nvSpPr>
          <p:cNvPr id="20" name="Text 18"/>
          <p:cNvSpPr/>
          <p:nvPr/>
        </p:nvSpPr>
        <p:spPr>
          <a:xfrm>
            <a:off x="2438400" y="2221992"/>
            <a:ext cx="1463040" cy="64008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시스템설계</a:t>
            </a:r>
            <a:endParaRPr lang="en-US" sz="1000" dirty="0"/>
          </a:p>
          <a:p>
            <a:pPr marL="0" indent="0" algn="ctr">
              <a:buNone/>
            </a:pPr>
            <a:r>
              <a:rPr lang="en-US" sz="1000" dirty="0">
                <a:solidFill>
                  <a:srgbClr val="CADCFC"/>
                </a:solidFill>
                <a:latin typeface="Calibri" pitchFamily="34" charset="0"/>
                <a:ea typeface="Calibri" pitchFamily="34" charset="-122"/>
                <a:cs typeface="Calibri" pitchFamily="34" charset="-120"/>
              </a:rPr>
              <a:t>완료</a:t>
            </a:r>
            <a:endParaRPr lang="en-US" sz="1000" dirty="0"/>
          </a:p>
        </p:txBody>
      </p:sp>
      <p:sp>
        <p:nvSpPr>
          <p:cNvPr id="21" name="Shape 19"/>
          <p:cNvSpPr/>
          <p:nvPr/>
        </p:nvSpPr>
        <p:spPr>
          <a:xfrm>
            <a:off x="4398264" y="1792224"/>
            <a:ext cx="347472" cy="347472"/>
          </a:xfrm>
          <a:prstGeom prst="ellipse">
            <a:avLst/>
          </a:prstGeom>
          <a:solidFill>
            <a:srgbClr val="F39C12"/>
          </a:solidFill>
          <a:ln w="12700">
            <a:solidFill>
              <a:srgbClr val="F39C12"/>
            </a:solidFill>
            <a:prstDash val="solid"/>
          </a:ln>
        </p:spPr>
        <p:txBody>
          <a:bodyPr/>
          <a:lstStyle/>
          <a:p>
            <a:endParaRPr lang="ko-KR" altLang="en-US"/>
          </a:p>
        </p:txBody>
      </p:sp>
      <p:sp>
        <p:nvSpPr>
          <p:cNvPr id="22" name="Text 20"/>
          <p:cNvSpPr/>
          <p:nvPr/>
        </p:nvSpPr>
        <p:spPr>
          <a:xfrm>
            <a:off x="3840480" y="1143000"/>
            <a:ext cx="1463040" cy="365760"/>
          </a:xfrm>
          <a:prstGeom prst="rect">
            <a:avLst/>
          </a:prstGeom>
          <a:noFill/>
          <a:ln/>
        </p:spPr>
        <p:txBody>
          <a:bodyPr wrap="square" lIns="0" tIns="0" rIns="0" bIns="0" rtlCol="0" anchor="ctr"/>
          <a:lstStyle/>
          <a:p>
            <a:pPr marL="0" indent="0" algn="ctr">
              <a:buNone/>
            </a:pPr>
            <a:r>
              <a:rPr lang="en-US" sz="900" dirty="0">
                <a:solidFill>
                  <a:srgbClr val="F39C12"/>
                </a:solidFill>
                <a:latin typeface="Calibri" pitchFamily="34" charset="0"/>
                <a:ea typeface="Calibri" pitchFamily="34" charset="-122"/>
                <a:cs typeface="Calibri" pitchFamily="34" charset="-120"/>
              </a:rPr>
              <a:t>6주차</a:t>
            </a:r>
            <a:endParaRPr lang="en-US" sz="900" dirty="0"/>
          </a:p>
        </p:txBody>
      </p:sp>
      <p:sp>
        <p:nvSpPr>
          <p:cNvPr id="23" name="Shape 21"/>
          <p:cNvSpPr/>
          <p:nvPr/>
        </p:nvSpPr>
        <p:spPr>
          <a:xfrm>
            <a:off x="3931920" y="731520"/>
            <a:ext cx="1280160" cy="320040"/>
          </a:xfrm>
          <a:prstGeom prst="roundRect">
            <a:avLst>
              <a:gd name="adj" fmla="val 14286"/>
            </a:avLst>
          </a:prstGeom>
          <a:solidFill>
            <a:srgbClr val="F39C12"/>
          </a:solidFill>
          <a:ln/>
        </p:spPr>
        <p:txBody>
          <a:bodyPr/>
          <a:lstStyle/>
          <a:p>
            <a:endParaRPr lang="ko-KR" altLang="en-US"/>
          </a:p>
        </p:txBody>
      </p:sp>
      <p:sp>
        <p:nvSpPr>
          <p:cNvPr id="24" name="Text 22"/>
          <p:cNvSpPr/>
          <p:nvPr/>
        </p:nvSpPr>
        <p:spPr>
          <a:xfrm>
            <a:off x="3931920" y="731520"/>
            <a:ext cx="128016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3차발표 ★</a:t>
            </a:r>
            <a:endParaRPr lang="en-US" sz="900" dirty="0"/>
          </a:p>
        </p:txBody>
      </p:sp>
      <p:sp>
        <p:nvSpPr>
          <p:cNvPr id="25" name="Text 23"/>
          <p:cNvSpPr/>
          <p:nvPr/>
        </p:nvSpPr>
        <p:spPr>
          <a:xfrm>
            <a:off x="3840480" y="2221992"/>
            <a:ext cx="146304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백엔드MVP</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완료</a:t>
            </a:r>
            <a:endParaRPr lang="en-US" sz="1000" dirty="0"/>
          </a:p>
        </p:txBody>
      </p:sp>
      <p:sp>
        <p:nvSpPr>
          <p:cNvPr id="26" name="Shape 24"/>
          <p:cNvSpPr/>
          <p:nvPr/>
        </p:nvSpPr>
        <p:spPr>
          <a:xfrm>
            <a:off x="5846064" y="1837944"/>
            <a:ext cx="256032" cy="256032"/>
          </a:xfrm>
          <a:prstGeom prst="ellipse">
            <a:avLst/>
          </a:prstGeom>
          <a:solidFill>
            <a:srgbClr val="2A3A70"/>
          </a:solidFill>
          <a:ln w="12700">
            <a:solidFill>
              <a:srgbClr val="4A90D9"/>
            </a:solidFill>
            <a:prstDash val="solid"/>
          </a:ln>
        </p:spPr>
        <p:txBody>
          <a:bodyPr/>
          <a:lstStyle/>
          <a:p>
            <a:endParaRPr lang="ko-KR" altLang="en-US"/>
          </a:p>
        </p:txBody>
      </p:sp>
      <p:sp>
        <p:nvSpPr>
          <p:cNvPr id="27" name="Text 25"/>
          <p:cNvSpPr/>
          <p:nvPr/>
        </p:nvSpPr>
        <p:spPr>
          <a:xfrm>
            <a:off x="5242560" y="1143000"/>
            <a:ext cx="1463040" cy="365760"/>
          </a:xfrm>
          <a:prstGeom prst="rect">
            <a:avLst/>
          </a:prstGeom>
          <a:noFill/>
          <a:ln/>
        </p:spPr>
        <p:txBody>
          <a:bodyPr wrap="square" lIns="0" tIns="0" rIns="0" bIns="0" rtlCol="0" anchor="ctr"/>
          <a:lstStyle/>
          <a:p>
            <a:pPr marL="0" indent="0" algn="ctr">
              <a:buNone/>
            </a:pPr>
            <a:r>
              <a:rPr lang="en-US" sz="900" dirty="0">
                <a:solidFill>
                  <a:srgbClr val="A8BDD8"/>
                </a:solidFill>
                <a:latin typeface="Calibri" pitchFamily="34" charset="0"/>
                <a:ea typeface="Calibri" pitchFamily="34" charset="-122"/>
                <a:cs typeface="Calibri" pitchFamily="34" charset="-120"/>
              </a:rPr>
              <a:t>8주차</a:t>
            </a:r>
            <a:endParaRPr lang="en-US" sz="900" dirty="0"/>
          </a:p>
        </p:txBody>
      </p:sp>
      <p:sp>
        <p:nvSpPr>
          <p:cNvPr id="28" name="Text 26"/>
          <p:cNvSpPr/>
          <p:nvPr/>
        </p:nvSpPr>
        <p:spPr>
          <a:xfrm>
            <a:off x="5242560" y="2221992"/>
            <a:ext cx="1463040" cy="640080"/>
          </a:xfrm>
          <a:prstGeom prst="rect">
            <a:avLst/>
          </a:prstGeom>
          <a:noFill/>
          <a:ln/>
        </p:spPr>
        <p:txBody>
          <a:bodyPr wrap="square" lIns="0" tIns="0" rIns="0" bIns="0" rtlCol="0" anchor="ctr"/>
          <a:lstStyle/>
          <a:p>
            <a:pPr marL="0" indent="0" algn="ctr">
              <a:buNone/>
            </a:pPr>
            <a:r>
              <a:rPr lang="en-US" sz="1000" dirty="0">
                <a:solidFill>
                  <a:srgbClr val="A8BDD8"/>
                </a:solidFill>
                <a:latin typeface="Calibri" pitchFamily="34" charset="0"/>
                <a:ea typeface="Calibri" pitchFamily="34" charset="-122"/>
                <a:cs typeface="Calibri" pitchFamily="34" charset="-120"/>
              </a:rPr>
              <a:t>알파빌드</a:t>
            </a:r>
            <a:endParaRPr lang="en-US" sz="1000" dirty="0"/>
          </a:p>
          <a:p>
            <a:pPr marL="0" indent="0" algn="ctr">
              <a:buNone/>
            </a:pPr>
            <a:r>
              <a:rPr lang="en-US" sz="1000" dirty="0">
                <a:solidFill>
                  <a:srgbClr val="A8BDD8"/>
                </a:solidFill>
                <a:latin typeface="Calibri" pitchFamily="34" charset="0"/>
                <a:ea typeface="Calibri" pitchFamily="34" charset="-122"/>
                <a:cs typeface="Calibri" pitchFamily="34" charset="-120"/>
              </a:rPr>
              <a:t>완성</a:t>
            </a:r>
            <a:endParaRPr lang="en-US" sz="1000" dirty="0"/>
          </a:p>
        </p:txBody>
      </p:sp>
      <p:sp>
        <p:nvSpPr>
          <p:cNvPr id="29" name="Shape 27"/>
          <p:cNvSpPr/>
          <p:nvPr/>
        </p:nvSpPr>
        <p:spPr>
          <a:xfrm>
            <a:off x="7248144" y="1837944"/>
            <a:ext cx="256032" cy="256032"/>
          </a:xfrm>
          <a:prstGeom prst="ellipse">
            <a:avLst/>
          </a:prstGeom>
          <a:solidFill>
            <a:srgbClr val="2A3A70"/>
          </a:solidFill>
          <a:ln w="12700">
            <a:solidFill>
              <a:srgbClr val="4A90D9"/>
            </a:solidFill>
            <a:prstDash val="solid"/>
          </a:ln>
        </p:spPr>
        <p:txBody>
          <a:bodyPr/>
          <a:lstStyle/>
          <a:p>
            <a:endParaRPr lang="ko-KR" altLang="en-US"/>
          </a:p>
        </p:txBody>
      </p:sp>
      <p:sp>
        <p:nvSpPr>
          <p:cNvPr id="30" name="Text 28"/>
          <p:cNvSpPr/>
          <p:nvPr/>
        </p:nvSpPr>
        <p:spPr>
          <a:xfrm>
            <a:off x="6644640" y="1143000"/>
            <a:ext cx="1463040" cy="365760"/>
          </a:xfrm>
          <a:prstGeom prst="rect">
            <a:avLst/>
          </a:prstGeom>
          <a:noFill/>
          <a:ln/>
        </p:spPr>
        <p:txBody>
          <a:bodyPr wrap="square" lIns="0" tIns="0" rIns="0" bIns="0" rtlCol="0" anchor="ctr"/>
          <a:lstStyle/>
          <a:p>
            <a:pPr marL="0" indent="0" algn="ctr">
              <a:buNone/>
            </a:pPr>
            <a:r>
              <a:rPr lang="en-US" sz="900" dirty="0">
                <a:solidFill>
                  <a:srgbClr val="A8BDD8"/>
                </a:solidFill>
                <a:latin typeface="Calibri" pitchFamily="34" charset="0"/>
                <a:ea typeface="Calibri" pitchFamily="34" charset="-122"/>
                <a:cs typeface="Calibri" pitchFamily="34" charset="-120"/>
              </a:rPr>
              <a:t>10주차</a:t>
            </a:r>
            <a:endParaRPr lang="en-US" sz="900" dirty="0"/>
          </a:p>
        </p:txBody>
      </p:sp>
      <p:sp>
        <p:nvSpPr>
          <p:cNvPr id="31" name="Text 29"/>
          <p:cNvSpPr/>
          <p:nvPr/>
        </p:nvSpPr>
        <p:spPr>
          <a:xfrm>
            <a:off x="6644640" y="2221992"/>
            <a:ext cx="1463040" cy="640080"/>
          </a:xfrm>
          <a:prstGeom prst="rect">
            <a:avLst/>
          </a:prstGeom>
          <a:noFill/>
          <a:ln/>
        </p:spPr>
        <p:txBody>
          <a:bodyPr wrap="square" lIns="0" tIns="0" rIns="0" bIns="0" rtlCol="0" anchor="ctr"/>
          <a:lstStyle/>
          <a:p>
            <a:pPr marL="0" indent="0" algn="ctr">
              <a:buNone/>
            </a:pPr>
            <a:r>
              <a:rPr lang="en-US" sz="1000" dirty="0">
                <a:solidFill>
                  <a:srgbClr val="A8BDD8"/>
                </a:solidFill>
                <a:latin typeface="Calibri" pitchFamily="34" charset="0"/>
                <a:ea typeface="Calibri" pitchFamily="34" charset="-122"/>
                <a:cs typeface="Calibri" pitchFamily="34" charset="-120"/>
              </a:rPr>
              <a:t>베타테스트</a:t>
            </a:r>
            <a:endParaRPr lang="en-US" sz="1000" dirty="0"/>
          </a:p>
          <a:p>
            <a:pPr marL="0" indent="0" algn="ctr">
              <a:buNone/>
            </a:pPr>
            <a:r>
              <a:rPr lang="en-US" sz="1000" dirty="0">
                <a:solidFill>
                  <a:srgbClr val="A8BDD8"/>
                </a:solidFill>
                <a:latin typeface="Calibri" pitchFamily="34" charset="0"/>
                <a:ea typeface="Calibri" pitchFamily="34" charset="-122"/>
                <a:cs typeface="Calibri" pitchFamily="34" charset="-120"/>
              </a:rPr>
              <a:t>피드백</a:t>
            </a:r>
            <a:endParaRPr lang="en-US" sz="1000" dirty="0"/>
          </a:p>
        </p:txBody>
      </p:sp>
      <p:sp>
        <p:nvSpPr>
          <p:cNvPr id="32" name="Shape 30"/>
          <p:cNvSpPr/>
          <p:nvPr/>
        </p:nvSpPr>
        <p:spPr>
          <a:xfrm>
            <a:off x="8650224" y="1837944"/>
            <a:ext cx="256032" cy="256032"/>
          </a:xfrm>
          <a:prstGeom prst="ellipse">
            <a:avLst/>
          </a:prstGeom>
          <a:solidFill>
            <a:srgbClr val="2A3A70"/>
          </a:solidFill>
          <a:ln w="12700">
            <a:solidFill>
              <a:srgbClr val="4A90D9"/>
            </a:solidFill>
            <a:prstDash val="solid"/>
          </a:ln>
        </p:spPr>
        <p:txBody>
          <a:bodyPr/>
          <a:lstStyle/>
          <a:p>
            <a:endParaRPr lang="ko-KR" altLang="en-US"/>
          </a:p>
        </p:txBody>
      </p:sp>
      <p:sp>
        <p:nvSpPr>
          <p:cNvPr id="33" name="Text 31"/>
          <p:cNvSpPr/>
          <p:nvPr/>
        </p:nvSpPr>
        <p:spPr>
          <a:xfrm>
            <a:off x="8046720" y="1143000"/>
            <a:ext cx="1463040" cy="365760"/>
          </a:xfrm>
          <a:prstGeom prst="rect">
            <a:avLst/>
          </a:prstGeom>
          <a:noFill/>
          <a:ln/>
        </p:spPr>
        <p:txBody>
          <a:bodyPr wrap="square" lIns="0" tIns="0" rIns="0" bIns="0" rtlCol="0" anchor="ctr"/>
          <a:lstStyle/>
          <a:p>
            <a:pPr marL="0" indent="0" algn="ctr">
              <a:buNone/>
            </a:pPr>
            <a:r>
              <a:rPr lang="en-US" sz="900" dirty="0">
                <a:solidFill>
                  <a:srgbClr val="A8BDD8"/>
                </a:solidFill>
                <a:latin typeface="Calibri" pitchFamily="34" charset="0"/>
                <a:ea typeface="Calibri" pitchFamily="34" charset="-122"/>
                <a:cs typeface="Calibri" pitchFamily="34" charset="-120"/>
              </a:rPr>
              <a:t>13주차</a:t>
            </a:r>
            <a:endParaRPr lang="en-US" sz="900" dirty="0"/>
          </a:p>
        </p:txBody>
      </p:sp>
      <p:sp>
        <p:nvSpPr>
          <p:cNvPr id="34" name="Text 32"/>
          <p:cNvSpPr/>
          <p:nvPr/>
        </p:nvSpPr>
        <p:spPr>
          <a:xfrm>
            <a:off x="8046720" y="2221992"/>
            <a:ext cx="1463040" cy="640080"/>
          </a:xfrm>
          <a:prstGeom prst="rect">
            <a:avLst/>
          </a:prstGeom>
          <a:noFill/>
          <a:ln/>
        </p:spPr>
        <p:txBody>
          <a:bodyPr wrap="square" lIns="0" tIns="0" rIns="0" bIns="0" rtlCol="0" anchor="ctr"/>
          <a:lstStyle/>
          <a:p>
            <a:pPr marL="0" indent="0" algn="ctr">
              <a:buNone/>
            </a:pPr>
            <a:r>
              <a:rPr lang="en-US" sz="1000" dirty="0">
                <a:solidFill>
                  <a:srgbClr val="A8BDD8"/>
                </a:solidFill>
                <a:latin typeface="Calibri" pitchFamily="34" charset="0"/>
                <a:ea typeface="Calibri" pitchFamily="34" charset="-122"/>
                <a:cs typeface="Calibri" pitchFamily="34" charset="-120"/>
              </a:rPr>
              <a:t>최종발표</a:t>
            </a:r>
            <a:endParaRPr lang="en-US" sz="1000" dirty="0"/>
          </a:p>
          <a:p>
            <a:pPr marL="0" indent="0" algn="ctr">
              <a:buNone/>
            </a:pPr>
            <a:r>
              <a:rPr lang="en-US" sz="1000" dirty="0">
                <a:solidFill>
                  <a:srgbClr val="A8BDD8"/>
                </a:solidFill>
                <a:latin typeface="Calibri" pitchFamily="34" charset="0"/>
                <a:ea typeface="Calibri" pitchFamily="34" charset="-122"/>
                <a:cs typeface="Calibri" pitchFamily="34" charset="-120"/>
              </a:rPr>
              <a:t>런칭로드맵</a:t>
            </a:r>
            <a:endParaRPr lang="en-US" sz="1000" dirty="0"/>
          </a:p>
        </p:txBody>
      </p:sp>
      <p:sp>
        <p:nvSpPr>
          <p:cNvPr id="35" name="Text 33"/>
          <p:cNvSpPr/>
          <p:nvPr/>
        </p:nvSpPr>
        <p:spPr>
          <a:xfrm>
            <a:off x="320040" y="2834640"/>
            <a:ext cx="4572000" cy="365760"/>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이번 마일스톤 달성 항목</a:t>
            </a:r>
            <a:endParaRPr lang="en-US" sz="1300" dirty="0"/>
          </a:p>
        </p:txBody>
      </p:sp>
      <p:sp>
        <p:nvSpPr>
          <p:cNvPr id="36" name="Shape 34"/>
          <p:cNvSpPr/>
          <p:nvPr/>
        </p:nvSpPr>
        <p:spPr>
          <a:xfrm>
            <a:off x="320040" y="3310128"/>
            <a:ext cx="256032" cy="256032"/>
          </a:xfrm>
          <a:prstGeom prst="ellipse">
            <a:avLst/>
          </a:prstGeom>
          <a:solidFill>
            <a:srgbClr val="2ECC71"/>
          </a:solidFill>
          <a:ln/>
        </p:spPr>
        <p:txBody>
          <a:bodyPr/>
          <a:lstStyle/>
          <a:p>
            <a:endParaRPr lang="ko-KR" altLang="en-US"/>
          </a:p>
        </p:txBody>
      </p:sp>
      <p:sp>
        <p:nvSpPr>
          <p:cNvPr id="37" name="Text 35"/>
          <p:cNvSpPr/>
          <p:nvPr/>
        </p:nvSpPr>
        <p:spPr>
          <a:xfrm>
            <a:off x="320040" y="331012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38" name="Text 36"/>
          <p:cNvSpPr/>
          <p:nvPr/>
        </p:nvSpPr>
        <p:spPr>
          <a:xfrm>
            <a:off x="658368" y="3282696"/>
            <a:ext cx="8229600" cy="320040"/>
          </a:xfrm>
          <a:prstGeom prst="rect">
            <a:avLst/>
          </a:prstGeom>
          <a:noFill/>
          <a:ln/>
        </p:spPr>
        <p:txBody>
          <a:bodyPr wrap="square" lIns="0" tIns="0" rIns="0" bIns="0" rtlCol="0" anchor="ctr"/>
          <a:lstStyle/>
          <a:p>
            <a:pPr marL="0" indent="0">
              <a:buNone/>
            </a:pPr>
            <a:r>
              <a:rPr lang="en-US" sz="1200" dirty="0" err="1">
                <a:solidFill>
                  <a:srgbClr val="FFFFFF"/>
                </a:solidFill>
                <a:latin typeface="Calibri" pitchFamily="34" charset="0"/>
                <a:ea typeface="Calibri" pitchFamily="34" charset="-122"/>
                <a:cs typeface="Calibri" pitchFamily="34" charset="-120"/>
              </a:rPr>
              <a:t>엔드</a:t>
            </a:r>
            <a:r>
              <a:rPr lang="en-US" sz="1200" dirty="0">
                <a:solidFill>
                  <a:srgbClr val="FFFFFF"/>
                </a:solidFill>
                <a:latin typeface="Calibri" pitchFamily="34" charset="0"/>
                <a:ea typeface="Calibri" pitchFamily="34" charset="-122"/>
                <a:cs typeface="Calibri" pitchFamily="34" charset="-120"/>
              </a:rPr>
              <a:t>-투-엔드 동작 확인</a:t>
            </a:r>
            <a:endParaRPr lang="en-US" sz="1200" dirty="0"/>
          </a:p>
        </p:txBody>
      </p:sp>
      <p:sp>
        <p:nvSpPr>
          <p:cNvPr id="39" name="Shape 37"/>
          <p:cNvSpPr/>
          <p:nvPr/>
        </p:nvSpPr>
        <p:spPr>
          <a:xfrm>
            <a:off x="320040" y="3694176"/>
            <a:ext cx="256032" cy="256032"/>
          </a:xfrm>
          <a:prstGeom prst="ellipse">
            <a:avLst/>
          </a:prstGeom>
          <a:solidFill>
            <a:srgbClr val="2ECC71"/>
          </a:solidFill>
          <a:ln/>
        </p:spPr>
        <p:txBody>
          <a:bodyPr/>
          <a:lstStyle/>
          <a:p>
            <a:endParaRPr lang="ko-KR" altLang="en-US"/>
          </a:p>
        </p:txBody>
      </p:sp>
      <p:sp>
        <p:nvSpPr>
          <p:cNvPr id="40" name="Text 38"/>
          <p:cNvSpPr/>
          <p:nvPr/>
        </p:nvSpPr>
        <p:spPr>
          <a:xfrm>
            <a:off x="320040" y="369417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41" name="Text 39"/>
          <p:cNvSpPr/>
          <p:nvPr/>
        </p:nvSpPr>
        <p:spPr>
          <a:xfrm>
            <a:off x="658368" y="3666744"/>
            <a:ext cx="82296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구조화 요약 노트 생성 기능 검증</a:t>
            </a:r>
            <a:endParaRPr lang="en-US" sz="1200" dirty="0"/>
          </a:p>
        </p:txBody>
      </p:sp>
      <p:sp>
        <p:nvSpPr>
          <p:cNvPr id="42" name="Shape 40"/>
          <p:cNvSpPr/>
          <p:nvPr/>
        </p:nvSpPr>
        <p:spPr>
          <a:xfrm>
            <a:off x="320040" y="4078224"/>
            <a:ext cx="256032" cy="256032"/>
          </a:xfrm>
          <a:prstGeom prst="ellipse">
            <a:avLst/>
          </a:prstGeom>
          <a:solidFill>
            <a:srgbClr val="2ECC71"/>
          </a:solidFill>
          <a:ln/>
        </p:spPr>
        <p:txBody>
          <a:bodyPr/>
          <a:lstStyle/>
          <a:p>
            <a:endParaRPr lang="ko-KR" altLang="en-US"/>
          </a:p>
        </p:txBody>
      </p:sp>
      <p:sp>
        <p:nvSpPr>
          <p:cNvPr id="43" name="Text 41"/>
          <p:cNvSpPr/>
          <p:nvPr/>
        </p:nvSpPr>
        <p:spPr>
          <a:xfrm>
            <a:off x="320040" y="407822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44" name="Text 42"/>
          <p:cNvSpPr/>
          <p:nvPr/>
        </p:nvSpPr>
        <p:spPr>
          <a:xfrm>
            <a:off x="658368" y="4050792"/>
            <a:ext cx="82296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데이터 병합(Data Aggregator) 로직 안정화</a:t>
            </a:r>
            <a:endParaRPr lang="en-US" sz="1200" dirty="0"/>
          </a:p>
        </p:txBody>
      </p:sp>
      <p:sp>
        <p:nvSpPr>
          <p:cNvPr id="45" name="Shape 43"/>
          <p:cNvSpPr/>
          <p:nvPr/>
        </p:nvSpPr>
        <p:spPr>
          <a:xfrm>
            <a:off x="320040" y="4462272"/>
            <a:ext cx="256032" cy="256032"/>
          </a:xfrm>
          <a:prstGeom prst="ellipse">
            <a:avLst/>
          </a:prstGeom>
          <a:solidFill>
            <a:srgbClr val="2ECC71"/>
          </a:solidFill>
          <a:ln/>
        </p:spPr>
        <p:txBody>
          <a:bodyPr/>
          <a:lstStyle/>
          <a:p>
            <a:endParaRPr lang="ko-KR" altLang="en-US"/>
          </a:p>
        </p:txBody>
      </p:sp>
      <p:sp>
        <p:nvSpPr>
          <p:cNvPr id="46" name="Text 44"/>
          <p:cNvSpPr/>
          <p:nvPr/>
        </p:nvSpPr>
        <p:spPr>
          <a:xfrm>
            <a:off x="320040" y="446227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47" name="Text 45"/>
          <p:cNvSpPr/>
          <p:nvPr/>
        </p:nvSpPr>
        <p:spPr>
          <a:xfrm>
            <a:off x="658368" y="4434840"/>
            <a:ext cx="82296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노트 출력물 다운로드 기능 추가</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5" name="Shape 23"/>
          <p:cNvSpPr/>
          <p:nvPr/>
        </p:nvSpPr>
        <p:spPr>
          <a:xfrm>
            <a:off x="5074920" y="749808"/>
            <a:ext cx="3794760" cy="4206240"/>
          </a:xfrm>
          <a:prstGeom prst="roundRect">
            <a:avLst>
              <a:gd name="adj" fmla="val 2410"/>
            </a:avLst>
          </a:prstGeom>
          <a:solidFill>
            <a:srgbClr val="1A2E6B"/>
          </a:solidFill>
          <a:ln w="12700">
            <a:solidFill>
              <a:srgbClr val="F39C12"/>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 name="Shape 0"/>
          <p:cNvSpPr/>
          <p:nvPr/>
        </p:nvSpPr>
        <p:spPr>
          <a:xfrm>
            <a:off x="0" y="0"/>
            <a:ext cx="9144000" cy="685800"/>
          </a:xfrm>
          <a:prstGeom prst="rect">
            <a:avLst/>
          </a:prstGeom>
          <a:solidFill>
            <a:srgbClr val="151E4F"/>
          </a:solidFill>
          <a:ln/>
        </p:spPr>
        <p:txBody>
          <a:bodyPr/>
          <a:lstStyle/>
          <a:p>
            <a:endParaRPr lang="ko-KR" altLang="en-US"/>
          </a:p>
        </p:txBody>
      </p:sp>
      <p:sp>
        <p:nvSpPr>
          <p:cNvPr id="3" name="Shape 1"/>
          <p:cNvSpPr/>
          <p:nvPr/>
        </p:nvSpPr>
        <p:spPr>
          <a:xfrm>
            <a:off x="0" y="0"/>
            <a:ext cx="164592" cy="5143500"/>
          </a:xfrm>
          <a:prstGeom prst="rect">
            <a:avLst/>
          </a:prstGeom>
          <a:solidFill>
            <a:srgbClr val="4A90D9"/>
          </a:solidFill>
          <a:ln/>
        </p:spPr>
        <p:txBody>
          <a:bodyPr/>
          <a:lstStyle/>
          <a:p>
            <a:endParaRPr lang="ko-KR" altLang="en-US"/>
          </a:p>
        </p:txBody>
      </p:sp>
      <p:sp>
        <p:nvSpPr>
          <p:cNvPr id="4" name="Text 2"/>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시스템 데이터 파이프라인</a:t>
            </a:r>
            <a:endParaRPr lang="en-US" sz="2400" dirty="0"/>
          </a:p>
        </p:txBody>
      </p:sp>
      <p:sp>
        <p:nvSpPr>
          <p:cNvPr id="5" name="Text 3"/>
          <p:cNvSpPr/>
          <p:nvPr/>
        </p:nvSpPr>
        <p:spPr>
          <a:xfrm>
            <a:off x="365760" y="91440"/>
            <a:ext cx="8412480" cy="548640"/>
          </a:xfrm>
          <a:prstGeom prst="rect">
            <a:avLst/>
          </a:prstGeom>
          <a:noFill/>
          <a:ln/>
        </p:spPr>
        <p:txBody>
          <a:bodyPr wrap="square" lIns="0" tIns="0" rIns="0" bIns="0" rtlCol="0" anchor="ctr"/>
          <a:lstStyle/>
          <a:p>
            <a:pPr marL="0" indent="0" algn="r">
              <a:buNone/>
            </a:pPr>
            <a:r>
              <a:rPr lang="en-US" sz="1300" dirty="0">
                <a:solidFill>
                  <a:srgbClr val="CADCFC"/>
                </a:solidFill>
                <a:latin typeface="Calibri" pitchFamily="34" charset="0"/>
                <a:ea typeface="Calibri" pitchFamily="34" charset="-122"/>
                <a:cs typeface="Calibri" pitchFamily="34" charset="-120"/>
              </a:rPr>
              <a:t>입력부터 출력까지 — 엔드-투-엔드 데이터 흐름</a:t>
            </a:r>
            <a:endParaRPr lang="en-US" sz="1300" dirty="0"/>
          </a:p>
        </p:txBody>
      </p:sp>
      <p:sp>
        <p:nvSpPr>
          <p:cNvPr id="6" name="Shape 4"/>
          <p:cNvSpPr/>
          <p:nvPr/>
        </p:nvSpPr>
        <p:spPr>
          <a:xfrm>
            <a:off x="274320" y="749808"/>
            <a:ext cx="3749040" cy="2286000"/>
          </a:xfrm>
          <a:prstGeom prst="roundRect">
            <a:avLst>
              <a:gd name="adj" fmla="val 4878"/>
            </a:avLst>
          </a:prstGeom>
          <a:solidFill>
            <a:srgbClr val="1A2E6B"/>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7" name="Text 5"/>
          <p:cNvSpPr/>
          <p:nvPr/>
        </p:nvSpPr>
        <p:spPr>
          <a:xfrm>
            <a:off x="457200" y="795528"/>
            <a:ext cx="3383280" cy="347472"/>
          </a:xfrm>
          <a:prstGeom prst="rect">
            <a:avLst/>
          </a:prstGeom>
          <a:noFill/>
          <a:ln/>
        </p:spPr>
        <p:txBody>
          <a:bodyPr wrap="square" lIns="0" tIns="0" rIns="0" bIns="0" rtlCol="0" anchor="ctr"/>
          <a:lstStyle/>
          <a:p>
            <a:pPr marL="0" indent="0">
              <a:buNone/>
            </a:pPr>
            <a:r>
              <a:rPr lang="en-US" sz="1200" b="1" dirty="0">
                <a:solidFill>
                  <a:srgbClr val="4A90D9"/>
                </a:solidFill>
                <a:latin typeface="Calibri" pitchFamily="34" charset="0"/>
                <a:ea typeface="Calibri" pitchFamily="34" charset="-122"/>
                <a:cs typeface="Calibri" pitchFamily="34" charset="-120"/>
              </a:rPr>
              <a:t>① 강의 등록 (학기 초 1회)</a:t>
            </a:r>
            <a:endParaRPr lang="en-US" sz="1200" dirty="0"/>
          </a:p>
        </p:txBody>
      </p:sp>
      <p:sp>
        <p:nvSpPr>
          <p:cNvPr id="8" name="Text 6"/>
          <p:cNvSpPr/>
          <p:nvPr/>
        </p:nvSpPr>
        <p:spPr>
          <a:xfrm>
            <a:off x="457200" y="1170432"/>
            <a:ext cx="9144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사용자</a:t>
            </a:r>
            <a:endParaRPr lang="en-US" sz="1100" dirty="0"/>
          </a:p>
        </p:txBody>
      </p:sp>
      <p:sp>
        <p:nvSpPr>
          <p:cNvPr id="9" name="Shape 7"/>
          <p:cNvSpPr/>
          <p:nvPr/>
        </p:nvSpPr>
        <p:spPr>
          <a:xfrm>
            <a:off x="457200" y="1115568"/>
            <a:ext cx="914400" cy="320040"/>
          </a:xfrm>
          <a:prstGeom prst="rect">
            <a:avLst/>
          </a:prstGeom>
          <a:solidFill>
            <a:srgbClr val="4A90D9"/>
          </a:solidFill>
          <a:ln/>
        </p:spPr>
        <p:txBody>
          <a:bodyPr/>
          <a:lstStyle/>
          <a:p>
            <a:endParaRPr lang="ko-KR" altLang="en-US"/>
          </a:p>
        </p:txBody>
      </p:sp>
      <p:sp>
        <p:nvSpPr>
          <p:cNvPr id="10" name="Text 8"/>
          <p:cNvSpPr/>
          <p:nvPr/>
        </p:nvSpPr>
        <p:spPr>
          <a:xfrm>
            <a:off x="457200" y="1115568"/>
            <a:ext cx="914400" cy="320040"/>
          </a:xfrm>
          <a:prstGeom prst="rect">
            <a:avLst/>
          </a:prstGeom>
          <a:noFill/>
          <a:ln/>
        </p:spPr>
        <p:txBody>
          <a:bodyPr wrap="square" lIns="0" tIns="0" rIns="0" bIns="0" rtlCol="0" anchor="ctr"/>
          <a:lstStyle/>
          <a:p>
            <a:pPr marL="0" indent="0" algn="ctr">
              <a:buNone/>
            </a:pPr>
            <a:r>
              <a:rPr lang="en-US" sz="1100" b="1" dirty="0">
                <a:solidFill>
                  <a:srgbClr val="FFFFFF"/>
                </a:solidFill>
              </a:rPr>
              <a:t>사용자</a:t>
            </a:r>
            <a:endParaRPr lang="en-US" sz="1100" dirty="0"/>
          </a:p>
        </p:txBody>
      </p:sp>
      <p:sp>
        <p:nvSpPr>
          <p:cNvPr id="11" name="Shape 9"/>
          <p:cNvSpPr/>
          <p:nvPr/>
        </p:nvSpPr>
        <p:spPr>
          <a:xfrm>
            <a:off x="1389888" y="1271016"/>
            <a:ext cx="502920" cy="0"/>
          </a:xfrm>
          <a:prstGeom prst="line">
            <a:avLst/>
          </a:prstGeom>
          <a:noFill/>
          <a:ln w="12700">
            <a:solidFill>
              <a:srgbClr val="CADCFC"/>
            </a:solidFill>
            <a:prstDash val="solid"/>
          </a:ln>
        </p:spPr>
        <p:txBody>
          <a:bodyPr/>
          <a:lstStyle/>
          <a:p>
            <a:endParaRPr lang="ko-KR" altLang="en-US"/>
          </a:p>
        </p:txBody>
      </p:sp>
      <p:sp>
        <p:nvSpPr>
          <p:cNvPr id="12" name="Text 10"/>
          <p:cNvSpPr/>
          <p:nvPr/>
        </p:nvSpPr>
        <p:spPr>
          <a:xfrm>
            <a:off x="1843086" y="1142240"/>
            <a:ext cx="182880" cy="274320"/>
          </a:xfrm>
          <a:prstGeom prst="rect">
            <a:avLst/>
          </a:prstGeom>
          <a:noFill/>
          <a:ln/>
        </p:spPr>
        <p:txBody>
          <a:bodyPr wrap="square" lIns="0" tIns="0" rIns="0" bIns="0" rtlCol="0" anchor="ctr"/>
          <a:lstStyle/>
          <a:p>
            <a:pPr marL="0" indent="0">
              <a:buNone/>
            </a:pPr>
            <a:r>
              <a:rPr lang="en-US" sz="900" dirty="0">
                <a:solidFill>
                  <a:srgbClr val="CADCFC"/>
                </a:solidFill>
              </a:rPr>
              <a:t>▶</a:t>
            </a:r>
            <a:endParaRPr lang="en-US" sz="900" dirty="0"/>
          </a:p>
        </p:txBody>
      </p:sp>
      <p:sp>
        <p:nvSpPr>
          <p:cNvPr id="13" name="Shape 11"/>
          <p:cNvSpPr/>
          <p:nvPr/>
        </p:nvSpPr>
        <p:spPr>
          <a:xfrm>
            <a:off x="2011680" y="1115568"/>
            <a:ext cx="1371600" cy="320040"/>
          </a:xfrm>
          <a:prstGeom prst="rect">
            <a:avLst/>
          </a:prstGeom>
          <a:solidFill>
            <a:srgbClr val="243060"/>
          </a:solidFill>
          <a:ln w="12700">
            <a:solidFill>
              <a:srgbClr val="A8BDD8"/>
            </a:solidFill>
            <a:prstDash val="solid"/>
          </a:ln>
        </p:spPr>
        <p:txBody>
          <a:bodyPr/>
          <a:lstStyle/>
          <a:p>
            <a:endParaRPr lang="ko-KR" altLang="en-US"/>
          </a:p>
        </p:txBody>
      </p:sp>
      <p:sp>
        <p:nvSpPr>
          <p:cNvPr id="14" name="Text 12"/>
          <p:cNvSpPr/>
          <p:nvPr/>
        </p:nvSpPr>
        <p:spPr>
          <a:xfrm>
            <a:off x="2011680" y="1115568"/>
            <a:ext cx="1371600" cy="320040"/>
          </a:xfrm>
          <a:prstGeom prst="rect">
            <a:avLst/>
          </a:prstGeom>
          <a:noFill/>
          <a:ln/>
        </p:spPr>
        <p:txBody>
          <a:bodyPr wrap="square" lIns="0" tIns="0" rIns="0" bIns="0" rtlCol="0" anchor="ctr"/>
          <a:lstStyle/>
          <a:p>
            <a:pPr marL="0" indent="0" algn="ctr">
              <a:buNone/>
            </a:pPr>
            <a:r>
              <a:rPr lang="en-US" sz="1000" dirty="0">
                <a:solidFill>
                  <a:srgbClr val="CADCFC"/>
                </a:solidFill>
              </a:rPr>
              <a:t>강의계획서 PDF</a:t>
            </a:r>
            <a:endParaRPr lang="en-US" sz="1000" dirty="0"/>
          </a:p>
        </p:txBody>
      </p:sp>
      <p:sp>
        <p:nvSpPr>
          <p:cNvPr id="15" name="Shape 13"/>
          <p:cNvSpPr/>
          <p:nvPr/>
        </p:nvSpPr>
        <p:spPr>
          <a:xfrm>
            <a:off x="2697480" y="1435608"/>
            <a:ext cx="0" cy="256032"/>
          </a:xfrm>
          <a:prstGeom prst="line">
            <a:avLst/>
          </a:prstGeom>
          <a:noFill/>
          <a:ln w="12700">
            <a:solidFill>
              <a:srgbClr val="CADCFC"/>
            </a:solidFill>
            <a:prstDash val="solid"/>
          </a:ln>
        </p:spPr>
        <p:txBody>
          <a:bodyPr/>
          <a:lstStyle/>
          <a:p>
            <a:endParaRPr lang="ko-KR" altLang="en-US"/>
          </a:p>
        </p:txBody>
      </p:sp>
      <p:sp>
        <p:nvSpPr>
          <p:cNvPr id="16" name="Text 14"/>
          <p:cNvSpPr/>
          <p:nvPr/>
        </p:nvSpPr>
        <p:spPr>
          <a:xfrm>
            <a:off x="2643187" y="1594103"/>
            <a:ext cx="228600" cy="228600"/>
          </a:xfrm>
          <a:prstGeom prst="rect">
            <a:avLst/>
          </a:prstGeom>
          <a:noFill/>
          <a:ln/>
        </p:spPr>
        <p:txBody>
          <a:bodyPr wrap="square" lIns="0" tIns="0" rIns="0" bIns="0" rtlCol="0" anchor="ctr"/>
          <a:lstStyle/>
          <a:p>
            <a:pPr marL="0" indent="0">
              <a:buNone/>
            </a:pPr>
            <a:r>
              <a:rPr lang="en-US" sz="900" dirty="0">
                <a:solidFill>
                  <a:srgbClr val="CADCFC"/>
                </a:solidFill>
              </a:rPr>
              <a:t>▼</a:t>
            </a:r>
            <a:endParaRPr lang="en-US" sz="900" dirty="0"/>
          </a:p>
        </p:txBody>
      </p:sp>
      <p:sp>
        <p:nvSpPr>
          <p:cNvPr id="17" name="Shape 15"/>
          <p:cNvSpPr/>
          <p:nvPr/>
        </p:nvSpPr>
        <p:spPr>
          <a:xfrm>
            <a:off x="1828800" y="1892808"/>
            <a:ext cx="1737360" cy="475488"/>
          </a:xfrm>
          <a:prstGeom prst="rect">
            <a:avLst/>
          </a:prstGeom>
          <a:solidFill>
            <a:srgbClr val="4A90D9"/>
          </a:solidFill>
          <a:ln/>
        </p:spPr>
        <p:txBody>
          <a:bodyPr/>
          <a:lstStyle/>
          <a:p>
            <a:endParaRPr lang="ko-KR" altLang="en-US"/>
          </a:p>
        </p:txBody>
      </p:sp>
      <p:sp>
        <p:nvSpPr>
          <p:cNvPr id="18" name="Text 16"/>
          <p:cNvSpPr/>
          <p:nvPr/>
        </p:nvSpPr>
        <p:spPr>
          <a:xfrm>
            <a:off x="1828800" y="1892808"/>
            <a:ext cx="1737360" cy="475488"/>
          </a:xfrm>
          <a:prstGeom prst="rect">
            <a:avLst/>
          </a:prstGeom>
          <a:noFill/>
          <a:ln/>
        </p:spPr>
        <p:txBody>
          <a:bodyPr wrap="square" lIns="0" tIns="0" rIns="0" bIns="0" rtlCol="0" anchor="ctr"/>
          <a:lstStyle/>
          <a:p>
            <a:pPr marL="0" indent="0" algn="ctr">
              <a:buNone/>
            </a:pPr>
            <a:r>
              <a:rPr lang="en-US" sz="1100" b="1" dirty="0">
                <a:solidFill>
                  <a:srgbClr val="FFFFFF"/>
                </a:solidFill>
              </a:rPr>
              <a:t>Gemini LLM 분석</a:t>
            </a:r>
            <a:endParaRPr lang="en-US" sz="1100" dirty="0"/>
          </a:p>
        </p:txBody>
      </p:sp>
      <p:sp>
        <p:nvSpPr>
          <p:cNvPr id="19" name="Shape 17"/>
          <p:cNvSpPr/>
          <p:nvPr/>
        </p:nvSpPr>
        <p:spPr>
          <a:xfrm>
            <a:off x="2697480" y="2368296"/>
            <a:ext cx="0" cy="182880"/>
          </a:xfrm>
          <a:prstGeom prst="line">
            <a:avLst/>
          </a:prstGeom>
          <a:noFill/>
          <a:ln w="12700">
            <a:solidFill>
              <a:srgbClr val="2ECC71"/>
            </a:solidFill>
            <a:prstDash val="solid"/>
          </a:ln>
        </p:spPr>
        <p:txBody>
          <a:bodyPr/>
          <a:lstStyle/>
          <a:p>
            <a:endParaRPr lang="ko-KR" altLang="en-US"/>
          </a:p>
        </p:txBody>
      </p:sp>
      <p:sp>
        <p:nvSpPr>
          <p:cNvPr id="20" name="Text 18"/>
          <p:cNvSpPr/>
          <p:nvPr/>
        </p:nvSpPr>
        <p:spPr>
          <a:xfrm>
            <a:off x="2578608" y="2514600"/>
            <a:ext cx="228600" cy="228600"/>
          </a:xfrm>
          <a:prstGeom prst="rect">
            <a:avLst/>
          </a:prstGeom>
          <a:noFill/>
          <a:ln/>
        </p:spPr>
        <p:txBody>
          <a:bodyPr wrap="square" lIns="0" tIns="0" rIns="0" bIns="0" rtlCol="0" anchor="ctr"/>
          <a:lstStyle/>
          <a:p>
            <a:pPr marL="0" indent="0">
              <a:buNone/>
            </a:pPr>
            <a:r>
              <a:rPr lang="en-US" sz="900" dirty="0">
                <a:solidFill>
                  <a:srgbClr val="2ECC71"/>
                </a:solidFill>
              </a:rPr>
              <a:t>▼</a:t>
            </a:r>
            <a:endParaRPr lang="en-US" sz="900" dirty="0"/>
          </a:p>
        </p:txBody>
      </p:sp>
      <p:sp>
        <p:nvSpPr>
          <p:cNvPr id="21" name="Shape 19"/>
          <p:cNvSpPr/>
          <p:nvPr/>
        </p:nvSpPr>
        <p:spPr>
          <a:xfrm>
            <a:off x="1554480" y="2560320"/>
            <a:ext cx="2286000" cy="347472"/>
          </a:xfrm>
          <a:prstGeom prst="rect">
            <a:avLst/>
          </a:prstGeom>
          <a:solidFill>
            <a:srgbClr val="2ECC71"/>
          </a:solidFill>
          <a:ln/>
        </p:spPr>
        <p:txBody>
          <a:bodyPr/>
          <a:lstStyle/>
          <a:p>
            <a:endParaRPr lang="ko-KR" altLang="en-US"/>
          </a:p>
        </p:txBody>
      </p:sp>
      <p:sp>
        <p:nvSpPr>
          <p:cNvPr id="22" name="Text 20"/>
          <p:cNvSpPr/>
          <p:nvPr/>
        </p:nvSpPr>
        <p:spPr>
          <a:xfrm>
            <a:off x="1554480" y="2560320"/>
            <a:ext cx="2286000" cy="347472"/>
          </a:xfrm>
          <a:prstGeom prst="rect">
            <a:avLst/>
          </a:prstGeom>
          <a:noFill/>
          <a:ln/>
        </p:spPr>
        <p:txBody>
          <a:bodyPr wrap="square" lIns="0" tIns="0" rIns="0" bIns="0" rtlCol="0" anchor="ctr"/>
          <a:lstStyle/>
          <a:p>
            <a:pPr marL="0" indent="0" algn="ctr">
              <a:buNone/>
            </a:pPr>
            <a:r>
              <a:rPr lang="en-US" sz="1000" b="1" dirty="0">
                <a:solidFill>
                  <a:srgbClr val="FFFFFF"/>
                </a:solidFill>
              </a:rPr>
              <a:t>Step 0 로드맵 → DB 저장</a:t>
            </a:r>
            <a:endParaRPr lang="en-US" sz="1000" dirty="0"/>
          </a:p>
        </p:txBody>
      </p:sp>
      <p:sp>
        <p:nvSpPr>
          <p:cNvPr id="23" name="Shape 21"/>
          <p:cNvSpPr/>
          <p:nvPr/>
        </p:nvSpPr>
        <p:spPr>
          <a:xfrm>
            <a:off x="4023360" y="1645920"/>
            <a:ext cx="914400" cy="0"/>
          </a:xfrm>
          <a:prstGeom prst="line">
            <a:avLst/>
          </a:prstGeom>
          <a:noFill/>
          <a:ln w="12700">
            <a:solidFill>
              <a:srgbClr val="F39C12"/>
            </a:solidFill>
            <a:prstDash val="solid"/>
          </a:ln>
        </p:spPr>
        <p:txBody>
          <a:bodyPr/>
          <a:lstStyle/>
          <a:p>
            <a:endParaRPr lang="ko-KR" altLang="en-US"/>
          </a:p>
        </p:txBody>
      </p:sp>
      <p:sp>
        <p:nvSpPr>
          <p:cNvPr id="24" name="Text 22"/>
          <p:cNvSpPr/>
          <p:nvPr/>
        </p:nvSpPr>
        <p:spPr>
          <a:xfrm>
            <a:off x="4892040" y="1472184"/>
            <a:ext cx="274320" cy="320040"/>
          </a:xfrm>
          <a:prstGeom prst="rect">
            <a:avLst/>
          </a:prstGeom>
          <a:noFill/>
          <a:ln/>
        </p:spPr>
        <p:txBody>
          <a:bodyPr wrap="square" lIns="0" tIns="0" rIns="0" bIns="0" rtlCol="0" anchor="ctr"/>
          <a:lstStyle/>
          <a:p>
            <a:pPr marL="0" indent="0">
              <a:buNone/>
            </a:pPr>
            <a:r>
              <a:rPr lang="en-US" sz="1400" dirty="0">
                <a:solidFill>
                  <a:srgbClr val="F39C12"/>
                </a:solidFill>
              </a:rPr>
              <a:t>▶</a:t>
            </a:r>
            <a:endParaRPr lang="en-US" sz="1400" dirty="0"/>
          </a:p>
        </p:txBody>
      </p:sp>
      <p:sp>
        <p:nvSpPr>
          <p:cNvPr id="26" name="Text 24"/>
          <p:cNvSpPr/>
          <p:nvPr/>
        </p:nvSpPr>
        <p:spPr>
          <a:xfrm>
            <a:off x="5257800" y="795528"/>
            <a:ext cx="3474720" cy="347472"/>
          </a:xfrm>
          <a:prstGeom prst="rect">
            <a:avLst/>
          </a:prstGeom>
          <a:noFill/>
          <a:ln/>
        </p:spPr>
        <p:txBody>
          <a:bodyPr wrap="square" lIns="0" tIns="0" rIns="0" bIns="0" rtlCol="0" anchor="ctr"/>
          <a:lstStyle/>
          <a:p>
            <a:pPr marL="0" indent="0">
              <a:buNone/>
            </a:pPr>
            <a:r>
              <a:rPr lang="en-US" sz="1200" b="1" dirty="0">
                <a:solidFill>
                  <a:srgbClr val="F39C12"/>
                </a:solidFill>
                <a:latin typeface="Calibri" pitchFamily="34" charset="0"/>
                <a:ea typeface="Calibri" pitchFamily="34" charset="-122"/>
                <a:cs typeface="Calibri" pitchFamily="34" charset="-120"/>
              </a:rPr>
              <a:t>② 수업 후 노트 생성 (매주 반복)</a:t>
            </a:r>
            <a:endParaRPr lang="en-US" sz="1200" dirty="0"/>
          </a:p>
        </p:txBody>
      </p:sp>
      <p:sp>
        <p:nvSpPr>
          <p:cNvPr id="27" name="Shape 25"/>
          <p:cNvSpPr/>
          <p:nvPr/>
        </p:nvSpPr>
        <p:spPr>
          <a:xfrm>
            <a:off x="5212080" y="1207008"/>
            <a:ext cx="1463040" cy="320040"/>
          </a:xfrm>
          <a:prstGeom prst="rect">
            <a:avLst/>
          </a:prstGeom>
          <a:solidFill>
            <a:srgbClr val="243060"/>
          </a:solidFill>
          <a:ln w="12700">
            <a:solidFill>
              <a:srgbClr val="A8BDD8"/>
            </a:solidFill>
            <a:prstDash val="solid"/>
          </a:ln>
        </p:spPr>
        <p:txBody>
          <a:bodyPr/>
          <a:lstStyle/>
          <a:p>
            <a:endParaRPr lang="ko-KR" altLang="en-US"/>
          </a:p>
        </p:txBody>
      </p:sp>
      <p:sp>
        <p:nvSpPr>
          <p:cNvPr id="28" name="Text 26"/>
          <p:cNvSpPr/>
          <p:nvPr/>
        </p:nvSpPr>
        <p:spPr>
          <a:xfrm>
            <a:off x="5212080" y="1207008"/>
            <a:ext cx="1463040" cy="320040"/>
          </a:xfrm>
          <a:prstGeom prst="rect">
            <a:avLst/>
          </a:prstGeom>
          <a:noFill/>
          <a:ln/>
        </p:spPr>
        <p:txBody>
          <a:bodyPr wrap="square" lIns="0" tIns="0" rIns="0" bIns="0" rtlCol="0" anchor="ctr"/>
          <a:lstStyle/>
          <a:p>
            <a:pPr marL="0" indent="0" algn="ctr">
              <a:buNone/>
            </a:pPr>
            <a:r>
              <a:rPr lang="en-US" sz="900" dirty="0">
                <a:solidFill>
                  <a:srgbClr val="CADCFC"/>
                </a:solidFill>
              </a:rPr>
              <a:t>강의 녹음 (m4a)</a:t>
            </a:r>
            <a:endParaRPr lang="en-US" sz="900" dirty="0"/>
          </a:p>
        </p:txBody>
      </p:sp>
      <p:sp>
        <p:nvSpPr>
          <p:cNvPr id="29" name="Shape 27"/>
          <p:cNvSpPr/>
          <p:nvPr/>
        </p:nvSpPr>
        <p:spPr>
          <a:xfrm>
            <a:off x="6675120" y="1362456"/>
            <a:ext cx="320040" cy="0"/>
          </a:xfrm>
          <a:prstGeom prst="line">
            <a:avLst/>
          </a:prstGeom>
          <a:noFill/>
          <a:ln w="12700">
            <a:solidFill>
              <a:srgbClr val="A8BDD8"/>
            </a:solidFill>
            <a:prstDash val="solid"/>
          </a:ln>
        </p:spPr>
        <p:txBody>
          <a:bodyPr/>
          <a:lstStyle/>
          <a:p>
            <a:endParaRPr lang="ko-KR" altLang="en-US"/>
          </a:p>
        </p:txBody>
      </p:sp>
      <p:sp>
        <p:nvSpPr>
          <p:cNvPr id="30" name="Text 28"/>
          <p:cNvSpPr/>
          <p:nvPr/>
        </p:nvSpPr>
        <p:spPr>
          <a:xfrm>
            <a:off x="6949440" y="1247583"/>
            <a:ext cx="182880" cy="237744"/>
          </a:xfrm>
          <a:prstGeom prst="rect">
            <a:avLst/>
          </a:prstGeom>
          <a:noFill/>
          <a:ln/>
        </p:spPr>
        <p:txBody>
          <a:bodyPr wrap="square" lIns="0" tIns="0" rIns="0" bIns="0" rtlCol="0" anchor="ctr"/>
          <a:lstStyle/>
          <a:p>
            <a:pPr marL="0" indent="0">
              <a:buNone/>
            </a:pPr>
            <a:r>
              <a:rPr lang="en-US" sz="800" dirty="0">
                <a:solidFill>
                  <a:srgbClr val="A8BDD8"/>
                </a:solidFill>
              </a:rPr>
              <a:t>▶</a:t>
            </a:r>
            <a:endParaRPr lang="en-US" sz="800" dirty="0"/>
          </a:p>
        </p:txBody>
      </p:sp>
      <p:sp>
        <p:nvSpPr>
          <p:cNvPr id="31" name="Text 29"/>
          <p:cNvSpPr/>
          <p:nvPr/>
        </p:nvSpPr>
        <p:spPr>
          <a:xfrm>
            <a:off x="7132320" y="1207008"/>
            <a:ext cx="1645920" cy="320040"/>
          </a:xfrm>
          <a:prstGeom prst="rect">
            <a:avLst/>
          </a:prstGeom>
          <a:noFill/>
          <a:ln/>
        </p:spPr>
        <p:txBody>
          <a:bodyPr wrap="square" lIns="0" tIns="0" rIns="0" bIns="0" rtlCol="0" anchor="ctr"/>
          <a:lstStyle/>
          <a:p>
            <a:pPr marL="0" indent="0">
              <a:buNone/>
            </a:pPr>
            <a:r>
              <a:rPr lang="en-US" sz="850" dirty="0">
                <a:solidFill>
                  <a:srgbClr val="A8BDD8"/>
                </a:solidFill>
              </a:rPr>
              <a:t>Gemini STT → 음성 스크립트</a:t>
            </a:r>
            <a:endParaRPr lang="en-US" sz="850" dirty="0"/>
          </a:p>
        </p:txBody>
      </p:sp>
      <p:sp>
        <p:nvSpPr>
          <p:cNvPr id="32" name="Shape 30"/>
          <p:cNvSpPr/>
          <p:nvPr/>
        </p:nvSpPr>
        <p:spPr>
          <a:xfrm>
            <a:off x="5212080" y="1664208"/>
            <a:ext cx="1463040" cy="320040"/>
          </a:xfrm>
          <a:prstGeom prst="rect">
            <a:avLst/>
          </a:prstGeom>
          <a:solidFill>
            <a:srgbClr val="243060"/>
          </a:solidFill>
          <a:ln w="12700">
            <a:solidFill>
              <a:srgbClr val="A8BDD8"/>
            </a:solidFill>
            <a:prstDash val="solid"/>
          </a:ln>
        </p:spPr>
        <p:txBody>
          <a:bodyPr/>
          <a:lstStyle/>
          <a:p>
            <a:endParaRPr lang="ko-KR" altLang="en-US"/>
          </a:p>
        </p:txBody>
      </p:sp>
      <p:sp>
        <p:nvSpPr>
          <p:cNvPr id="33" name="Text 31"/>
          <p:cNvSpPr/>
          <p:nvPr/>
        </p:nvSpPr>
        <p:spPr>
          <a:xfrm>
            <a:off x="5212080" y="1664208"/>
            <a:ext cx="1463040" cy="320040"/>
          </a:xfrm>
          <a:prstGeom prst="rect">
            <a:avLst/>
          </a:prstGeom>
          <a:noFill/>
          <a:ln/>
        </p:spPr>
        <p:txBody>
          <a:bodyPr wrap="square" lIns="0" tIns="0" rIns="0" bIns="0" rtlCol="0" anchor="ctr"/>
          <a:lstStyle/>
          <a:p>
            <a:pPr marL="0" indent="0" algn="ctr">
              <a:buNone/>
            </a:pPr>
            <a:r>
              <a:rPr lang="en-US" sz="900" dirty="0">
                <a:solidFill>
                  <a:srgbClr val="CADCFC"/>
                </a:solidFill>
              </a:rPr>
              <a:t>수업자료 PDF</a:t>
            </a:r>
            <a:endParaRPr lang="en-US" sz="900" dirty="0"/>
          </a:p>
        </p:txBody>
      </p:sp>
      <p:sp>
        <p:nvSpPr>
          <p:cNvPr id="34" name="Shape 32"/>
          <p:cNvSpPr/>
          <p:nvPr/>
        </p:nvSpPr>
        <p:spPr>
          <a:xfrm>
            <a:off x="6675120" y="1819656"/>
            <a:ext cx="320040" cy="0"/>
          </a:xfrm>
          <a:prstGeom prst="line">
            <a:avLst/>
          </a:prstGeom>
          <a:noFill/>
          <a:ln w="12700">
            <a:solidFill>
              <a:srgbClr val="A8BDD8"/>
            </a:solidFill>
            <a:prstDash val="solid"/>
          </a:ln>
        </p:spPr>
        <p:txBody>
          <a:bodyPr/>
          <a:lstStyle/>
          <a:p>
            <a:endParaRPr lang="ko-KR" altLang="en-US"/>
          </a:p>
        </p:txBody>
      </p:sp>
      <p:sp>
        <p:nvSpPr>
          <p:cNvPr id="35" name="Text 33"/>
          <p:cNvSpPr/>
          <p:nvPr/>
        </p:nvSpPr>
        <p:spPr>
          <a:xfrm>
            <a:off x="6949440" y="1704783"/>
            <a:ext cx="182880" cy="237744"/>
          </a:xfrm>
          <a:prstGeom prst="rect">
            <a:avLst/>
          </a:prstGeom>
          <a:noFill/>
          <a:ln/>
        </p:spPr>
        <p:txBody>
          <a:bodyPr wrap="square" lIns="0" tIns="0" rIns="0" bIns="0" rtlCol="0" anchor="ctr"/>
          <a:lstStyle/>
          <a:p>
            <a:pPr marL="0" indent="0">
              <a:buNone/>
            </a:pPr>
            <a:r>
              <a:rPr lang="en-US" sz="800" dirty="0">
                <a:solidFill>
                  <a:srgbClr val="A8BDD8"/>
                </a:solidFill>
              </a:rPr>
              <a:t>▶</a:t>
            </a:r>
            <a:endParaRPr lang="en-US" sz="800" dirty="0"/>
          </a:p>
        </p:txBody>
      </p:sp>
      <p:sp>
        <p:nvSpPr>
          <p:cNvPr id="36" name="Text 34"/>
          <p:cNvSpPr/>
          <p:nvPr/>
        </p:nvSpPr>
        <p:spPr>
          <a:xfrm>
            <a:off x="7132320" y="1664208"/>
            <a:ext cx="1645920" cy="320040"/>
          </a:xfrm>
          <a:prstGeom prst="rect">
            <a:avLst/>
          </a:prstGeom>
          <a:noFill/>
          <a:ln/>
        </p:spPr>
        <p:txBody>
          <a:bodyPr wrap="square" lIns="0" tIns="0" rIns="0" bIns="0" rtlCol="0" anchor="ctr"/>
          <a:lstStyle/>
          <a:p>
            <a:pPr marL="0" indent="0">
              <a:buNone/>
            </a:pPr>
            <a:r>
              <a:rPr lang="en-US" sz="850" dirty="0">
                <a:solidFill>
                  <a:srgbClr val="A8BDD8"/>
                </a:solidFill>
              </a:rPr>
              <a:t>PDF 파서 → 슬라이드 텍스트</a:t>
            </a:r>
            <a:endParaRPr lang="en-US" sz="850" dirty="0"/>
          </a:p>
        </p:txBody>
      </p:sp>
      <p:sp>
        <p:nvSpPr>
          <p:cNvPr id="37" name="Shape 35"/>
          <p:cNvSpPr/>
          <p:nvPr/>
        </p:nvSpPr>
        <p:spPr>
          <a:xfrm>
            <a:off x="5212080" y="2121408"/>
            <a:ext cx="1463040" cy="320040"/>
          </a:xfrm>
          <a:prstGeom prst="rect">
            <a:avLst/>
          </a:prstGeom>
          <a:solidFill>
            <a:srgbClr val="243060"/>
          </a:solidFill>
          <a:ln w="12700">
            <a:solidFill>
              <a:srgbClr val="A8BDD8"/>
            </a:solidFill>
            <a:prstDash val="solid"/>
          </a:ln>
        </p:spPr>
        <p:txBody>
          <a:bodyPr/>
          <a:lstStyle/>
          <a:p>
            <a:endParaRPr lang="ko-KR" altLang="en-US"/>
          </a:p>
        </p:txBody>
      </p:sp>
      <p:sp>
        <p:nvSpPr>
          <p:cNvPr id="38" name="Text 36"/>
          <p:cNvSpPr/>
          <p:nvPr/>
        </p:nvSpPr>
        <p:spPr>
          <a:xfrm>
            <a:off x="5212080" y="2121408"/>
            <a:ext cx="1463040" cy="320040"/>
          </a:xfrm>
          <a:prstGeom prst="rect">
            <a:avLst/>
          </a:prstGeom>
          <a:noFill/>
          <a:ln/>
        </p:spPr>
        <p:txBody>
          <a:bodyPr wrap="square" lIns="0" tIns="0" rIns="0" bIns="0" rtlCol="0" anchor="ctr"/>
          <a:lstStyle/>
          <a:p>
            <a:pPr marL="0" indent="0" algn="ctr">
              <a:buNone/>
            </a:pPr>
            <a:r>
              <a:rPr lang="en-US" sz="900" dirty="0">
                <a:solidFill>
                  <a:srgbClr val="CADCFC"/>
                </a:solidFill>
              </a:rPr>
              <a:t>개인 필기</a:t>
            </a:r>
            <a:endParaRPr lang="en-US" sz="900" dirty="0"/>
          </a:p>
        </p:txBody>
      </p:sp>
      <p:sp>
        <p:nvSpPr>
          <p:cNvPr id="39" name="Shape 37"/>
          <p:cNvSpPr/>
          <p:nvPr/>
        </p:nvSpPr>
        <p:spPr>
          <a:xfrm>
            <a:off x="6675120" y="2276856"/>
            <a:ext cx="320040" cy="0"/>
          </a:xfrm>
          <a:prstGeom prst="line">
            <a:avLst/>
          </a:prstGeom>
          <a:noFill/>
          <a:ln w="12700">
            <a:solidFill>
              <a:srgbClr val="A8BDD8"/>
            </a:solidFill>
            <a:prstDash val="solid"/>
          </a:ln>
        </p:spPr>
        <p:txBody>
          <a:bodyPr/>
          <a:lstStyle/>
          <a:p>
            <a:endParaRPr lang="ko-KR" altLang="en-US"/>
          </a:p>
        </p:txBody>
      </p:sp>
      <p:sp>
        <p:nvSpPr>
          <p:cNvPr id="40" name="Text 38"/>
          <p:cNvSpPr/>
          <p:nvPr/>
        </p:nvSpPr>
        <p:spPr>
          <a:xfrm>
            <a:off x="6949440" y="2161983"/>
            <a:ext cx="182880" cy="237744"/>
          </a:xfrm>
          <a:prstGeom prst="rect">
            <a:avLst/>
          </a:prstGeom>
          <a:noFill/>
          <a:ln/>
        </p:spPr>
        <p:txBody>
          <a:bodyPr wrap="square" lIns="0" tIns="0" rIns="0" bIns="0" rtlCol="0" anchor="ctr"/>
          <a:lstStyle/>
          <a:p>
            <a:pPr marL="0" indent="0">
              <a:buNone/>
            </a:pPr>
            <a:r>
              <a:rPr lang="en-US" sz="800" dirty="0">
                <a:solidFill>
                  <a:srgbClr val="A8BDD8"/>
                </a:solidFill>
              </a:rPr>
              <a:t>▶</a:t>
            </a:r>
            <a:endParaRPr lang="en-US" sz="800" dirty="0"/>
          </a:p>
        </p:txBody>
      </p:sp>
      <p:sp>
        <p:nvSpPr>
          <p:cNvPr id="41" name="Text 39"/>
          <p:cNvSpPr/>
          <p:nvPr/>
        </p:nvSpPr>
        <p:spPr>
          <a:xfrm>
            <a:off x="7132320" y="2121408"/>
            <a:ext cx="1645920" cy="320040"/>
          </a:xfrm>
          <a:prstGeom prst="rect">
            <a:avLst/>
          </a:prstGeom>
          <a:noFill/>
          <a:ln/>
        </p:spPr>
        <p:txBody>
          <a:bodyPr wrap="square" lIns="0" tIns="0" rIns="0" bIns="0" rtlCol="0" anchor="ctr"/>
          <a:lstStyle/>
          <a:p>
            <a:pPr marL="0" indent="0">
              <a:buNone/>
            </a:pPr>
            <a:r>
              <a:rPr lang="en-US" sz="850" dirty="0">
                <a:solidFill>
                  <a:srgbClr val="A8BDD8"/>
                </a:solidFill>
              </a:rPr>
              <a:t>필기 텍스트</a:t>
            </a:r>
            <a:endParaRPr lang="en-US" sz="850" dirty="0"/>
          </a:p>
        </p:txBody>
      </p:sp>
      <p:sp>
        <p:nvSpPr>
          <p:cNvPr id="42" name="Shape 40"/>
          <p:cNvSpPr/>
          <p:nvPr/>
        </p:nvSpPr>
        <p:spPr>
          <a:xfrm>
            <a:off x="5212080" y="2578608"/>
            <a:ext cx="1463040" cy="320040"/>
          </a:xfrm>
          <a:prstGeom prst="rect">
            <a:avLst/>
          </a:prstGeom>
          <a:solidFill>
            <a:srgbClr val="243060"/>
          </a:solidFill>
          <a:ln w="12700">
            <a:solidFill>
              <a:srgbClr val="A8BDD8"/>
            </a:solidFill>
            <a:prstDash val="solid"/>
          </a:ln>
        </p:spPr>
        <p:txBody>
          <a:bodyPr/>
          <a:lstStyle/>
          <a:p>
            <a:endParaRPr lang="ko-KR" altLang="en-US"/>
          </a:p>
        </p:txBody>
      </p:sp>
      <p:sp>
        <p:nvSpPr>
          <p:cNvPr id="43" name="Text 41"/>
          <p:cNvSpPr/>
          <p:nvPr/>
        </p:nvSpPr>
        <p:spPr>
          <a:xfrm>
            <a:off x="5212080" y="2578608"/>
            <a:ext cx="1463040" cy="320040"/>
          </a:xfrm>
          <a:prstGeom prst="rect">
            <a:avLst/>
          </a:prstGeom>
          <a:noFill/>
          <a:ln/>
        </p:spPr>
        <p:txBody>
          <a:bodyPr wrap="square" lIns="0" tIns="0" rIns="0" bIns="0" rtlCol="0" anchor="ctr"/>
          <a:lstStyle/>
          <a:p>
            <a:pPr marL="0" indent="0" algn="ctr">
              <a:buNone/>
            </a:pPr>
            <a:r>
              <a:rPr lang="en-US" sz="900" dirty="0">
                <a:solidFill>
                  <a:srgbClr val="CADCFC"/>
                </a:solidFill>
              </a:rPr>
              <a:t>Step 0 로드맵</a:t>
            </a:r>
            <a:endParaRPr lang="en-US" sz="900" dirty="0"/>
          </a:p>
        </p:txBody>
      </p:sp>
      <p:sp>
        <p:nvSpPr>
          <p:cNvPr id="44" name="Shape 42"/>
          <p:cNvSpPr/>
          <p:nvPr/>
        </p:nvSpPr>
        <p:spPr>
          <a:xfrm>
            <a:off x="6675120" y="2734056"/>
            <a:ext cx="320040" cy="0"/>
          </a:xfrm>
          <a:prstGeom prst="line">
            <a:avLst/>
          </a:prstGeom>
          <a:noFill/>
          <a:ln w="12700">
            <a:solidFill>
              <a:srgbClr val="A8BDD8"/>
            </a:solidFill>
            <a:prstDash val="solid"/>
          </a:ln>
        </p:spPr>
        <p:txBody>
          <a:bodyPr/>
          <a:lstStyle/>
          <a:p>
            <a:endParaRPr lang="ko-KR" altLang="en-US"/>
          </a:p>
        </p:txBody>
      </p:sp>
      <p:sp>
        <p:nvSpPr>
          <p:cNvPr id="45" name="Text 43"/>
          <p:cNvSpPr/>
          <p:nvPr/>
        </p:nvSpPr>
        <p:spPr>
          <a:xfrm>
            <a:off x="6949440" y="2619183"/>
            <a:ext cx="182880" cy="237744"/>
          </a:xfrm>
          <a:prstGeom prst="rect">
            <a:avLst/>
          </a:prstGeom>
          <a:noFill/>
          <a:ln/>
        </p:spPr>
        <p:txBody>
          <a:bodyPr wrap="square" lIns="0" tIns="0" rIns="0" bIns="0" rtlCol="0" anchor="ctr"/>
          <a:lstStyle/>
          <a:p>
            <a:pPr marL="0" indent="0">
              <a:buNone/>
            </a:pPr>
            <a:r>
              <a:rPr lang="en-US" sz="800" dirty="0">
                <a:solidFill>
                  <a:srgbClr val="A8BDD8"/>
                </a:solidFill>
              </a:rPr>
              <a:t>▶</a:t>
            </a:r>
            <a:endParaRPr lang="en-US" sz="800" dirty="0"/>
          </a:p>
        </p:txBody>
      </p:sp>
      <p:sp>
        <p:nvSpPr>
          <p:cNvPr id="46" name="Text 44"/>
          <p:cNvSpPr/>
          <p:nvPr/>
        </p:nvSpPr>
        <p:spPr>
          <a:xfrm>
            <a:off x="7132320" y="2578608"/>
            <a:ext cx="1645920" cy="320040"/>
          </a:xfrm>
          <a:prstGeom prst="rect">
            <a:avLst/>
          </a:prstGeom>
          <a:noFill/>
          <a:ln/>
        </p:spPr>
        <p:txBody>
          <a:bodyPr wrap="square" lIns="0" tIns="0" rIns="0" bIns="0" rtlCol="0" anchor="ctr"/>
          <a:lstStyle/>
          <a:p>
            <a:pPr marL="0" indent="0">
              <a:buNone/>
            </a:pPr>
            <a:r>
              <a:rPr lang="en-US" sz="850" dirty="0">
                <a:solidFill>
                  <a:srgbClr val="A8BDD8"/>
                </a:solidFill>
              </a:rPr>
              <a:t>강의 맥락</a:t>
            </a:r>
            <a:endParaRPr lang="en-US" sz="850" dirty="0"/>
          </a:p>
        </p:txBody>
      </p:sp>
      <p:sp>
        <p:nvSpPr>
          <p:cNvPr id="47" name="Shape 45"/>
          <p:cNvSpPr/>
          <p:nvPr/>
        </p:nvSpPr>
        <p:spPr>
          <a:xfrm>
            <a:off x="8603933" y="1424372"/>
            <a:ext cx="0" cy="1463040"/>
          </a:xfrm>
          <a:prstGeom prst="line">
            <a:avLst/>
          </a:prstGeom>
          <a:noFill/>
          <a:ln w="12700">
            <a:solidFill>
              <a:srgbClr val="A8BDD8"/>
            </a:solidFill>
            <a:prstDash val="solid"/>
          </a:ln>
        </p:spPr>
        <p:txBody>
          <a:bodyPr/>
          <a:lstStyle/>
          <a:p>
            <a:endParaRPr lang="ko-KR" altLang="en-US"/>
          </a:p>
        </p:txBody>
      </p:sp>
      <p:sp>
        <p:nvSpPr>
          <p:cNvPr id="48" name="Shape 46"/>
          <p:cNvSpPr/>
          <p:nvPr/>
        </p:nvSpPr>
        <p:spPr>
          <a:xfrm>
            <a:off x="8503920" y="2825496"/>
            <a:ext cx="0" cy="0"/>
          </a:xfrm>
          <a:prstGeom prst="line">
            <a:avLst/>
          </a:prstGeom>
          <a:noFill/>
          <a:ln w="12700">
            <a:solidFill>
              <a:srgbClr val="A8BDD8"/>
            </a:solidFill>
            <a:prstDash val="solid"/>
          </a:ln>
        </p:spPr>
        <p:txBody>
          <a:bodyPr/>
          <a:lstStyle/>
          <a:p>
            <a:endParaRPr lang="ko-KR" altLang="en-US"/>
          </a:p>
        </p:txBody>
      </p:sp>
      <p:sp>
        <p:nvSpPr>
          <p:cNvPr id="49" name="Text 47"/>
          <p:cNvSpPr/>
          <p:nvPr/>
        </p:nvSpPr>
        <p:spPr>
          <a:xfrm>
            <a:off x="8547941" y="2807208"/>
            <a:ext cx="228600" cy="228600"/>
          </a:xfrm>
          <a:prstGeom prst="rect">
            <a:avLst/>
          </a:prstGeom>
          <a:noFill/>
          <a:ln/>
        </p:spPr>
        <p:txBody>
          <a:bodyPr wrap="square" lIns="0" tIns="0" rIns="0" bIns="0" rtlCol="0" anchor="ctr"/>
          <a:lstStyle/>
          <a:p>
            <a:pPr marL="0" indent="0">
              <a:buNone/>
            </a:pPr>
            <a:r>
              <a:rPr lang="en-US" sz="900" dirty="0">
                <a:solidFill>
                  <a:srgbClr val="A8BDD8"/>
                </a:solidFill>
              </a:rPr>
              <a:t>▼</a:t>
            </a:r>
            <a:endParaRPr lang="en-US" sz="900" dirty="0"/>
          </a:p>
        </p:txBody>
      </p:sp>
      <p:sp>
        <p:nvSpPr>
          <p:cNvPr id="50" name="Shape 48"/>
          <p:cNvSpPr/>
          <p:nvPr/>
        </p:nvSpPr>
        <p:spPr>
          <a:xfrm>
            <a:off x="6217920" y="3035808"/>
            <a:ext cx="2103120" cy="438912"/>
          </a:xfrm>
          <a:prstGeom prst="rect">
            <a:avLst/>
          </a:prstGeom>
          <a:solidFill>
            <a:srgbClr val="4A90D9"/>
          </a:solidFill>
          <a:ln/>
        </p:spPr>
        <p:txBody>
          <a:bodyPr/>
          <a:lstStyle/>
          <a:p>
            <a:endParaRPr lang="ko-KR" altLang="en-US"/>
          </a:p>
        </p:txBody>
      </p:sp>
      <p:sp>
        <p:nvSpPr>
          <p:cNvPr id="51" name="Text 49"/>
          <p:cNvSpPr/>
          <p:nvPr/>
        </p:nvSpPr>
        <p:spPr>
          <a:xfrm>
            <a:off x="6217920" y="3035808"/>
            <a:ext cx="2103120" cy="438912"/>
          </a:xfrm>
          <a:prstGeom prst="rect">
            <a:avLst/>
          </a:prstGeom>
          <a:noFill/>
          <a:ln/>
        </p:spPr>
        <p:txBody>
          <a:bodyPr wrap="square" lIns="0" tIns="0" rIns="0" bIns="0" rtlCol="0" anchor="ctr"/>
          <a:lstStyle/>
          <a:p>
            <a:pPr marL="0" indent="0" algn="ctr">
              <a:buNone/>
            </a:pPr>
            <a:r>
              <a:rPr lang="en-US" sz="1200" b="1" dirty="0">
                <a:solidFill>
                  <a:srgbClr val="FFFFFF"/>
                </a:solidFill>
              </a:rPr>
              <a:t>Data Aggregator</a:t>
            </a:r>
            <a:endParaRPr lang="en-US" sz="1200" dirty="0"/>
          </a:p>
        </p:txBody>
      </p:sp>
      <p:sp>
        <p:nvSpPr>
          <p:cNvPr id="52" name="Shape 50"/>
          <p:cNvSpPr/>
          <p:nvPr/>
        </p:nvSpPr>
        <p:spPr>
          <a:xfrm>
            <a:off x="7269480" y="3474720"/>
            <a:ext cx="0" cy="228600"/>
          </a:xfrm>
          <a:prstGeom prst="line">
            <a:avLst/>
          </a:prstGeom>
          <a:noFill/>
          <a:ln w="12700">
            <a:solidFill>
              <a:srgbClr val="CADCFC"/>
            </a:solidFill>
            <a:prstDash val="solid"/>
          </a:ln>
        </p:spPr>
        <p:txBody>
          <a:bodyPr/>
          <a:lstStyle/>
          <a:p>
            <a:endParaRPr lang="ko-KR" altLang="en-US"/>
          </a:p>
        </p:txBody>
      </p:sp>
      <p:sp>
        <p:nvSpPr>
          <p:cNvPr id="53" name="Text 51"/>
          <p:cNvSpPr/>
          <p:nvPr/>
        </p:nvSpPr>
        <p:spPr>
          <a:xfrm>
            <a:off x="7212527" y="3618732"/>
            <a:ext cx="228600" cy="228600"/>
          </a:xfrm>
          <a:prstGeom prst="rect">
            <a:avLst/>
          </a:prstGeom>
          <a:noFill/>
          <a:ln/>
        </p:spPr>
        <p:txBody>
          <a:bodyPr wrap="square" lIns="0" tIns="0" rIns="0" bIns="0" rtlCol="0" anchor="ctr"/>
          <a:lstStyle/>
          <a:p>
            <a:pPr marL="0" indent="0">
              <a:buNone/>
            </a:pPr>
            <a:r>
              <a:rPr lang="en-US" sz="900" dirty="0">
                <a:solidFill>
                  <a:srgbClr val="CADCFC"/>
                </a:solidFill>
              </a:rPr>
              <a:t>▼</a:t>
            </a:r>
            <a:endParaRPr lang="en-US" sz="900" dirty="0"/>
          </a:p>
        </p:txBody>
      </p:sp>
      <p:sp>
        <p:nvSpPr>
          <p:cNvPr id="54" name="Shape 52"/>
          <p:cNvSpPr/>
          <p:nvPr/>
        </p:nvSpPr>
        <p:spPr>
          <a:xfrm>
            <a:off x="5989320" y="3904488"/>
            <a:ext cx="2560320" cy="411480"/>
          </a:xfrm>
          <a:prstGeom prst="rect">
            <a:avLst/>
          </a:prstGeom>
          <a:solidFill>
            <a:srgbClr val="4A90D9"/>
          </a:solidFill>
          <a:ln/>
        </p:spPr>
        <p:txBody>
          <a:bodyPr/>
          <a:lstStyle/>
          <a:p>
            <a:endParaRPr lang="ko-KR" altLang="en-US"/>
          </a:p>
        </p:txBody>
      </p:sp>
      <p:sp>
        <p:nvSpPr>
          <p:cNvPr id="55" name="Text 53"/>
          <p:cNvSpPr/>
          <p:nvPr/>
        </p:nvSpPr>
        <p:spPr>
          <a:xfrm>
            <a:off x="5989320" y="3904488"/>
            <a:ext cx="2560320" cy="411480"/>
          </a:xfrm>
          <a:prstGeom prst="rect">
            <a:avLst/>
          </a:prstGeom>
          <a:noFill/>
          <a:ln/>
        </p:spPr>
        <p:txBody>
          <a:bodyPr wrap="square" lIns="0" tIns="0" rIns="0" bIns="0" rtlCol="0" anchor="ctr"/>
          <a:lstStyle/>
          <a:p>
            <a:pPr marL="0" indent="0" algn="ctr">
              <a:buNone/>
            </a:pPr>
            <a:r>
              <a:rPr lang="en-US" sz="1000" b="1" dirty="0">
                <a:solidFill>
                  <a:srgbClr val="FFFFFF"/>
                </a:solidFill>
              </a:rPr>
              <a:t>Gemini LLM → 5섹션 구조화 노트</a:t>
            </a:r>
            <a:endParaRPr lang="en-US" sz="1000" dirty="0"/>
          </a:p>
        </p:txBody>
      </p:sp>
      <p:sp>
        <p:nvSpPr>
          <p:cNvPr id="56" name="Shape 54"/>
          <p:cNvSpPr/>
          <p:nvPr/>
        </p:nvSpPr>
        <p:spPr>
          <a:xfrm>
            <a:off x="6309360" y="4315968"/>
            <a:ext cx="0" cy="228600"/>
          </a:xfrm>
          <a:prstGeom prst="line">
            <a:avLst/>
          </a:prstGeom>
          <a:noFill/>
          <a:ln w="12700">
            <a:solidFill>
              <a:srgbClr val="CADCFC"/>
            </a:solidFill>
            <a:prstDash val="solid"/>
          </a:ln>
        </p:spPr>
        <p:txBody>
          <a:bodyPr/>
          <a:lstStyle/>
          <a:p>
            <a:endParaRPr lang="ko-KR" altLang="en-US"/>
          </a:p>
        </p:txBody>
      </p:sp>
      <p:sp>
        <p:nvSpPr>
          <p:cNvPr id="57" name="Shape 55"/>
          <p:cNvSpPr/>
          <p:nvPr/>
        </p:nvSpPr>
        <p:spPr>
          <a:xfrm>
            <a:off x="8183880" y="4315968"/>
            <a:ext cx="0" cy="228600"/>
          </a:xfrm>
          <a:prstGeom prst="line">
            <a:avLst/>
          </a:prstGeom>
          <a:noFill/>
          <a:ln w="12700">
            <a:solidFill>
              <a:srgbClr val="CADCFC"/>
            </a:solidFill>
            <a:prstDash val="solid"/>
          </a:ln>
        </p:spPr>
        <p:txBody>
          <a:bodyPr/>
          <a:lstStyle/>
          <a:p>
            <a:endParaRPr lang="ko-KR" altLang="en-US"/>
          </a:p>
        </p:txBody>
      </p:sp>
      <p:sp>
        <p:nvSpPr>
          <p:cNvPr id="58" name="Shape 56"/>
          <p:cNvSpPr/>
          <p:nvPr/>
        </p:nvSpPr>
        <p:spPr>
          <a:xfrm>
            <a:off x="5577841" y="4544568"/>
            <a:ext cx="1508760" cy="384048"/>
          </a:xfrm>
          <a:prstGeom prst="roundRect">
            <a:avLst>
              <a:gd name="adj" fmla="val 16667"/>
            </a:avLst>
          </a:prstGeom>
          <a:solidFill>
            <a:srgbClr val="243060"/>
          </a:solidFill>
          <a:ln w="12700">
            <a:solidFill>
              <a:srgbClr val="2ECC71"/>
            </a:solidFill>
            <a:prstDash val="solid"/>
          </a:ln>
        </p:spPr>
        <p:txBody>
          <a:bodyPr/>
          <a:lstStyle/>
          <a:p>
            <a:endParaRPr lang="ko-KR" altLang="en-US"/>
          </a:p>
        </p:txBody>
      </p:sp>
      <p:sp>
        <p:nvSpPr>
          <p:cNvPr id="59" name="Text 57"/>
          <p:cNvSpPr/>
          <p:nvPr/>
        </p:nvSpPr>
        <p:spPr>
          <a:xfrm>
            <a:off x="5577841" y="4544568"/>
            <a:ext cx="1508760" cy="384048"/>
          </a:xfrm>
          <a:prstGeom prst="rect">
            <a:avLst/>
          </a:prstGeom>
          <a:noFill/>
          <a:ln/>
        </p:spPr>
        <p:txBody>
          <a:bodyPr wrap="square" lIns="0" tIns="0" rIns="0" bIns="0" rtlCol="0" anchor="ctr"/>
          <a:lstStyle/>
          <a:p>
            <a:pPr marL="0" indent="0" algn="ctr">
              <a:buNone/>
            </a:pPr>
            <a:r>
              <a:rPr lang="en-US" sz="1000" b="1" dirty="0">
                <a:solidFill>
                  <a:srgbClr val="2ECC71"/>
                </a:solidFill>
              </a:rPr>
              <a:t>DB 저장</a:t>
            </a:r>
            <a:endParaRPr lang="en-US" sz="1000" dirty="0"/>
          </a:p>
        </p:txBody>
      </p:sp>
      <p:sp>
        <p:nvSpPr>
          <p:cNvPr id="60" name="Shape 58"/>
          <p:cNvSpPr/>
          <p:nvPr/>
        </p:nvSpPr>
        <p:spPr>
          <a:xfrm>
            <a:off x="7269480" y="4544568"/>
            <a:ext cx="1508760" cy="384048"/>
          </a:xfrm>
          <a:prstGeom prst="roundRect">
            <a:avLst>
              <a:gd name="adj" fmla="val 16667"/>
            </a:avLst>
          </a:prstGeom>
          <a:solidFill>
            <a:srgbClr val="243060"/>
          </a:solidFill>
          <a:ln w="12700">
            <a:solidFill>
              <a:srgbClr val="2ECC71"/>
            </a:solidFill>
            <a:prstDash val="solid"/>
          </a:ln>
        </p:spPr>
        <p:txBody>
          <a:bodyPr/>
          <a:lstStyle/>
          <a:p>
            <a:endParaRPr lang="ko-KR" altLang="en-US"/>
          </a:p>
        </p:txBody>
      </p:sp>
      <p:sp>
        <p:nvSpPr>
          <p:cNvPr id="61" name="Text 59"/>
          <p:cNvSpPr/>
          <p:nvPr/>
        </p:nvSpPr>
        <p:spPr>
          <a:xfrm>
            <a:off x="7269480" y="4544568"/>
            <a:ext cx="1508760" cy="384048"/>
          </a:xfrm>
          <a:prstGeom prst="rect">
            <a:avLst/>
          </a:prstGeom>
          <a:noFill/>
          <a:ln/>
        </p:spPr>
        <p:txBody>
          <a:bodyPr wrap="square" lIns="0" tIns="0" rIns="0" bIns="0" rtlCol="0" anchor="ctr"/>
          <a:lstStyle/>
          <a:p>
            <a:pPr marL="0" indent="0" algn="ctr">
              <a:buNone/>
            </a:pPr>
            <a:r>
              <a:rPr lang="en-US" sz="1000" b="1" dirty="0">
                <a:solidFill>
                  <a:srgbClr val="2ECC71"/>
                </a:solidFill>
              </a:rPr>
              <a:t>HTML 다운로드</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51E4F"/>
          </a:solidFill>
          <a:ln/>
        </p:spPr>
        <p:txBody>
          <a:bodyPr/>
          <a:lstStyle/>
          <a:p>
            <a:endParaRPr lang="ko-KR" altLang="en-US"/>
          </a:p>
        </p:txBody>
      </p:sp>
      <p:sp>
        <p:nvSpPr>
          <p:cNvPr id="3" name="Shape 1"/>
          <p:cNvSpPr/>
          <p:nvPr/>
        </p:nvSpPr>
        <p:spPr>
          <a:xfrm>
            <a:off x="0" y="0"/>
            <a:ext cx="164592" cy="5143500"/>
          </a:xfrm>
          <a:prstGeom prst="rect">
            <a:avLst/>
          </a:prstGeom>
          <a:solidFill>
            <a:srgbClr val="4A90D9"/>
          </a:solidFill>
          <a:ln/>
        </p:spPr>
        <p:txBody>
          <a:bodyPr/>
          <a:lstStyle/>
          <a:p>
            <a:endParaRPr lang="ko-KR" altLang="en-US"/>
          </a:p>
        </p:txBody>
      </p:sp>
      <p:sp>
        <p:nvSpPr>
          <p:cNvPr id="4" name="Text 2"/>
          <p:cNvSpPr/>
          <p:nvPr/>
        </p:nvSpPr>
        <p:spPr>
          <a:xfrm>
            <a:off x="36576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백엔드 완성 현황</a:t>
            </a:r>
            <a:endParaRPr lang="en-US" sz="2600" dirty="0"/>
          </a:p>
        </p:txBody>
      </p:sp>
      <p:sp>
        <p:nvSpPr>
          <p:cNvPr id="5" name="Text 3"/>
          <p:cNvSpPr/>
          <p:nvPr/>
        </p:nvSpPr>
        <p:spPr>
          <a:xfrm>
            <a:off x="365760" y="109728"/>
            <a:ext cx="8412480" cy="594360"/>
          </a:xfrm>
          <a:prstGeom prst="rect">
            <a:avLst/>
          </a:prstGeom>
          <a:noFill/>
          <a:ln/>
        </p:spPr>
        <p:txBody>
          <a:bodyPr wrap="square" lIns="0" tIns="0" rIns="0" bIns="0" rtlCol="0" anchor="ctr"/>
          <a:lstStyle/>
          <a:p>
            <a:pPr marL="0" indent="0" algn="r">
              <a:buNone/>
            </a:pPr>
            <a:r>
              <a:rPr lang="en-US" sz="1400" dirty="0">
                <a:solidFill>
                  <a:srgbClr val="CADCFC"/>
                </a:solidFill>
                <a:latin typeface="Calibri" pitchFamily="34" charset="0"/>
                <a:ea typeface="Calibri" pitchFamily="34" charset="-122"/>
                <a:cs typeface="Calibri" pitchFamily="34" charset="-120"/>
              </a:rPr>
              <a:t>3개 API 엔드포인트, 실제 동작 확인 완료</a:t>
            </a:r>
            <a:endParaRPr lang="en-US" sz="1400" dirty="0"/>
          </a:p>
        </p:txBody>
      </p:sp>
      <p:sp>
        <p:nvSpPr>
          <p:cNvPr id="6" name="Shape 4"/>
          <p:cNvSpPr/>
          <p:nvPr/>
        </p:nvSpPr>
        <p:spPr>
          <a:xfrm>
            <a:off x="393192" y="1330452"/>
            <a:ext cx="2697480" cy="2194560"/>
          </a:xfrm>
          <a:prstGeom prst="rect">
            <a:avLst/>
          </a:prstGeom>
          <a:solidFill>
            <a:srgbClr val="1E3A7A"/>
          </a:solidFill>
          <a:ln w="12700">
            <a:solidFill>
              <a:srgbClr val="2ECC71"/>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7" name="Shape 5"/>
          <p:cNvSpPr/>
          <p:nvPr/>
        </p:nvSpPr>
        <p:spPr>
          <a:xfrm>
            <a:off x="530352" y="1467612"/>
            <a:ext cx="594360" cy="301752"/>
          </a:xfrm>
          <a:prstGeom prst="roundRect">
            <a:avLst>
              <a:gd name="adj" fmla="val 15152"/>
            </a:avLst>
          </a:prstGeom>
          <a:solidFill>
            <a:srgbClr val="2ECC71"/>
          </a:solidFill>
          <a:ln/>
        </p:spPr>
        <p:txBody>
          <a:bodyPr/>
          <a:lstStyle/>
          <a:p>
            <a:endParaRPr lang="ko-KR" altLang="en-US"/>
          </a:p>
        </p:txBody>
      </p:sp>
      <p:sp>
        <p:nvSpPr>
          <p:cNvPr id="8" name="Text 6"/>
          <p:cNvSpPr/>
          <p:nvPr/>
        </p:nvSpPr>
        <p:spPr>
          <a:xfrm>
            <a:off x="530352" y="1467612"/>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rPr>
              <a:t>POST</a:t>
            </a:r>
            <a:endParaRPr lang="en-US" sz="1000" dirty="0"/>
          </a:p>
        </p:txBody>
      </p:sp>
      <p:sp>
        <p:nvSpPr>
          <p:cNvPr id="9" name="Text 7"/>
          <p:cNvSpPr/>
          <p:nvPr/>
        </p:nvSpPr>
        <p:spPr>
          <a:xfrm>
            <a:off x="530352" y="1833372"/>
            <a:ext cx="2423160" cy="41148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/api/create-step0</a:t>
            </a:r>
            <a:endParaRPr lang="en-US" sz="1100" dirty="0"/>
          </a:p>
        </p:txBody>
      </p:sp>
      <p:sp>
        <p:nvSpPr>
          <p:cNvPr id="10" name="Text 8"/>
          <p:cNvSpPr/>
          <p:nvPr/>
        </p:nvSpPr>
        <p:spPr>
          <a:xfrm>
            <a:off x="530352" y="2290572"/>
            <a:ext cx="2423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강의계획서 분석</a:t>
            </a:r>
            <a:endParaRPr lang="en-US" sz="1200" dirty="0"/>
          </a:p>
        </p:txBody>
      </p:sp>
      <p:sp>
        <p:nvSpPr>
          <p:cNvPr id="11" name="Text 9"/>
          <p:cNvSpPr/>
          <p:nvPr/>
        </p:nvSpPr>
        <p:spPr>
          <a:xfrm>
            <a:off x="530352" y="2610612"/>
            <a:ext cx="2423160" cy="347472"/>
          </a:xfrm>
          <a:prstGeom prst="rect">
            <a:avLst/>
          </a:prstGeom>
          <a:noFill/>
          <a:ln/>
        </p:spPr>
        <p:txBody>
          <a:bodyPr wrap="square" lIns="0" tIns="0" rIns="0" bIns="0" rtlCol="0" anchor="ctr"/>
          <a:lstStyle/>
          <a:p>
            <a:pPr marL="0" indent="0">
              <a:buNone/>
            </a:pPr>
            <a:r>
              <a:rPr lang="en-US" sz="1100" b="1" dirty="0">
                <a:solidFill>
                  <a:srgbClr val="A8BDD8"/>
                </a:solidFill>
                <a:latin typeface="Calibri" pitchFamily="34" charset="0"/>
                <a:ea typeface="Calibri" pitchFamily="34" charset="-122"/>
                <a:cs typeface="Calibri" pitchFamily="34" charset="-120"/>
              </a:rPr>
              <a:t>입력: </a:t>
            </a:r>
            <a:r>
              <a:rPr lang="en-US" sz="1100" dirty="0">
                <a:solidFill>
                  <a:srgbClr val="FFFFFF"/>
                </a:solidFill>
                <a:latin typeface="Calibri" pitchFamily="34" charset="0"/>
                <a:ea typeface="Calibri" pitchFamily="34" charset="-122"/>
                <a:cs typeface="Calibri" pitchFamily="34" charset="-120"/>
              </a:rPr>
              <a:t>강의명 + PDF</a:t>
            </a:r>
            <a:endParaRPr lang="en-US" sz="1100" dirty="0"/>
          </a:p>
        </p:txBody>
      </p:sp>
      <p:sp>
        <p:nvSpPr>
          <p:cNvPr id="12" name="Text 10"/>
          <p:cNvSpPr/>
          <p:nvPr/>
        </p:nvSpPr>
        <p:spPr>
          <a:xfrm>
            <a:off x="530352" y="2958084"/>
            <a:ext cx="2423160" cy="438912"/>
          </a:xfrm>
          <a:prstGeom prst="rect">
            <a:avLst/>
          </a:prstGeom>
          <a:noFill/>
          <a:ln/>
        </p:spPr>
        <p:txBody>
          <a:bodyPr wrap="square" lIns="0" tIns="0" rIns="0" bIns="0" rtlCol="0" anchor="ctr"/>
          <a:lstStyle/>
          <a:p>
            <a:pPr marL="0" indent="0">
              <a:buNone/>
            </a:pPr>
            <a:r>
              <a:rPr lang="en-US" sz="1100" b="1" dirty="0">
                <a:solidFill>
                  <a:srgbClr val="A8BDD8"/>
                </a:solidFill>
                <a:latin typeface="Calibri" pitchFamily="34" charset="0"/>
                <a:ea typeface="Calibri" pitchFamily="34" charset="-122"/>
                <a:cs typeface="Calibri" pitchFamily="34" charset="-120"/>
              </a:rPr>
              <a:t>출력: </a:t>
            </a:r>
            <a:r>
              <a:rPr lang="en-US" sz="1100" b="1" dirty="0">
                <a:solidFill>
                  <a:srgbClr val="2ECC71"/>
                </a:solidFill>
                <a:latin typeface="Calibri" pitchFamily="34" charset="0"/>
                <a:ea typeface="Calibri" pitchFamily="34" charset="-122"/>
                <a:cs typeface="Calibri" pitchFamily="34" charset="-120"/>
              </a:rPr>
              <a:t>강의 로드맵 (Step 0)</a:t>
            </a:r>
            <a:endParaRPr lang="en-US" sz="1100" dirty="0"/>
          </a:p>
        </p:txBody>
      </p:sp>
      <p:sp>
        <p:nvSpPr>
          <p:cNvPr id="13" name="Shape 11"/>
          <p:cNvSpPr/>
          <p:nvPr/>
        </p:nvSpPr>
        <p:spPr>
          <a:xfrm>
            <a:off x="3182112" y="1330452"/>
            <a:ext cx="2697480" cy="219456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14" name="Shape 12"/>
          <p:cNvSpPr/>
          <p:nvPr/>
        </p:nvSpPr>
        <p:spPr>
          <a:xfrm>
            <a:off x="3319272" y="1467612"/>
            <a:ext cx="594360" cy="301752"/>
          </a:xfrm>
          <a:prstGeom prst="roundRect">
            <a:avLst>
              <a:gd name="adj" fmla="val 15152"/>
            </a:avLst>
          </a:prstGeom>
          <a:solidFill>
            <a:srgbClr val="4A90D9"/>
          </a:solidFill>
          <a:ln/>
        </p:spPr>
        <p:txBody>
          <a:bodyPr/>
          <a:lstStyle/>
          <a:p>
            <a:endParaRPr lang="ko-KR" altLang="en-US"/>
          </a:p>
        </p:txBody>
      </p:sp>
      <p:sp>
        <p:nvSpPr>
          <p:cNvPr id="15" name="Text 13"/>
          <p:cNvSpPr/>
          <p:nvPr/>
        </p:nvSpPr>
        <p:spPr>
          <a:xfrm>
            <a:off x="3319272" y="1467612"/>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rPr>
              <a:t>POST</a:t>
            </a:r>
            <a:endParaRPr lang="en-US" sz="1000" dirty="0"/>
          </a:p>
        </p:txBody>
      </p:sp>
      <p:sp>
        <p:nvSpPr>
          <p:cNvPr id="16" name="Text 14"/>
          <p:cNvSpPr/>
          <p:nvPr/>
        </p:nvSpPr>
        <p:spPr>
          <a:xfrm>
            <a:off x="3319272" y="1833372"/>
            <a:ext cx="2423160" cy="41148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/api/generate-note</a:t>
            </a:r>
            <a:endParaRPr lang="en-US" sz="1100" dirty="0"/>
          </a:p>
        </p:txBody>
      </p:sp>
      <p:sp>
        <p:nvSpPr>
          <p:cNvPr id="17" name="Text 15"/>
          <p:cNvSpPr/>
          <p:nvPr/>
        </p:nvSpPr>
        <p:spPr>
          <a:xfrm>
            <a:off x="3319272" y="2290572"/>
            <a:ext cx="2423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통합 노트 생성</a:t>
            </a:r>
            <a:endParaRPr lang="en-US" sz="1200" dirty="0"/>
          </a:p>
        </p:txBody>
      </p:sp>
      <p:sp>
        <p:nvSpPr>
          <p:cNvPr id="18" name="Text 16"/>
          <p:cNvSpPr/>
          <p:nvPr/>
        </p:nvSpPr>
        <p:spPr>
          <a:xfrm>
            <a:off x="3319272" y="2610612"/>
            <a:ext cx="2423160" cy="347472"/>
          </a:xfrm>
          <a:prstGeom prst="rect">
            <a:avLst/>
          </a:prstGeom>
          <a:noFill/>
          <a:ln/>
        </p:spPr>
        <p:txBody>
          <a:bodyPr wrap="square" lIns="0" tIns="0" rIns="0" bIns="0" rtlCol="0" anchor="ctr"/>
          <a:lstStyle/>
          <a:p>
            <a:pPr marL="0" indent="0">
              <a:buNone/>
            </a:pPr>
            <a:r>
              <a:rPr lang="en-US" sz="1100" b="1" dirty="0">
                <a:solidFill>
                  <a:srgbClr val="A8BDD8"/>
                </a:solidFill>
                <a:latin typeface="Calibri" pitchFamily="34" charset="0"/>
                <a:ea typeface="Calibri" pitchFamily="34" charset="-122"/>
                <a:cs typeface="Calibri" pitchFamily="34" charset="-120"/>
              </a:rPr>
              <a:t>입력: </a:t>
            </a:r>
            <a:r>
              <a:rPr lang="en-US" sz="1100" dirty="0">
                <a:solidFill>
                  <a:srgbClr val="FFFFFF"/>
                </a:solidFill>
                <a:latin typeface="Calibri" pitchFamily="34" charset="0"/>
                <a:ea typeface="Calibri" pitchFamily="34" charset="-122"/>
                <a:cs typeface="Calibri" pitchFamily="34" charset="-120"/>
              </a:rPr>
              <a:t>음성 + PDF + 필기</a:t>
            </a:r>
            <a:endParaRPr lang="en-US" sz="1100" dirty="0"/>
          </a:p>
        </p:txBody>
      </p:sp>
      <p:sp>
        <p:nvSpPr>
          <p:cNvPr id="19" name="Text 17"/>
          <p:cNvSpPr/>
          <p:nvPr/>
        </p:nvSpPr>
        <p:spPr>
          <a:xfrm>
            <a:off x="3319272" y="2958084"/>
            <a:ext cx="2423160" cy="438912"/>
          </a:xfrm>
          <a:prstGeom prst="rect">
            <a:avLst/>
          </a:prstGeom>
          <a:noFill/>
          <a:ln/>
        </p:spPr>
        <p:txBody>
          <a:bodyPr wrap="square" lIns="0" tIns="0" rIns="0" bIns="0" rtlCol="0" anchor="ctr"/>
          <a:lstStyle/>
          <a:p>
            <a:pPr marL="0" indent="0">
              <a:buNone/>
            </a:pPr>
            <a:r>
              <a:rPr lang="en-US" sz="1100" b="1" dirty="0">
                <a:solidFill>
                  <a:srgbClr val="A8BDD8"/>
                </a:solidFill>
                <a:latin typeface="Calibri" pitchFamily="34" charset="0"/>
                <a:ea typeface="Calibri" pitchFamily="34" charset="-122"/>
                <a:cs typeface="Calibri" pitchFamily="34" charset="-120"/>
              </a:rPr>
              <a:t>출력: </a:t>
            </a:r>
            <a:r>
              <a:rPr lang="en-US" sz="1100" b="1" dirty="0">
                <a:solidFill>
                  <a:srgbClr val="4A90D9"/>
                </a:solidFill>
                <a:latin typeface="Calibri" pitchFamily="34" charset="0"/>
                <a:ea typeface="Calibri" pitchFamily="34" charset="-122"/>
                <a:cs typeface="Calibri" pitchFamily="34" charset="-120"/>
              </a:rPr>
              <a:t>5섹션 구조화 노트</a:t>
            </a:r>
            <a:endParaRPr lang="en-US" sz="1100" dirty="0"/>
          </a:p>
        </p:txBody>
      </p:sp>
      <p:sp>
        <p:nvSpPr>
          <p:cNvPr id="20" name="Shape 18"/>
          <p:cNvSpPr/>
          <p:nvPr/>
        </p:nvSpPr>
        <p:spPr>
          <a:xfrm>
            <a:off x="5971032" y="1330452"/>
            <a:ext cx="2697480" cy="2194560"/>
          </a:xfrm>
          <a:prstGeom prst="rect">
            <a:avLst/>
          </a:prstGeom>
          <a:solidFill>
            <a:srgbClr val="1E3A7A"/>
          </a:solidFill>
          <a:ln w="12700">
            <a:solidFill>
              <a:srgbClr val="F39C12"/>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1" name="Shape 19"/>
          <p:cNvSpPr/>
          <p:nvPr/>
        </p:nvSpPr>
        <p:spPr>
          <a:xfrm>
            <a:off x="6108192" y="1467612"/>
            <a:ext cx="594360" cy="301752"/>
          </a:xfrm>
          <a:prstGeom prst="roundRect">
            <a:avLst>
              <a:gd name="adj" fmla="val 15152"/>
            </a:avLst>
          </a:prstGeom>
          <a:solidFill>
            <a:srgbClr val="F39C12"/>
          </a:solidFill>
          <a:ln/>
        </p:spPr>
        <p:txBody>
          <a:bodyPr/>
          <a:lstStyle/>
          <a:p>
            <a:endParaRPr lang="ko-KR" altLang="en-US"/>
          </a:p>
        </p:txBody>
      </p:sp>
      <p:sp>
        <p:nvSpPr>
          <p:cNvPr id="22" name="Text 20"/>
          <p:cNvSpPr/>
          <p:nvPr/>
        </p:nvSpPr>
        <p:spPr>
          <a:xfrm>
            <a:off x="6108192" y="1467612"/>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rPr>
              <a:t>GET</a:t>
            </a:r>
            <a:endParaRPr lang="en-US" sz="1000" dirty="0"/>
          </a:p>
        </p:txBody>
      </p:sp>
      <p:sp>
        <p:nvSpPr>
          <p:cNvPr id="23" name="Text 21"/>
          <p:cNvSpPr/>
          <p:nvPr/>
        </p:nvSpPr>
        <p:spPr>
          <a:xfrm>
            <a:off x="6108192" y="1833372"/>
            <a:ext cx="2423160" cy="411480"/>
          </a:xfrm>
          <a:prstGeom prst="rect">
            <a:avLst/>
          </a:prstGeom>
          <a:noFill/>
          <a:ln/>
        </p:spPr>
        <p:txBody>
          <a:bodyPr wrap="square" lIns="0" tIns="0" rIns="0" bIns="0"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/api/download-note/{id}</a:t>
            </a:r>
            <a:endParaRPr lang="en-US" sz="1100" dirty="0"/>
          </a:p>
        </p:txBody>
      </p:sp>
      <p:sp>
        <p:nvSpPr>
          <p:cNvPr id="24" name="Text 22"/>
          <p:cNvSpPr/>
          <p:nvPr/>
        </p:nvSpPr>
        <p:spPr>
          <a:xfrm>
            <a:off x="6108192" y="2290572"/>
            <a:ext cx="2423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노트 다운로드</a:t>
            </a:r>
            <a:endParaRPr lang="en-US" sz="1200" dirty="0"/>
          </a:p>
        </p:txBody>
      </p:sp>
      <p:sp>
        <p:nvSpPr>
          <p:cNvPr id="25" name="Text 23"/>
          <p:cNvSpPr/>
          <p:nvPr/>
        </p:nvSpPr>
        <p:spPr>
          <a:xfrm>
            <a:off x="6108192" y="2610612"/>
            <a:ext cx="2423160" cy="347472"/>
          </a:xfrm>
          <a:prstGeom prst="rect">
            <a:avLst/>
          </a:prstGeom>
          <a:noFill/>
          <a:ln/>
        </p:spPr>
        <p:txBody>
          <a:bodyPr wrap="square" lIns="0" tIns="0" rIns="0" bIns="0" rtlCol="0" anchor="ctr"/>
          <a:lstStyle/>
          <a:p>
            <a:pPr marL="0" indent="0">
              <a:buNone/>
            </a:pPr>
            <a:r>
              <a:rPr lang="en-US" sz="1100" b="1" dirty="0">
                <a:solidFill>
                  <a:srgbClr val="A8BDD8"/>
                </a:solidFill>
                <a:latin typeface="Calibri" pitchFamily="34" charset="0"/>
                <a:ea typeface="Calibri" pitchFamily="34" charset="-122"/>
                <a:cs typeface="Calibri" pitchFamily="34" charset="-120"/>
              </a:rPr>
              <a:t>입력: </a:t>
            </a:r>
            <a:r>
              <a:rPr lang="en-US" sz="1100" dirty="0">
                <a:solidFill>
                  <a:srgbClr val="FFFFFF"/>
                </a:solidFill>
                <a:latin typeface="Calibri" pitchFamily="34" charset="0"/>
                <a:ea typeface="Calibri" pitchFamily="34" charset="-122"/>
                <a:cs typeface="Calibri" pitchFamily="34" charset="-120"/>
              </a:rPr>
              <a:t>노트 ID</a:t>
            </a:r>
            <a:endParaRPr lang="en-US" sz="1100" dirty="0"/>
          </a:p>
        </p:txBody>
      </p:sp>
      <p:sp>
        <p:nvSpPr>
          <p:cNvPr id="26" name="Text 24"/>
          <p:cNvSpPr/>
          <p:nvPr/>
        </p:nvSpPr>
        <p:spPr>
          <a:xfrm>
            <a:off x="6108192" y="2958084"/>
            <a:ext cx="2423160" cy="438912"/>
          </a:xfrm>
          <a:prstGeom prst="rect">
            <a:avLst/>
          </a:prstGeom>
          <a:noFill/>
          <a:ln/>
        </p:spPr>
        <p:txBody>
          <a:bodyPr wrap="square" lIns="0" tIns="0" rIns="0" bIns="0" rtlCol="0" anchor="ctr"/>
          <a:lstStyle/>
          <a:p>
            <a:pPr marL="0" indent="0">
              <a:buNone/>
            </a:pPr>
            <a:r>
              <a:rPr lang="en-US" sz="1100" b="1" dirty="0">
                <a:solidFill>
                  <a:srgbClr val="A8BDD8"/>
                </a:solidFill>
                <a:latin typeface="Calibri" pitchFamily="34" charset="0"/>
                <a:ea typeface="Calibri" pitchFamily="34" charset="-122"/>
                <a:cs typeface="Calibri" pitchFamily="34" charset="-120"/>
              </a:rPr>
              <a:t>출력: </a:t>
            </a:r>
            <a:r>
              <a:rPr lang="en-US" sz="1100" b="1" dirty="0">
                <a:solidFill>
                  <a:srgbClr val="F39C12"/>
                </a:solidFill>
                <a:latin typeface="Calibri" pitchFamily="34" charset="0"/>
                <a:ea typeface="Calibri" pitchFamily="34" charset="-122"/>
                <a:cs typeface="Calibri" pitchFamily="34" charset="-120"/>
              </a:rPr>
              <a:t>HTML 파일</a:t>
            </a:r>
            <a:endParaRPr lang="en-US" sz="1100" dirty="0"/>
          </a:p>
        </p:txBody>
      </p:sp>
      <p:sp>
        <p:nvSpPr>
          <p:cNvPr id="27" name="Text 25"/>
          <p:cNvSpPr/>
          <p:nvPr/>
        </p:nvSpPr>
        <p:spPr>
          <a:xfrm>
            <a:off x="393192" y="3653028"/>
            <a:ext cx="1828800" cy="347472"/>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기술 스택</a:t>
            </a:r>
            <a:endParaRPr lang="en-US" sz="1300" dirty="0"/>
          </a:p>
        </p:txBody>
      </p:sp>
      <p:sp>
        <p:nvSpPr>
          <p:cNvPr id="28" name="Shape 26"/>
          <p:cNvSpPr/>
          <p:nvPr/>
        </p:nvSpPr>
        <p:spPr>
          <a:xfrm>
            <a:off x="393192" y="4046220"/>
            <a:ext cx="1371600" cy="384048"/>
          </a:xfrm>
          <a:prstGeom prst="roundRect">
            <a:avLst>
              <a:gd name="adj" fmla="val 19048"/>
            </a:avLst>
          </a:prstGeom>
          <a:solidFill>
            <a:srgbClr val="243060"/>
          </a:solidFill>
          <a:ln w="12700">
            <a:solidFill>
              <a:srgbClr val="4A90D9"/>
            </a:solidFill>
            <a:prstDash val="solid"/>
          </a:ln>
        </p:spPr>
        <p:txBody>
          <a:bodyPr/>
          <a:lstStyle/>
          <a:p>
            <a:endParaRPr lang="ko-KR" altLang="en-US"/>
          </a:p>
        </p:txBody>
      </p:sp>
      <p:sp>
        <p:nvSpPr>
          <p:cNvPr id="29" name="Text 27"/>
          <p:cNvSpPr/>
          <p:nvPr/>
        </p:nvSpPr>
        <p:spPr>
          <a:xfrm>
            <a:off x="393192" y="4046220"/>
            <a:ext cx="1371600" cy="384048"/>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Python 3.13</a:t>
            </a:r>
            <a:endParaRPr lang="en-US" sz="1000" dirty="0"/>
          </a:p>
        </p:txBody>
      </p:sp>
      <p:sp>
        <p:nvSpPr>
          <p:cNvPr id="30" name="Shape 28"/>
          <p:cNvSpPr/>
          <p:nvPr/>
        </p:nvSpPr>
        <p:spPr>
          <a:xfrm>
            <a:off x="1837944" y="4046220"/>
            <a:ext cx="1371600" cy="384048"/>
          </a:xfrm>
          <a:prstGeom prst="roundRect">
            <a:avLst>
              <a:gd name="adj" fmla="val 19048"/>
            </a:avLst>
          </a:prstGeom>
          <a:solidFill>
            <a:srgbClr val="243060"/>
          </a:solidFill>
          <a:ln w="12700">
            <a:solidFill>
              <a:srgbClr val="4A90D9"/>
            </a:solidFill>
            <a:prstDash val="solid"/>
          </a:ln>
        </p:spPr>
        <p:txBody>
          <a:bodyPr/>
          <a:lstStyle/>
          <a:p>
            <a:endParaRPr lang="ko-KR" altLang="en-US"/>
          </a:p>
        </p:txBody>
      </p:sp>
      <p:sp>
        <p:nvSpPr>
          <p:cNvPr id="31" name="Text 29"/>
          <p:cNvSpPr/>
          <p:nvPr/>
        </p:nvSpPr>
        <p:spPr>
          <a:xfrm>
            <a:off x="1837944" y="4046220"/>
            <a:ext cx="1371600" cy="384048"/>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FastAPI</a:t>
            </a:r>
            <a:endParaRPr lang="en-US" sz="1000" dirty="0"/>
          </a:p>
        </p:txBody>
      </p:sp>
      <p:sp>
        <p:nvSpPr>
          <p:cNvPr id="32" name="Shape 30"/>
          <p:cNvSpPr/>
          <p:nvPr/>
        </p:nvSpPr>
        <p:spPr>
          <a:xfrm>
            <a:off x="3282696" y="4046220"/>
            <a:ext cx="1371600" cy="384048"/>
          </a:xfrm>
          <a:prstGeom prst="roundRect">
            <a:avLst>
              <a:gd name="adj" fmla="val 19048"/>
            </a:avLst>
          </a:prstGeom>
          <a:solidFill>
            <a:srgbClr val="243060"/>
          </a:solidFill>
          <a:ln w="12700">
            <a:solidFill>
              <a:srgbClr val="4A90D9"/>
            </a:solidFill>
            <a:prstDash val="solid"/>
          </a:ln>
        </p:spPr>
        <p:txBody>
          <a:bodyPr/>
          <a:lstStyle/>
          <a:p>
            <a:endParaRPr lang="ko-KR" altLang="en-US"/>
          </a:p>
        </p:txBody>
      </p:sp>
      <p:sp>
        <p:nvSpPr>
          <p:cNvPr id="33" name="Text 31"/>
          <p:cNvSpPr/>
          <p:nvPr/>
        </p:nvSpPr>
        <p:spPr>
          <a:xfrm>
            <a:off x="3282696" y="4046220"/>
            <a:ext cx="1371600" cy="384048"/>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SQLite + SQLAlchemy</a:t>
            </a:r>
            <a:endParaRPr lang="en-US" sz="1000" dirty="0"/>
          </a:p>
        </p:txBody>
      </p:sp>
      <p:sp>
        <p:nvSpPr>
          <p:cNvPr id="34" name="Shape 32"/>
          <p:cNvSpPr/>
          <p:nvPr/>
        </p:nvSpPr>
        <p:spPr>
          <a:xfrm>
            <a:off x="4727448" y="4046220"/>
            <a:ext cx="1371600" cy="384048"/>
          </a:xfrm>
          <a:prstGeom prst="roundRect">
            <a:avLst>
              <a:gd name="adj" fmla="val 19048"/>
            </a:avLst>
          </a:prstGeom>
          <a:solidFill>
            <a:srgbClr val="243060"/>
          </a:solidFill>
          <a:ln w="12700">
            <a:solidFill>
              <a:srgbClr val="4A90D9"/>
            </a:solidFill>
            <a:prstDash val="solid"/>
          </a:ln>
        </p:spPr>
        <p:txBody>
          <a:bodyPr/>
          <a:lstStyle/>
          <a:p>
            <a:endParaRPr lang="ko-KR" altLang="en-US"/>
          </a:p>
        </p:txBody>
      </p:sp>
      <p:sp>
        <p:nvSpPr>
          <p:cNvPr id="35" name="Text 33"/>
          <p:cNvSpPr/>
          <p:nvPr/>
        </p:nvSpPr>
        <p:spPr>
          <a:xfrm>
            <a:off x="4727448" y="4046220"/>
            <a:ext cx="1371600" cy="384048"/>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PyMuPDF</a:t>
            </a:r>
            <a:endParaRPr lang="en-US" sz="1000" dirty="0"/>
          </a:p>
        </p:txBody>
      </p:sp>
      <p:sp>
        <p:nvSpPr>
          <p:cNvPr id="36" name="Shape 34"/>
          <p:cNvSpPr/>
          <p:nvPr/>
        </p:nvSpPr>
        <p:spPr>
          <a:xfrm>
            <a:off x="6172200" y="4046220"/>
            <a:ext cx="1371600" cy="384048"/>
          </a:xfrm>
          <a:prstGeom prst="roundRect">
            <a:avLst>
              <a:gd name="adj" fmla="val 19048"/>
            </a:avLst>
          </a:prstGeom>
          <a:solidFill>
            <a:srgbClr val="243060"/>
          </a:solidFill>
          <a:ln w="12700">
            <a:solidFill>
              <a:srgbClr val="4A90D9"/>
            </a:solidFill>
            <a:prstDash val="solid"/>
          </a:ln>
        </p:spPr>
        <p:txBody>
          <a:bodyPr/>
          <a:lstStyle/>
          <a:p>
            <a:endParaRPr lang="ko-KR" altLang="en-US"/>
          </a:p>
        </p:txBody>
      </p:sp>
      <p:sp>
        <p:nvSpPr>
          <p:cNvPr id="37" name="Text 35"/>
          <p:cNvSpPr/>
          <p:nvPr/>
        </p:nvSpPr>
        <p:spPr>
          <a:xfrm>
            <a:off x="6172200" y="4046220"/>
            <a:ext cx="1371600" cy="384048"/>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google-genai SDK</a:t>
            </a:r>
            <a:endParaRPr lang="en-US" sz="1000" dirty="0"/>
          </a:p>
        </p:txBody>
      </p:sp>
      <p:sp>
        <p:nvSpPr>
          <p:cNvPr id="38" name="Shape 36"/>
          <p:cNvSpPr/>
          <p:nvPr/>
        </p:nvSpPr>
        <p:spPr>
          <a:xfrm>
            <a:off x="7616952" y="4046220"/>
            <a:ext cx="1371600" cy="384048"/>
          </a:xfrm>
          <a:prstGeom prst="roundRect">
            <a:avLst>
              <a:gd name="adj" fmla="val 19048"/>
            </a:avLst>
          </a:prstGeom>
          <a:solidFill>
            <a:srgbClr val="243060"/>
          </a:solidFill>
          <a:ln w="12700">
            <a:solidFill>
              <a:srgbClr val="4A90D9"/>
            </a:solidFill>
            <a:prstDash val="solid"/>
          </a:ln>
        </p:spPr>
        <p:txBody>
          <a:bodyPr/>
          <a:lstStyle/>
          <a:p>
            <a:endParaRPr lang="ko-KR" altLang="en-US"/>
          </a:p>
        </p:txBody>
      </p:sp>
      <p:sp>
        <p:nvSpPr>
          <p:cNvPr id="39" name="Text 37"/>
          <p:cNvSpPr/>
          <p:nvPr/>
        </p:nvSpPr>
        <p:spPr>
          <a:xfrm>
            <a:off x="7616952" y="4046220"/>
            <a:ext cx="1371600" cy="384048"/>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python-dotenv</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E4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p:spPr>
        <p:txBody>
          <a:bodyPr/>
          <a:lstStyle/>
          <a:p>
            <a:endParaRPr lang="ko-KR" altLang="en-US"/>
          </a:p>
        </p:txBody>
      </p:sp>
      <p:sp>
        <p:nvSpPr>
          <p:cNvPr id="3" name="Shape 1"/>
          <p:cNvSpPr/>
          <p:nvPr/>
        </p:nvSpPr>
        <p:spPr>
          <a:xfrm>
            <a:off x="0" y="0"/>
            <a:ext cx="164592" cy="5143500"/>
          </a:xfrm>
          <a:prstGeom prst="rect">
            <a:avLst/>
          </a:prstGeom>
          <a:solidFill>
            <a:srgbClr val="4A90D9"/>
          </a:solidFill>
          <a:ln/>
        </p:spPr>
        <p:txBody>
          <a:bodyPr/>
          <a:lstStyle/>
          <a:p>
            <a:endParaRPr lang="ko-KR" altLang="en-US"/>
          </a:p>
        </p:txBody>
      </p:sp>
      <p:sp>
        <p:nvSpPr>
          <p:cNvPr id="4" name="Text 2"/>
          <p:cNvSpPr/>
          <p:nvPr/>
        </p:nvSpPr>
        <p:spPr>
          <a:xfrm>
            <a:off x="365760" y="73152"/>
            <a:ext cx="5486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실제 동작 데모</a:t>
            </a:r>
            <a:endParaRPr lang="en-US" sz="2400" dirty="0"/>
          </a:p>
        </p:txBody>
      </p:sp>
      <p:sp>
        <p:nvSpPr>
          <p:cNvPr id="5" name="Text 3"/>
          <p:cNvSpPr/>
          <p:nvPr/>
        </p:nvSpPr>
        <p:spPr>
          <a:xfrm>
            <a:off x="365760" y="91440"/>
            <a:ext cx="8412480" cy="548640"/>
          </a:xfrm>
          <a:prstGeom prst="rect">
            <a:avLst/>
          </a:prstGeom>
          <a:noFill/>
          <a:ln/>
        </p:spPr>
        <p:txBody>
          <a:bodyPr wrap="square" lIns="0" tIns="0" rIns="0" bIns="0" rtlCol="0" anchor="ctr"/>
          <a:lstStyle/>
          <a:p>
            <a:pPr marL="0" indent="0" algn="r">
              <a:buNone/>
            </a:pPr>
            <a:r>
              <a:rPr lang="en-US" sz="1300" dirty="0">
                <a:solidFill>
                  <a:srgbClr val="CADCFC"/>
                </a:solidFill>
                <a:latin typeface="Calibri" pitchFamily="34" charset="0"/>
                <a:ea typeface="Calibri" pitchFamily="34" charset="-122"/>
                <a:cs typeface="Calibri" pitchFamily="34" charset="-120"/>
              </a:rPr>
              <a:t>Swagger UI로 확인하는 실제 동작</a:t>
            </a:r>
            <a:endParaRPr lang="en-US" sz="1300" dirty="0"/>
          </a:p>
        </p:txBody>
      </p:sp>
      <p:pic>
        <p:nvPicPr>
          <p:cNvPr id="6" name="Image 0" descr="preencoded.png"/>
          <p:cNvPicPr>
            <a:picLocks noChangeAspect="1"/>
          </p:cNvPicPr>
          <p:nvPr/>
        </p:nvPicPr>
        <p:blipFill>
          <a:blip r:embed="rId3"/>
          <a:srcRect/>
          <a:stretch/>
        </p:blipFill>
        <p:spPr>
          <a:xfrm>
            <a:off x="320040" y="749808"/>
            <a:ext cx="4910574" cy="2580132"/>
          </a:xfrm>
          <a:prstGeom prst="rect">
            <a:avLst/>
          </a:prstGeom>
        </p:spPr>
      </p:pic>
      <p:sp>
        <p:nvSpPr>
          <p:cNvPr id="7" name="Shape 4"/>
          <p:cNvSpPr/>
          <p:nvPr/>
        </p:nvSpPr>
        <p:spPr>
          <a:xfrm>
            <a:off x="320040" y="749808"/>
            <a:ext cx="4910574" cy="2580132"/>
          </a:xfrm>
          <a:prstGeom prst="rect">
            <a:avLst/>
          </a:prstGeom>
          <a:ln w="12700">
            <a:solidFill>
              <a:srgbClr val="4A90D9"/>
            </a:solidFill>
            <a:prstDash val="solid"/>
          </a:ln>
        </p:spPr>
        <p:txBody>
          <a:bodyPr/>
          <a:lstStyle/>
          <a:p>
            <a:endParaRPr lang="ko-KR" altLang="en-US"/>
          </a:p>
        </p:txBody>
      </p:sp>
      <p:pic>
        <p:nvPicPr>
          <p:cNvPr id="8" name="Image 1" descr="preencoded.png"/>
          <p:cNvPicPr>
            <a:picLocks noChangeAspect="1"/>
          </p:cNvPicPr>
          <p:nvPr/>
        </p:nvPicPr>
        <p:blipFill>
          <a:blip r:embed="rId4"/>
          <a:srcRect/>
          <a:stretch/>
        </p:blipFill>
        <p:spPr>
          <a:xfrm>
            <a:off x="1815846" y="1682496"/>
            <a:ext cx="4509516" cy="2369407"/>
          </a:xfrm>
          <a:prstGeom prst="rect">
            <a:avLst/>
          </a:prstGeom>
        </p:spPr>
      </p:pic>
      <p:sp>
        <p:nvSpPr>
          <p:cNvPr id="9" name="Shape 5"/>
          <p:cNvSpPr/>
          <p:nvPr/>
        </p:nvSpPr>
        <p:spPr>
          <a:xfrm>
            <a:off x="1815846" y="1682497"/>
            <a:ext cx="4509516" cy="2369058"/>
          </a:xfrm>
          <a:prstGeom prst="rect">
            <a:avLst/>
          </a:prstGeom>
          <a:ln w="12700">
            <a:solidFill>
              <a:srgbClr val="4A90D9"/>
            </a:solidFill>
            <a:prstDash val="solid"/>
          </a:ln>
        </p:spPr>
        <p:txBody>
          <a:bodyPr/>
          <a:lstStyle/>
          <a:p>
            <a:endParaRPr lang="ko-KR" altLang="en-US"/>
          </a:p>
        </p:txBody>
      </p:sp>
      <p:pic>
        <p:nvPicPr>
          <p:cNvPr id="10" name="Image 2" descr="preencoded.png"/>
          <p:cNvPicPr>
            <a:picLocks noChangeAspect="1"/>
          </p:cNvPicPr>
          <p:nvPr/>
        </p:nvPicPr>
        <p:blipFill>
          <a:blip r:embed="rId5"/>
          <a:srcRect/>
          <a:stretch/>
        </p:blipFill>
        <p:spPr>
          <a:xfrm>
            <a:off x="3569208" y="2576323"/>
            <a:ext cx="4721352" cy="2480710"/>
          </a:xfrm>
          <a:prstGeom prst="rect">
            <a:avLst/>
          </a:prstGeom>
        </p:spPr>
      </p:pic>
      <p:sp>
        <p:nvSpPr>
          <p:cNvPr id="11" name="Shape 6"/>
          <p:cNvSpPr/>
          <p:nvPr/>
        </p:nvSpPr>
        <p:spPr>
          <a:xfrm>
            <a:off x="3569208" y="2576322"/>
            <a:ext cx="4721352" cy="2475737"/>
          </a:xfrm>
          <a:prstGeom prst="rect">
            <a:avLst/>
          </a:prstGeom>
          <a:ln w="12700">
            <a:solidFill>
              <a:srgbClr val="4A90D9"/>
            </a:solidFill>
            <a:prstDash val="solid"/>
          </a:ln>
        </p:spPr>
        <p:txBody>
          <a:bodyPr/>
          <a:lstStyle/>
          <a:p>
            <a:endParaRPr lang="ko-KR" altLang="en-US"/>
          </a:p>
        </p:txBody>
      </p:sp>
      <p:sp>
        <p:nvSpPr>
          <p:cNvPr id="20" name="Text 11"/>
          <p:cNvSpPr/>
          <p:nvPr/>
        </p:nvSpPr>
        <p:spPr>
          <a:xfrm>
            <a:off x="5386062" y="792892"/>
            <a:ext cx="3985260" cy="201168"/>
          </a:xfrm>
          <a:prstGeom prst="rect">
            <a:avLst/>
          </a:prstGeom>
          <a:noFill/>
          <a:ln/>
        </p:spPr>
        <p:txBody>
          <a:bodyPr wrap="square" lIns="0" tIns="0" rIns="0" bIns="0" rtlCol="0" anchor="ctr"/>
          <a:lstStyle/>
          <a:p>
            <a:pPr marL="0" indent="0">
              <a:buNone/>
            </a:pPr>
            <a:r>
              <a:rPr lang="ko-KR" altLang="en-US" sz="850" i="1" dirty="0">
                <a:solidFill>
                  <a:srgbClr val="A8BDD8"/>
                </a:solidFill>
                <a:latin typeface="Calibri" pitchFamily="34" charset="0"/>
                <a:ea typeface="Calibri" pitchFamily="34" charset="-122"/>
                <a:cs typeface="Calibri" pitchFamily="34" charset="-120"/>
              </a:rPr>
              <a:t>◀ </a:t>
            </a:r>
            <a:r>
              <a:rPr lang="en-US" sz="850" i="1" dirty="0">
                <a:solidFill>
                  <a:srgbClr val="A8BDD8"/>
                </a:solidFill>
                <a:latin typeface="Calibri" pitchFamily="34" charset="0"/>
                <a:ea typeface="Calibri" pitchFamily="34" charset="-122"/>
                <a:cs typeface="Calibri" pitchFamily="34" charset="-120"/>
              </a:rPr>
              <a:t>API 목록 및 엔드포인트</a:t>
            </a:r>
            <a:endParaRPr lang="en-US" sz="850" dirty="0"/>
          </a:p>
        </p:txBody>
      </p:sp>
      <p:sp>
        <p:nvSpPr>
          <p:cNvPr id="25" name="Text 11">
            <a:extLst>
              <a:ext uri="{FF2B5EF4-FFF2-40B4-BE49-F238E27FC236}">
                <a16:creationId xmlns:a16="http://schemas.microsoft.com/office/drawing/2014/main" id="{4F8E2306-C12C-B3BC-DA86-5168C0F80736}"/>
              </a:ext>
            </a:extLst>
          </p:cNvPr>
          <p:cNvSpPr/>
          <p:nvPr/>
        </p:nvSpPr>
        <p:spPr>
          <a:xfrm>
            <a:off x="1815846" y="4293108"/>
            <a:ext cx="3985260" cy="201168"/>
          </a:xfrm>
          <a:prstGeom prst="rect">
            <a:avLst/>
          </a:prstGeom>
          <a:noFill/>
          <a:ln/>
        </p:spPr>
        <p:txBody>
          <a:bodyPr wrap="square" lIns="0" tIns="0" rIns="0" bIns="0" rtlCol="0" anchor="ctr"/>
          <a:lstStyle/>
          <a:p>
            <a:r>
              <a:rPr lang="en-US" altLang="ko-KR" sz="850" i="1" dirty="0">
                <a:solidFill>
                  <a:srgbClr val="A8BDD8"/>
                </a:solidFill>
                <a:latin typeface="Calibri" pitchFamily="34" charset="0"/>
                <a:ea typeface="Calibri" pitchFamily="34" charset="-122"/>
                <a:cs typeface="Calibri" pitchFamily="34" charset="-120"/>
              </a:rPr>
              <a:t>▲ Step.0 </a:t>
            </a:r>
            <a:r>
              <a:rPr lang="ko-KR" altLang="en-US" sz="850" i="1" dirty="0">
                <a:solidFill>
                  <a:srgbClr val="A8BDD8"/>
                </a:solidFill>
                <a:latin typeface="Calibri" pitchFamily="34" charset="0"/>
                <a:ea typeface="Calibri" pitchFamily="34" charset="-122"/>
                <a:cs typeface="Calibri" pitchFamily="34" charset="-120"/>
              </a:rPr>
              <a:t>강의계획서 분석 및 저장</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1E4F"/>
        </a:solidFill>
        <a:effectLst/>
      </p:bgPr>
    </p:bg>
    <p:spTree>
      <p:nvGrpSpPr>
        <p:cNvPr id="1" name="">
          <a:extLst>
            <a:ext uri="{FF2B5EF4-FFF2-40B4-BE49-F238E27FC236}">
              <a16:creationId xmlns:a16="http://schemas.microsoft.com/office/drawing/2014/main" id="{43FA1DA5-A115-6352-B51A-1BE91BE3EA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44F7BB9-52B1-6C09-0FDD-EC8B94474102}"/>
              </a:ext>
            </a:extLst>
          </p:cNvPr>
          <p:cNvSpPr/>
          <p:nvPr/>
        </p:nvSpPr>
        <p:spPr>
          <a:xfrm>
            <a:off x="0" y="0"/>
            <a:ext cx="9144000" cy="685800"/>
          </a:xfrm>
          <a:prstGeom prst="rect">
            <a:avLst/>
          </a:prstGeom>
          <a:solidFill>
            <a:srgbClr val="1E2761"/>
          </a:solidFill>
          <a:ln/>
        </p:spPr>
        <p:txBody>
          <a:bodyPr/>
          <a:lstStyle/>
          <a:p>
            <a:endParaRPr lang="ko-KR" altLang="en-US"/>
          </a:p>
        </p:txBody>
      </p:sp>
      <p:sp>
        <p:nvSpPr>
          <p:cNvPr id="3" name="Shape 1">
            <a:extLst>
              <a:ext uri="{FF2B5EF4-FFF2-40B4-BE49-F238E27FC236}">
                <a16:creationId xmlns:a16="http://schemas.microsoft.com/office/drawing/2014/main" id="{AC6844E1-A6F0-302F-AED6-F2C1E93035C6}"/>
              </a:ext>
            </a:extLst>
          </p:cNvPr>
          <p:cNvSpPr/>
          <p:nvPr/>
        </p:nvSpPr>
        <p:spPr>
          <a:xfrm>
            <a:off x="0" y="0"/>
            <a:ext cx="164592" cy="5143500"/>
          </a:xfrm>
          <a:prstGeom prst="rect">
            <a:avLst/>
          </a:prstGeom>
          <a:solidFill>
            <a:srgbClr val="4A90D9"/>
          </a:solidFill>
          <a:ln/>
        </p:spPr>
        <p:txBody>
          <a:bodyPr/>
          <a:lstStyle/>
          <a:p>
            <a:endParaRPr lang="ko-KR" altLang="en-US"/>
          </a:p>
        </p:txBody>
      </p:sp>
      <p:sp>
        <p:nvSpPr>
          <p:cNvPr id="4" name="Text 2">
            <a:extLst>
              <a:ext uri="{FF2B5EF4-FFF2-40B4-BE49-F238E27FC236}">
                <a16:creationId xmlns:a16="http://schemas.microsoft.com/office/drawing/2014/main" id="{EB8C623F-1F17-12C1-B73D-FB9DBF860D64}"/>
              </a:ext>
            </a:extLst>
          </p:cNvPr>
          <p:cNvSpPr/>
          <p:nvPr/>
        </p:nvSpPr>
        <p:spPr>
          <a:xfrm>
            <a:off x="365760" y="73152"/>
            <a:ext cx="5486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실제 동작 데모</a:t>
            </a:r>
            <a:endParaRPr lang="en-US" sz="2400" dirty="0"/>
          </a:p>
        </p:txBody>
      </p:sp>
      <p:sp>
        <p:nvSpPr>
          <p:cNvPr id="5" name="Text 3">
            <a:extLst>
              <a:ext uri="{FF2B5EF4-FFF2-40B4-BE49-F238E27FC236}">
                <a16:creationId xmlns:a16="http://schemas.microsoft.com/office/drawing/2014/main" id="{DA25F52D-4328-86D0-B877-B04EA247B48D}"/>
              </a:ext>
            </a:extLst>
          </p:cNvPr>
          <p:cNvSpPr/>
          <p:nvPr/>
        </p:nvSpPr>
        <p:spPr>
          <a:xfrm>
            <a:off x="365760" y="91440"/>
            <a:ext cx="8412480" cy="548640"/>
          </a:xfrm>
          <a:prstGeom prst="rect">
            <a:avLst/>
          </a:prstGeom>
          <a:noFill/>
          <a:ln/>
        </p:spPr>
        <p:txBody>
          <a:bodyPr wrap="square" lIns="0" tIns="0" rIns="0" bIns="0" rtlCol="0" anchor="ctr"/>
          <a:lstStyle/>
          <a:p>
            <a:pPr marL="0" indent="0" algn="r">
              <a:buNone/>
            </a:pPr>
            <a:r>
              <a:rPr lang="en-US" sz="1300" dirty="0">
                <a:solidFill>
                  <a:srgbClr val="CADCFC"/>
                </a:solidFill>
                <a:latin typeface="Calibri" pitchFamily="34" charset="0"/>
                <a:ea typeface="Calibri" pitchFamily="34" charset="-122"/>
                <a:cs typeface="Calibri" pitchFamily="34" charset="-120"/>
              </a:rPr>
              <a:t>Swagger UI로 확인하는 실제 동작</a:t>
            </a:r>
            <a:endParaRPr lang="en-US" sz="1300" dirty="0"/>
          </a:p>
        </p:txBody>
      </p:sp>
      <p:pic>
        <p:nvPicPr>
          <p:cNvPr id="12" name="Image 3" descr="preencoded.png">
            <a:extLst>
              <a:ext uri="{FF2B5EF4-FFF2-40B4-BE49-F238E27FC236}">
                <a16:creationId xmlns:a16="http://schemas.microsoft.com/office/drawing/2014/main" id="{7A83D935-2C6D-95E4-0C15-C09B32D6198A}"/>
              </a:ext>
            </a:extLst>
          </p:cNvPr>
          <p:cNvPicPr>
            <a:picLocks noChangeAspect="1"/>
          </p:cNvPicPr>
          <p:nvPr/>
        </p:nvPicPr>
        <p:blipFill>
          <a:blip r:embed="rId3"/>
          <a:srcRect/>
          <a:stretch/>
        </p:blipFill>
        <p:spPr>
          <a:xfrm>
            <a:off x="259079" y="786384"/>
            <a:ext cx="4908679" cy="2673096"/>
          </a:xfrm>
          <a:prstGeom prst="rect">
            <a:avLst/>
          </a:prstGeom>
        </p:spPr>
      </p:pic>
      <p:sp>
        <p:nvSpPr>
          <p:cNvPr id="13" name="Shape 7">
            <a:extLst>
              <a:ext uri="{FF2B5EF4-FFF2-40B4-BE49-F238E27FC236}">
                <a16:creationId xmlns:a16="http://schemas.microsoft.com/office/drawing/2014/main" id="{28B1650A-6410-D79E-E6C9-5FF335609E17}"/>
              </a:ext>
            </a:extLst>
          </p:cNvPr>
          <p:cNvSpPr/>
          <p:nvPr/>
        </p:nvSpPr>
        <p:spPr>
          <a:xfrm>
            <a:off x="259080" y="786384"/>
            <a:ext cx="4908678" cy="2673096"/>
          </a:xfrm>
          <a:prstGeom prst="rect">
            <a:avLst/>
          </a:prstGeom>
          <a:ln w="12700">
            <a:solidFill>
              <a:srgbClr val="4A90D9"/>
            </a:solidFill>
            <a:prstDash val="solid"/>
          </a:ln>
        </p:spPr>
        <p:txBody>
          <a:bodyPr/>
          <a:lstStyle/>
          <a:p>
            <a:endParaRPr lang="ko-KR" altLang="en-US"/>
          </a:p>
        </p:txBody>
      </p:sp>
      <p:pic>
        <p:nvPicPr>
          <p:cNvPr id="16" name="Image 5" descr="preencoded.png">
            <a:extLst>
              <a:ext uri="{FF2B5EF4-FFF2-40B4-BE49-F238E27FC236}">
                <a16:creationId xmlns:a16="http://schemas.microsoft.com/office/drawing/2014/main" id="{2BA7D30E-B4D2-38C7-FEBC-B56128EEABB0}"/>
              </a:ext>
            </a:extLst>
          </p:cNvPr>
          <p:cNvPicPr>
            <a:picLocks noChangeAspect="1"/>
          </p:cNvPicPr>
          <p:nvPr/>
        </p:nvPicPr>
        <p:blipFill>
          <a:blip r:embed="rId4"/>
          <a:srcRect/>
          <a:stretch/>
        </p:blipFill>
        <p:spPr>
          <a:xfrm>
            <a:off x="2087880" y="1485138"/>
            <a:ext cx="4206240" cy="2837688"/>
          </a:xfrm>
          <a:prstGeom prst="rect">
            <a:avLst/>
          </a:prstGeom>
        </p:spPr>
      </p:pic>
      <p:sp>
        <p:nvSpPr>
          <p:cNvPr id="17" name="Shape 9">
            <a:extLst>
              <a:ext uri="{FF2B5EF4-FFF2-40B4-BE49-F238E27FC236}">
                <a16:creationId xmlns:a16="http://schemas.microsoft.com/office/drawing/2014/main" id="{B838580E-7266-238E-5DA5-663B52A0E56C}"/>
              </a:ext>
            </a:extLst>
          </p:cNvPr>
          <p:cNvSpPr/>
          <p:nvPr/>
        </p:nvSpPr>
        <p:spPr>
          <a:xfrm>
            <a:off x="2087880" y="1485138"/>
            <a:ext cx="4206240" cy="2837688"/>
          </a:xfrm>
          <a:prstGeom prst="rect">
            <a:avLst/>
          </a:prstGeom>
          <a:ln w="12700">
            <a:solidFill>
              <a:srgbClr val="4A90D9"/>
            </a:solidFill>
            <a:prstDash val="solid"/>
          </a:ln>
        </p:spPr>
        <p:txBody>
          <a:bodyPr/>
          <a:lstStyle/>
          <a:p>
            <a:endParaRPr lang="ko-KR" altLang="en-US"/>
          </a:p>
        </p:txBody>
      </p:sp>
      <p:pic>
        <p:nvPicPr>
          <p:cNvPr id="18" name="Image 6" descr="preencoded.png">
            <a:extLst>
              <a:ext uri="{FF2B5EF4-FFF2-40B4-BE49-F238E27FC236}">
                <a16:creationId xmlns:a16="http://schemas.microsoft.com/office/drawing/2014/main" id="{D5886489-A792-2016-8918-3B34EA6CD5C1}"/>
              </a:ext>
            </a:extLst>
          </p:cNvPr>
          <p:cNvPicPr>
            <a:picLocks noChangeAspect="1"/>
          </p:cNvPicPr>
          <p:nvPr/>
        </p:nvPicPr>
        <p:blipFill>
          <a:blip r:embed="rId5"/>
          <a:srcRect/>
          <a:stretch/>
        </p:blipFill>
        <p:spPr>
          <a:xfrm>
            <a:off x="4617720" y="2400300"/>
            <a:ext cx="4206240" cy="2647188"/>
          </a:xfrm>
          <a:prstGeom prst="rect">
            <a:avLst/>
          </a:prstGeom>
        </p:spPr>
      </p:pic>
      <p:sp>
        <p:nvSpPr>
          <p:cNvPr id="19" name="Shape 10">
            <a:extLst>
              <a:ext uri="{FF2B5EF4-FFF2-40B4-BE49-F238E27FC236}">
                <a16:creationId xmlns:a16="http://schemas.microsoft.com/office/drawing/2014/main" id="{EE458F83-EAB9-7A9D-4AF4-C9D9085C483A}"/>
              </a:ext>
            </a:extLst>
          </p:cNvPr>
          <p:cNvSpPr/>
          <p:nvPr/>
        </p:nvSpPr>
        <p:spPr>
          <a:xfrm>
            <a:off x="4617720" y="2400300"/>
            <a:ext cx="4206240" cy="2647188"/>
          </a:xfrm>
          <a:prstGeom prst="rect">
            <a:avLst/>
          </a:prstGeom>
          <a:ln w="12700">
            <a:solidFill>
              <a:srgbClr val="4A90D9"/>
            </a:solidFill>
            <a:prstDash val="solid"/>
          </a:ln>
        </p:spPr>
        <p:txBody>
          <a:bodyPr/>
          <a:lstStyle/>
          <a:p>
            <a:endParaRPr lang="ko-KR" altLang="en-US"/>
          </a:p>
        </p:txBody>
      </p:sp>
      <p:sp>
        <p:nvSpPr>
          <p:cNvPr id="21" name="Text 12">
            <a:extLst>
              <a:ext uri="{FF2B5EF4-FFF2-40B4-BE49-F238E27FC236}">
                <a16:creationId xmlns:a16="http://schemas.microsoft.com/office/drawing/2014/main" id="{0FEDBD99-8A2B-ECAB-A11E-FA1A945A0884}"/>
              </a:ext>
            </a:extLst>
          </p:cNvPr>
          <p:cNvSpPr/>
          <p:nvPr/>
        </p:nvSpPr>
        <p:spPr>
          <a:xfrm>
            <a:off x="320040" y="3560064"/>
            <a:ext cx="8503920" cy="201168"/>
          </a:xfrm>
          <a:prstGeom prst="rect">
            <a:avLst/>
          </a:prstGeom>
          <a:noFill/>
          <a:ln/>
        </p:spPr>
        <p:txBody>
          <a:bodyPr wrap="square" lIns="0" tIns="0" rIns="0" bIns="0" rtlCol="0" anchor="ctr"/>
          <a:lstStyle/>
          <a:p>
            <a:pPr marL="0" indent="0">
              <a:buNone/>
            </a:pPr>
            <a:r>
              <a:rPr lang="en-US" sz="850" i="1" dirty="0">
                <a:solidFill>
                  <a:srgbClr val="A8BDD8"/>
                </a:solidFill>
                <a:latin typeface="Calibri" pitchFamily="34" charset="0"/>
                <a:ea typeface="Calibri" pitchFamily="34" charset="-122"/>
                <a:cs typeface="Calibri" pitchFamily="34" charset="-120"/>
              </a:rPr>
              <a:t>▲ </a:t>
            </a:r>
            <a:r>
              <a:rPr lang="ko-KR" altLang="en-US" sz="850" i="1" dirty="0">
                <a:solidFill>
                  <a:srgbClr val="A8BDD8"/>
                </a:solidFill>
                <a:latin typeface="Calibri" pitchFamily="34" charset="0"/>
                <a:ea typeface="Calibri" pitchFamily="34" charset="-122"/>
                <a:cs typeface="Calibri" pitchFamily="34" charset="-120"/>
              </a:rPr>
              <a:t>수업 </a:t>
            </a:r>
            <a:r>
              <a:rPr lang="en-US" sz="850" i="1" dirty="0" err="1">
                <a:solidFill>
                  <a:srgbClr val="A8BDD8"/>
                </a:solidFill>
                <a:latin typeface="Calibri" pitchFamily="34" charset="0"/>
                <a:ea typeface="Calibri" pitchFamily="34" charset="-122"/>
                <a:cs typeface="Calibri" pitchFamily="34" charset="-120"/>
              </a:rPr>
              <a:t>파일</a:t>
            </a:r>
            <a:r>
              <a:rPr lang="en-US" sz="850" i="1" dirty="0">
                <a:solidFill>
                  <a:srgbClr val="A8BDD8"/>
                </a:solidFill>
                <a:latin typeface="Calibri" pitchFamily="34" charset="0"/>
                <a:ea typeface="Calibri" pitchFamily="34" charset="-122"/>
                <a:cs typeface="Calibri" pitchFamily="34" charset="-120"/>
              </a:rPr>
              <a:t> 업로드 및 요청 전송</a:t>
            </a:r>
            <a:endParaRPr lang="en-US" sz="850" dirty="0"/>
          </a:p>
        </p:txBody>
      </p:sp>
      <p:sp>
        <p:nvSpPr>
          <p:cNvPr id="22" name="Text 13">
            <a:extLst>
              <a:ext uri="{FF2B5EF4-FFF2-40B4-BE49-F238E27FC236}">
                <a16:creationId xmlns:a16="http://schemas.microsoft.com/office/drawing/2014/main" id="{22F5FFBB-44FD-12C2-782A-52ECD87D836A}"/>
              </a:ext>
            </a:extLst>
          </p:cNvPr>
          <p:cNvSpPr/>
          <p:nvPr/>
        </p:nvSpPr>
        <p:spPr>
          <a:xfrm>
            <a:off x="2049780" y="4357116"/>
            <a:ext cx="2141220" cy="201168"/>
          </a:xfrm>
          <a:prstGeom prst="rect">
            <a:avLst/>
          </a:prstGeom>
          <a:noFill/>
          <a:ln/>
        </p:spPr>
        <p:txBody>
          <a:bodyPr wrap="square" lIns="0" tIns="0" rIns="0" bIns="0" rtlCol="0" anchor="ctr"/>
          <a:lstStyle/>
          <a:p>
            <a:pPr marL="0" indent="0">
              <a:buNone/>
            </a:pPr>
            <a:r>
              <a:rPr lang="en-US" sz="850" i="1" dirty="0">
                <a:solidFill>
                  <a:srgbClr val="A8BDD8"/>
                </a:solidFill>
                <a:latin typeface="Calibri" pitchFamily="34" charset="0"/>
                <a:ea typeface="Calibri" pitchFamily="34" charset="-122"/>
                <a:cs typeface="Calibri" pitchFamily="34" charset="-120"/>
              </a:rPr>
              <a:t>▲ </a:t>
            </a:r>
            <a:r>
              <a:rPr lang="ko-KR" altLang="en-US" sz="850" i="1" dirty="0">
                <a:solidFill>
                  <a:srgbClr val="A8BDD8"/>
                </a:solidFill>
                <a:latin typeface="Calibri" pitchFamily="34" charset="0"/>
                <a:ea typeface="Calibri" pitchFamily="34" charset="-122"/>
                <a:cs typeface="Calibri" pitchFamily="34" charset="-120"/>
              </a:rPr>
              <a:t>생</a:t>
            </a:r>
            <a:r>
              <a:rPr lang="en-US" sz="850" i="1" dirty="0" err="1">
                <a:solidFill>
                  <a:srgbClr val="A8BDD8"/>
                </a:solidFill>
                <a:latin typeface="Calibri" pitchFamily="34" charset="0"/>
                <a:ea typeface="Calibri" pitchFamily="34" charset="-122"/>
                <a:cs typeface="Calibri" pitchFamily="34" charset="-120"/>
              </a:rPr>
              <a:t>성된</a:t>
            </a:r>
            <a:r>
              <a:rPr lang="en-US" sz="850" i="1" dirty="0">
                <a:solidFill>
                  <a:srgbClr val="A8BDD8"/>
                </a:solidFill>
                <a:latin typeface="Calibri" pitchFamily="34" charset="0"/>
                <a:ea typeface="Calibri" pitchFamily="34" charset="-122"/>
                <a:cs typeface="Calibri" pitchFamily="34" charset="-120"/>
              </a:rPr>
              <a:t> 노트 JSON 반환</a:t>
            </a:r>
            <a:endParaRPr lang="en-US" sz="850" dirty="0"/>
          </a:p>
        </p:txBody>
      </p:sp>
      <p:sp>
        <p:nvSpPr>
          <p:cNvPr id="23" name="Text 12">
            <a:extLst>
              <a:ext uri="{FF2B5EF4-FFF2-40B4-BE49-F238E27FC236}">
                <a16:creationId xmlns:a16="http://schemas.microsoft.com/office/drawing/2014/main" id="{F0B71E97-D15F-DFC9-D9E2-6D9B2E777F2E}"/>
              </a:ext>
            </a:extLst>
          </p:cNvPr>
          <p:cNvSpPr/>
          <p:nvPr/>
        </p:nvSpPr>
        <p:spPr>
          <a:xfrm>
            <a:off x="3009900" y="4717542"/>
            <a:ext cx="8503920" cy="201168"/>
          </a:xfrm>
          <a:prstGeom prst="rect">
            <a:avLst/>
          </a:prstGeom>
          <a:noFill/>
          <a:ln/>
        </p:spPr>
        <p:txBody>
          <a:bodyPr wrap="square" lIns="0" tIns="0" rIns="0" bIns="0" rtlCol="0" anchor="ctr"/>
          <a:lstStyle/>
          <a:p>
            <a:pPr marL="0" indent="0">
              <a:buNone/>
            </a:pPr>
            <a:r>
              <a:rPr lang="ko-KR" altLang="en-US" sz="850" i="1" dirty="0">
                <a:solidFill>
                  <a:srgbClr val="A8BDD8"/>
                </a:solidFill>
                <a:latin typeface="Calibri" pitchFamily="34" charset="0"/>
                <a:ea typeface="Calibri" pitchFamily="34" charset="-122"/>
                <a:cs typeface="Calibri" pitchFamily="34" charset="-120"/>
              </a:rPr>
              <a:t>▶ </a:t>
            </a:r>
            <a:r>
              <a:rPr lang="en-US" altLang="ko-KR" sz="850" i="1" dirty="0">
                <a:solidFill>
                  <a:srgbClr val="A8BDD8"/>
                </a:solidFill>
                <a:latin typeface="Calibri" pitchFamily="34" charset="0"/>
                <a:ea typeface="Calibri" pitchFamily="34" charset="-122"/>
                <a:cs typeface="Calibri" pitchFamily="34" charset="-120"/>
              </a:rPr>
              <a:t>HTML</a:t>
            </a:r>
            <a:r>
              <a:rPr lang="ko-KR" altLang="en-US" sz="850" i="1" dirty="0">
                <a:solidFill>
                  <a:srgbClr val="A8BDD8"/>
                </a:solidFill>
                <a:latin typeface="Calibri" pitchFamily="34" charset="0"/>
                <a:ea typeface="Calibri" pitchFamily="34" charset="-122"/>
                <a:cs typeface="Calibri" pitchFamily="34" charset="-120"/>
              </a:rPr>
              <a:t>로 변환하여 저장 가능</a:t>
            </a:r>
            <a:endParaRPr lang="en-US" sz="850" dirty="0"/>
          </a:p>
        </p:txBody>
      </p:sp>
    </p:spTree>
    <p:extLst>
      <p:ext uri="{BB962C8B-B14F-4D97-AF65-F5344CB8AC3E}">
        <p14:creationId xmlns:p14="http://schemas.microsoft.com/office/powerpoint/2010/main" val="2157531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83844F6-D2F5-91BB-CB28-2E659BB7F1E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E14AEA-D912-7E82-7105-DB9E81703F51}"/>
              </a:ext>
            </a:extLst>
          </p:cNvPr>
          <p:cNvSpPr/>
          <p:nvPr/>
        </p:nvSpPr>
        <p:spPr>
          <a:xfrm>
            <a:off x="0" y="0"/>
            <a:ext cx="9144000" cy="685800"/>
          </a:xfrm>
          <a:prstGeom prst="rect">
            <a:avLst/>
          </a:prstGeom>
          <a:solidFill>
            <a:srgbClr val="1E2761"/>
          </a:solidFill>
          <a:ln/>
        </p:spPr>
        <p:txBody>
          <a:bodyPr/>
          <a:lstStyle/>
          <a:p>
            <a:endParaRPr lang="ko-KR" altLang="en-US"/>
          </a:p>
        </p:txBody>
      </p:sp>
      <p:sp>
        <p:nvSpPr>
          <p:cNvPr id="3" name="Shape 1">
            <a:extLst>
              <a:ext uri="{FF2B5EF4-FFF2-40B4-BE49-F238E27FC236}">
                <a16:creationId xmlns:a16="http://schemas.microsoft.com/office/drawing/2014/main" id="{5DDA1D00-82AC-58C4-27BF-92022F3C8FEB}"/>
              </a:ext>
            </a:extLst>
          </p:cNvPr>
          <p:cNvSpPr/>
          <p:nvPr/>
        </p:nvSpPr>
        <p:spPr>
          <a:xfrm>
            <a:off x="0" y="0"/>
            <a:ext cx="164592" cy="5143500"/>
          </a:xfrm>
          <a:prstGeom prst="rect">
            <a:avLst/>
          </a:prstGeom>
          <a:solidFill>
            <a:srgbClr val="4A90D9"/>
          </a:solidFill>
          <a:ln/>
        </p:spPr>
        <p:txBody>
          <a:bodyPr/>
          <a:lstStyle/>
          <a:p>
            <a:endParaRPr lang="ko-KR" altLang="en-US"/>
          </a:p>
        </p:txBody>
      </p:sp>
      <p:sp>
        <p:nvSpPr>
          <p:cNvPr id="4" name="Text 2">
            <a:extLst>
              <a:ext uri="{FF2B5EF4-FFF2-40B4-BE49-F238E27FC236}">
                <a16:creationId xmlns:a16="http://schemas.microsoft.com/office/drawing/2014/main" id="{C70C198E-F677-72F9-4B2D-F0DB039CB1D5}"/>
              </a:ext>
            </a:extLst>
          </p:cNvPr>
          <p:cNvSpPr/>
          <p:nvPr/>
        </p:nvSpPr>
        <p:spPr>
          <a:xfrm>
            <a:off x="365760" y="73152"/>
            <a:ext cx="5486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실제 동작 데모</a:t>
            </a:r>
            <a:endParaRPr lang="en-US" sz="2400" dirty="0"/>
          </a:p>
        </p:txBody>
      </p:sp>
      <p:sp>
        <p:nvSpPr>
          <p:cNvPr id="5" name="Text 3">
            <a:extLst>
              <a:ext uri="{FF2B5EF4-FFF2-40B4-BE49-F238E27FC236}">
                <a16:creationId xmlns:a16="http://schemas.microsoft.com/office/drawing/2014/main" id="{78D99382-7FF9-F73E-4853-1DE24CB03043}"/>
              </a:ext>
            </a:extLst>
          </p:cNvPr>
          <p:cNvSpPr/>
          <p:nvPr/>
        </p:nvSpPr>
        <p:spPr>
          <a:xfrm>
            <a:off x="365760" y="91440"/>
            <a:ext cx="8412480" cy="548640"/>
          </a:xfrm>
          <a:prstGeom prst="rect">
            <a:avLst/>
          </a:prstGeom>
          <a:noFill/>
          <a:ln/>
        </p:spPr>
        <p:txBody>
          <a:bodyPr wrap="square" lIns="0" tIns="0" rIns="0" bIns="0" rtlCol="0" anchor="ctr"/>
          <a:lstStyle/>
          <a:p>
            <a:pPr marL="0" indent="0" algn="r">
              <a:buNone/>
            </a:pPr>
            <a:r>
              <a:rPr lang="en-US" sz="1300" dirty="0">
                <a:solidFill>
                  <a:srgbClr val="CADCFC"/>
                </a:solidFill>
                <a:latin typeface="Calibri" pitchFamily="34" charset="0"/>
                <a:ea typeface="Calibri" pitchFamily="34" charset="-122"/>
                <a:cs typeface="Calibri" pitchFamily="34" charset="-120"/>
              </a:rPr>
              <a:t>Swagger UI로 확인하는 실제 동작</a:t>
            </a:r>
            <a:endParaRPr lang="en-US" sz="1300" dirty="0"/>
          </a:p>
        </p:txBody>
      </p:sp>
      <p:pic>
        <p:nvPicPr>
          <p:cNvPr id="12" name="Image 3" descr="preencoded.png">
            <a:extLst>
              <a:ext uri="{FF2B5EF4-FFF2-40B4-BE49-F238E27FC236}">
                <a16:creationId xmlns:a16="http://schemas.microsoft.com/office/drawing/2014/main" id="{54581144-6B3B-666D-33F6-43529B1AA1B9}"/>
              </a:ext>
            </a:extLst>
          </p:cNvPr>
          <p:cNvPicPr>
            <a:picLocks noChangeAspect="1"/>
          </p:cNvPicPr>
          <p:nvPr/>
        </p:nvPicPr>
        <p:blipFill>
          <a:blip r:embed="rId3"/>
          <a:srcRect/>
          <a:stretch/>
        </p:blipFill>
        <p:spPr>
          <a:xfrm>
            <a:off x="259079" y="786384"/>
            <a:ext cx="4908679" cy="2673096"/>
          </a:xfrm>
          <a:prstGeom prst="rect">
            <a:avLst/>
          </a:prstGeom>
        </p:spPr>
      </p:pic>
      <p:sp>
        <p:nvSpPr>
          <p:cNvPr id="13" name="Shape 7">
            <a:extLst>
              <a:ext uri="{FF2B5EF4-FFF2-40B4-BE49-F238E27FC236}">
                <a16:creationId xmlns:a16="http://schemas.microsoft.com/office/drawing/2014/main" id="{F290C063-E55E-0569-13A4-D0D3AE80B606}"/>
              </a:ext>
            </a:extLst>
          </p:cNvPr>
          <p:cNvSpPr/>
          <p:nvPr/>
        </p:nvSpPr>
        <p:spPr>
          <a:xfrm>
            <a:off x="259080" y="786384"/>
            <a:ext cx="4908678" cy="2673096"/>
          </a:xfrm>
          <a:prstGeom prst="rect">
            <a:avLst/>
          </a:prstGeom>
          <a:ln w="12700">
            <a:solidFill>
              <a:srgbClr val="4A90D9"/>
            </a:solidFill>
            <a:prstDash val="solid"/>
          </a:ln>
        </p:spPr>
        <p:txBody>
          <a:bodyPr/>
          <a:lstStyle/>
          <a:p>
            <a:endParaRPr lang="ko-KR" altLang="en-US"/>
          </a:p>
        </p:txBody>
      </p:sp>
      <p:pic>
        <p:nvPicPr>
          <p:cNvPr id="16" name="Image 5" descr="preencoded.png">
            <a:extLst>
              <a:ext uri="{FF2B5EF4-FFF2-40B4-BE49-F238E27FC236}">
                <a16:creationId xmlns:a16="http://schemas.microsoft.com/office/drawing/2014/main" id="{2D6C8B91-8649-1604-7E18-C16BC218AF1B}"/>
              </a:ext>
            </a:extLst>
          </p:cNvPr>
          <p:cNvPicPr>
            <a:picLocks noChangeAspect="1"/>
          </p:cNvPicPr>
          <p:nvPr/>
        </p:nvPicPr>
        <p:blipFill>
          <a:blip r:embed="rId4"/>
          <a:srcRect/>
          <a:stretch/>
        </p:blipFill>
        <p:spPr>
          <a:xfrm>
            <a:off x="2087880" y="1485138"/>
            <a:ext cx="4206240" cy="2837688"/>
          </a:xfrm>
          <a:prstGeom prst="rect">
            <a:avLst/>
          </a:prstGeom>
        </p:spPr>
      </p:pic>
      <p:sp>
        <p:nvSpPr>
          <p:cNvPr id="17" name="Shape 9">
            <a:extLst>
              <a:ext uri="{FF2B5EF4-FFF2-40B4-BE49-F238E27FC236}">
                <a16:creationId xmlns:a16="http://schemas.microsoft.com/office/drawing/2014/main" id="{1EE44518-FB6F-B2B3-CE6C-0444C1AE8CFC}"/>
              </a:ext>
            </a:extLst>
          </p:cNvPr>
          <p:cNvSpPr/>
          <p:nvPr/>
        </p:nvSpPr>
        <p:spPr>
          <a:xfrm>
            <a:off x="2087880" y="1485138"/>
            <a:ext cx="4206240" cy="2837688"/>
          </a:xfrm>
          <a:prstGeom prst="rect">
            <a:avLst/>
          </a:prstGeom>
          <a:ln w="12700">
            <a:solidFill>
              <a:srgbClr val="4A90D9"/>
            </a:solidFill>
            <a:prstDash val="solid"/>
          </a:ln>
        </p:spPr>
        <p:txBody>
          <a:bodyPr/>
          <a:lstStyle/>
          <a:p>
            <a:endParaRPr lang="ko-KR" altLang="en-US"/>
          </a:p>
        </p:txBody>
      </p:sp>
      <p:pic>
        <p:nvPicPr>
          <p:cNvPr id="18" name="Image 6" descr="preencoded.png">
            <a:extLst>
              <a:ext uri="{FF2B5EF4-FFF2-40B4-BE49-F238E27FC236}">
                <a16:creationId xmlns:a16="http://schemas.microsoft.com/office/drawing/2014/main" id="{875AC501-5468-F0DA-62D4-709BE3C90F2C}"/>
              </a:ext>
            </a:extLst>
          </p:cNvPr>
          <p:cNvPicPr>
            <a:picLocks noChangeAspect="1"/>
          </p:cNvPicPr>
          <p:nvPr/>
        </p:nvPicPr>
        <p:blipFill>
          <a:blip r:embed="rId5"/>
          <a:srcRect/>
          <a:stretch/>
        </p:blipFill>
        <p:spPr>
          <a:xfrm>
            <a:off x="4617720" y="2400300"/>
            <a:ext cx="4206240" cy="2647188"/>
          </a:xfrm>
          <a:prstGeom prst="rect">
            <a:avLst/>
          </a:prstGeom>
        </p:spPr>
      </p:pic>
      <p:sp>
        <p:nvSpPr>
          <p:cNvPr id="19" name="Shape 10">
            <a:extLst>
              <a:ext uri="{FF2B5EF4-FFF2-40B4-BE49-F238E27FC236}">
                <a16:creationId xmlns:a16="http://schemas.microsoft.com/office/drawing/2014/main" id="{9B154BB8-43AB-FFF2-5F12-4F11FA3B4A1C}"/>
              </a:ext>
            </a:extLst>
          </p:cNvPr>
          <p:cNvSpPr/>
          <p:nvPr/>
        </p:nvSpPr>
        <p:spPr>
          <a:xfrm>
            <a:off x="4617720" y="2400300"/>
            <a:ext cx="4206240" cy="2647188"/>
          </a:xfrm>
          <a:prstGeom prst="rect">
            <a:avLst/>
          </a:prstGeom>
          <a:ln w="12700">
            <a:solidFill>
              <a:srgbClr val="4A90D9"/>
            </a:solidFill>
            <a:prstDash val="solid"/>
          </a:ln>
        </p:spPr>
        <p:txBody>
          <a:bodyPr/>
          <a:lstStyle/>
          <a:p>
            <a:endParaRPr lang="ko-KR" altLang="en-US"/>
          </a:p>
        </p:txBody>
      </p:sp>
      <p:sp>
        <p:nvSpPr>
          <p:cNvPr id="21" name="Text 12">
            <a:extLst>
              <a:ext uri="{FF2B5EF4-FFF2-40B4-BE49-F238E27FC236}">
                <a16:creationId xmlns:a16="http://schemas.microsoft.com/office/drawing/2014/main" id="{44BAB3D3-6E80-05FC-6ECB-4EC88F203924}"/>
              </a:ext>
            </a:extLst>
          </p:cNvPr>
          <p:cNvSpPr/>
          <p:nvPr/>
        </p:nvSpPr>
        <p:spPr>
          <a:xfrm>
            <a:off x="320040" y="3560064"/>
            <a:ext cx="8503920" cy="201168"/>
          </a:xfrm>
          <a:prstGeom prst="rect">
            <a:avLst/>
          </a:prstGeom>
          <a:noFill/>
          <a:ln/>
        </p:spPr>
        <p:txBody>
          <a:bodyPr wrap="square" lIns="0" tIns="0" rIns="0" bIns="0" rtlCol="0" anchor="ctr"/>
          <a:lstStyle/>
          <a:p>
            <a:pPr marL="0" indent="0">
              <a:buNone/>
            </a:pPr>
            <a:r>
              <a:rPr lang="en-US" sz="850" i="1" dirty="0">
                <a:solidFill>
                  <a:srgbClr val="A8BDD8"/>
                </a:solidFill>
                <a:latin typeface="Calibri" pitchFamily="34" charset="0"/>
                <a:ea typeface="Calibri" pitchFamily="34" charset="-122"/>
                <a:cs typeface="Calibri" pitchFamily="34" charset="-120"/>
              </a:rPr>
              <a:t>▲ </a:t>
            </a:r>
            <a:r>
              <a:rPr lang="ko-KR" altLang="en-US" sz="850" i="1" dirty="0">
                <a:solidFill>
                  <a:srgbClr val="A8BDD8"/>
                </a:solidFill>
                <a:latin typeface="Calibri" pitchFamily="34" charset="0"/>
                <a:ea typeface="Calibri" pitchFamily="34" charset="-122"/>
                <a:cs typeface="Calibri" pitchFamily="34" charset="-120"/>
              </a:rPr>
              <a:t>수업 </a:t>
            </a:r>
            <a:r>
              <a:rPr lang="en-US" sz="850" i="1" dirty="0" err="1">
                <a:solidFill>
                  <a:srgbClr val="A8BDD8"/>
                </a:solidFill>
                <a:latin typeface="Calibri" pitchFamily="34" charset="0"/>
                <a:ea typeface="Calibri" pitchFamily="34" charset="-122"/>
                <a:cs typeface="Calibri" pitchFamily="34" charset="-120"/>
              </a:rPr>
              <a:t>파일</a:t>
            </a:r>
            <a:r>
              <a:rPr lang="en-US" sz="850" i="1" dirty="0">
                <a:solidFill>
                  <a:srgbClr val="A8BDD8"/>
                </a:solidFill>
                <a:latin typeface="Calibri" pitchFamily="34" charset="0"/>
                <a:ea typeface="Calibri" pitchFamily="34" charset="-122"/>
                <a:cs typeface="Calibri" pitchFamily="34" charset="-120"/>
              </a:rPr>
              <a:t> 업로드 및 요청 전송</a:t>
            </a:r>
            <a:endParaRPr lang="en-US" sz="850" dirty="0"/>
          </a:p>
        </p:txBody>
      </p:sp>
      <p:sp>
        <p:nvSpPr>
          <p:cNvPr id="22" name="Text 13">
            <a:extLst>
              <a:ext uri="{FF2B5EF4-FFF2-40B4-BE49-F238E27FC236}">
                <a16:creationId xmlns:a16="http://schemas.microsoft.com/office/drawing/2014/main" id="{D0B0FDE3-FFFE-549E-CC1A-C20080850CFD}"/>
              </a:ext>
            </a:extLst>
          </p:cNvPr>
          <p:cNvSpPr/>
          <p:nvPr/>
        </p:nvSpPr>
        <p:spPr>
          <a:xfrm>
            <a:off x="2049780" y="4357116"/>
            <a:ext cx="2141220" cy="201168"/>
          </a:xfrm>
          <a:prstGeom prst="rect">
            <a:avLst/>
          </a:prstGeom>
          <a:noFill/>
          <a:ln/>
        </p:spPr>
        <p:txBody>
          <a:bodyPr wrap="square" lIns="0" tIns="0" rIns="0" bIns="0" rtlCol="0" anchor="ctr"/>
          <a:lstStyle/>
          <a:p>
            <a:pPr marL="0" indent="0">
              <a:buNone/>
            </a:pPr>
            <a:r>
              <a:rPr lang="en-US" sz="850" i="1" dirty="0">
                <a:solidFill>
                  <a:srgbClr val="A8BDD8"/>
                </a:solidFill>
                <a:latin typeface="Calibri" pitchFamily="34" charset="0"/>
                <a:ea typeface="Calibri" pitchFamily="34" charset="-122"/>
                <a:cs typeface="Calibri" pitchFamily="34" charset="-120"/>
              </a:rPr>
              <a:t>▲ </a:t>
            </a:r>
            <a:r>
              <a:rPr lang="ko-KR" altLang="en-US" sz="850" i="1" dirty="0">
                <a:solidFill>
                  <a:srgbClr val="A8BDD8"/>
                </a:solidFill>
                <a:latin typeface="Calibri" pitchFamily="34" charset="0"/>
                <a:ea typeface="Calibri" pitchFamily="34" charset="-122"/>
                <a:cs typeface="Calibri" pitchFamily="34" charset="-120"/>
              </a:rPr>
              <a:t>생</a:t>
            </a:r>
            <a:r>
              <a:rPr lang="en-US" sz="850" i="1" dirty="0" err="1">
                <a:solidFill>
                  <a:srgbClr val="A8BDD8"/>
                </a:solidFill>
                <a:latin typeface="Calibri" pitchFamily="34" charset="0"/>
                <a:ea typeface="Calibri" pitchFamily="34" charset="-122"/>
                <a:cs typeface="Calibri" pitchFamily="34" charset="-120"/>
              </a:rPr>
              <a:t>성된</a:t>
            </a:r>
            <a:r>
              <a:rPr lang="en-US" sz="850" i="1" dirty="0">
                <a:solidFill>
                  <a:srgbClr val="A8BDD8"/>
                </a:solidFill>
                <a:latin typeface="Calibri" pitchFamily="34" charset="0"/>
                <a:ea typeface="Calibri" pitchFamily="34" charset="-122"/>
                <a:cs typeface="Calibri" pitchFamily="34" charset="-120"/>
              </a:rPr>
              <a:t> 노트 JSON 반환</a:t>
            </a:r>
            <a:endParaRPr lang="en-US" sz="850" dirty="0"/>
          </a:p>
        </p:txBody>
      </p:sp>
      <p:sp>
        <p:nvSpPr>
          <p:cNvPr id="23" name="Text 12">
            <a:extLst>
              <a:ext uri="{FF2B5EF4-FFF2-40B4-BE49-F238E27FC236}">
                <a16:creationId xmlns:a16="http://schemas.microsoft.com/office/drawing/2014/main" id="{2D0F0EA8-3E48-B1EF-5EA9-184CE0903368}"/>
              </a:ext>
            </a:extLst>
          </p:cNvPr>
          <p:cNvSpPr/>
          <p:nvPr/>
        </p:nvSpPr>
        <p:spPr>
          <a:xfrm>
            <a:off x="3009900" y="4717542"/>
            <a:ext cx="8503920" cy="201168"/>
          </a:xfrm>
          <a:prstGeom prst="rect">
            <a:avLst/>
          </a:prstGeom>
          <a:noFill/>
          <a:ln/>
        </p:spPr>
        <p:txBody>
          <a:bodyPr wrap="square" lIns="0" tIns="0" rIns="0" bIns="0" rtlCol="0" anchor="ctr"/>
          <a:lstStyle/>
          <a:p>
            <a:pPr marL="0" indent="0">
              <a:buNone/>
            </a:pPr>
            <a:r>
              <a:rPr lang="ko-KR" altLang="en-US" sz="850" i="1" dirty="0">
                <a:solidFill>
                  <a:srgbClr val="A8BDD8"/>
                </a:solidFill>
                <a:latin typeface="Calibri" pitchFamily="34" charset="0"/>
                <a:ea typeface="Calibri" pitchFamily="34" charset="-122"/>
                <a:cs typeface="Calibri" pitchFamily="34" charset="-120"/>
              </a:rPr>
              <a:t>▶ </a:t>
            </a:r>
            <a:r>
              <a:rPr lang="en-US" altLang="ko-KR" sz="850" i="1" dirty="0">
                <a:solidFill>
                  <a:srgbClr val="A8BDD8"/>
                </a:solidFill>
                <a:latin typeface="Calibri" pitchFamily="34" charset="0"/>
                <a:ea typeface="Calibri" pitchFamily="34" charset="-122"/>
                <a:cs typeface="Calibri" pitchFamily="34" charset="-120"/>
              </a:rPr>
              <a:t>HTML</a:t>
            </a:r>
            <a:r>
              <a:rPr lang="ko-KR" altLang="en-US" sz="850" i="1" dirty="0">
                <a:solidFill>
                  <a:srgbClr val="A8BDD8"/>
                </a:solidFill>
                <a:latin typeface="Calibri" pitchFamily="34" charset="0"/>
                <a:ea typeface="Calibri" pitchFamily="34" charset="-122"/>
                <a:cs typeface="Calibri" pitchFamily="34" charset="-120"/>
              </a:rPr>
              <a:t>로 변환하여 저장 가능</a:t>
            </a:r>
            <a:endParaRPr lang="en-US" sz="850" dirty="0"/>
          </a:p>
        </p:txBody>
      </p:sp>
      <p:sp>
        <p:nvSpPr>
          <p:cNvPr id="6" name="직사각형 5">
            <a:extLst>
              <a:ext uri="{FF2B5EF4-FFF2-40B4-BE49-F238E27FC236}">
                <a16:creationId xmlns:a16="http://schemas.microsoft.com/office/drawing/2014/main" id="{D2B7F47D-ECD4-11AA-7EE1-647E177FB0E0}"/>
              </a:ext>
            </a:extLst>
          </p:cNvPr>
          <p:cNvSpPr/>
          <p:nvPr/>
        </p:nvSpPr>
        <p:spPr>
          <a:xfrm>
            <a:off x="-158" y="0"/>
            <a:ext cx="9144158" cy="5143500"/>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4" name="Image 4" descr="preencoded.png">
            <a:extLst>
              <a:ext uri="{FF2B5EF4-FFF2-40B4-BE49-F238E27FC236}">
                <a16:creationId xmlns:a16="http://schemas.microsoft.com/office/drawing/2014/main" id="{0309C2ED-CC4A-10A6-0363-4DBAA01DDAA3}"/>
              </a:ext>
            </a:extLst>
          </p:cNvPr>
          <p:cNvPicPr>
            <a:picLocks noChangeAspect="1"/>
          </p:cNvPicPr>
          <p:nvPr/>
        </p:nvPicPr>
        <p:blipFill>
          <a:blip r:embed="rId6"/>
          <a:srcRect/>
          <a:stretch/>
        </p:blipFill>
        <p:spPr>
          <a:xfrm>
            <a:off x="274320" y="1799843"/>
            <a:ext cx="8715675" cy="1499471"/>
          </a:xfrm>
          <a:prstGeom prst="rect">
            <a:avLst/>
          </a:prstGeom>
        </p:spPr>
      </p:pic>
      <p:sp>
        <p:nvSpPr>
          <p:cNvPr id="15" name="Shape 8">
            <a:extLst>
              <a:ext uri="{FF2B5EF4-FFF2-40B4-BE49-F238E27FC236}">
                <a16:creationId xmlns:a16="http://schemas.microsoft.com/office/drawing/2014/main" id="{82114073-A066-BF22-175B-FDE7339944E6}"/>
              </a:ext>
            </a:extLst>
          </p:cNvPr>
          <p:cNvSpPr/>
          <p:nvPr/>
        </p:nvSpPr>
        <p:spPr>
          <a:xfrm>
            <a:off x="274320" y="1799844"/>
            <a:ext cx="8715675" cy="1499470"/>
          </a:xfrm>
          <a:prstGeom prst="rect">
            <a:avLst/>
          </a:prstGeom>
          <a:ln w="12700">
            <a:solidFill>
              <a:srgbClr val="4A90D9"/>
            </a:solidFill>
            <a:prstDash val="solid"/>
          </a:ln>
        </p:spPr>
        <p:txBody>
          <a:bodyPr/>
          <a:lstStyle/>
          <a:p>
            <a:endParaRPr lang="ko-KR" altLang="en-US"/>
          </a:p>
        </p:txBody>
      </p:sp>
    </p:spTree>
    <p:extLst>
      <p:ext uri="{BB962C8B-B14F-4D97-AF65-F5344CB8AC3E}">
        <p14:creationId xmlns:p14="http://schemas.microsoft.com/office/powerpoint/2010/main" val="2127843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51E4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p:spPr>
        <p:txBody>
          <a:bodyPr/>
          <a:lstStyle/>
          <a:p>
            <a:endParaRPr lang="ko-KR" altLang="en-US"/>
          </a:p>
        </p:txBody>
      </p:sp>
      <p:sp>
        <p:nvSpPr>
          <p:cNvPr id="3" name="Shape 1"/>
          <p:cNvSpPr/>
          <p:nvPr/>
        </p:nvSpPr>
        <p:spPr>
          <a:xfrm>
            <a:off x="0" y="0"/>
            <a:ext cx="164592" cy="5143500"/>
          </a:xfrm>
          <a:prstGeom prst="rect">
            <a:avLst/>
          </a:prstGeom>
          <a:solidFill>
            <a:srgbClr val="2ECC71"/>
          </a:solidFill>
          <a:ln/>
        </p:spPr>
        <p:txBody>
          <a:bodyPr/>
          <a:lstStyle/>
          <a:p>
            <a:endParaRPr lang="ko-KR" altLang="en-US"/>
          </a:p>
        </p:txBody>
      </p:sp>
      <p:sp>
        <p:nvSpPr>
          <p:cNvPr id="4" name="Text 2"/>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실제 생성된 노트 결과물</a:t>
            </a:r>
            <a:endParaRPr lang="en-US" sz="2400" dirty="0"/>
          </a:p>
        </p:txBody>
      </p:sp>
      <p:sp>
        <p:nvSpPr>
          <p:cNvPr id="5" name="Text 3"/>
          <p:cNvSpPr/>
          <p:nvPr/>
        </p:nvSpPr>
        <p:spPr>
          <a:xfrm>
            <a:off x="365760" y="91440"/>
            <a:ext cx="8412480" cy="548640"/>
          </a:xfrm>
          <a:prstGeom prst="rect">
            <a:avLst/>
          </a:prstGeom>
          <a:noFill/>
          <a:ln/>
        </p:spPr>
        <p:txBody>
          <a:bodyPr wrap="square" lIns="0" tIns="0" rIns="0" bIns="0" rtlCol="0" anchor="ctr"/>
          <a:lstStyle/>
          <a:p>
            <a:pPr marL="0" indent="0" algn="r">
              <a:buNone/>
            </a:pPr>
            <a:r>
              <a:rPr lang="en-US" sz="1300" dirty="0">
                <a:solidFill>
                  <a:srgbClr val="CADCFC"/>
                </a:solidFill>
              </a:rPr>
              <a:t>실제 강의 음성으로 생성한 통합 요약 노트</a:t>
            </a:r>
            <a:endParaRPr lang="en-US" sz="1300" dirty="0"/>
          </a:p>
        </p:txBody>
      </p:sp>
      <p:pic>
        <p:nvPicPr>
          <p:cNvPr id="6" name="Image 0" descr="preencoded.png"/>
          <p:cNvPicPr>
            <a:picLocks noChangeAspect="1"/>
          </p:cNvPicPr>
          <p:nvPr/>
        </p:nvPicPr>
        <p:blipFill>
          <a:blip r:embed="rId3"/>
          <a:srcRect/>
          <a:stretch/>
        </p:blipFill>
        <p:spPr>
          <a:xfrm>
            <a:off x="320040" y="777240"/>
            <a:ext cx="4366260" cy="4160520"/>
          </a:xfrm>
          <a:prstGeom prst="rect">
            <a:avLst/>
          </a:prstGeom>
        </p:spPr>
      </p:pic>
      <p:sp>
        <p:nvSpPr>
          <p:cNvPr id="7" name="Shape 4"/>
          <p:cNvSpPr/>
          <p:nvPr/>
        </p:nvSpPr>
        <p:spPr>
          <a:xfrm>
            <a:off x="320040" y="777240"/>
            <a:ext cx="4366260" cy="4160520"/>
          </a:xfrm>
          <a:prstGeom prst="rect">
            <a:avLst/>
          </a:prstGeom>
          <a:ln w="12700">
            <a:solidFill>
              <a:srgbClr val="2ECC71"/>
            </a:solidFill>
            <a:prstDash val="solid"/>
          </a:ln>
        </p:spPr>
        <p:txBody>
          <a:bodyPr/>
          <a:lstStyle/>
          <a:p>
            <a:endParaRPr lang="ko-KR" altLang="en-US"/>
          </a:p>
        </p:txBody>
      </p:sp>
      <p:sp>
        <p:nvSpPr>
          <p:cNvPr id="8" name="Shape 5"/>
          <p:cNvSpPr/>
          <p:nvPr/>
        </p:nvSpPr>
        <p:spPr>
          <a:xfrm>
            <a:off x="5349240" y="841248"/>
            <a:ext cx="3520440" cy="713232"/>
          </a:xfrm>
          <a:prstGeom prst="rect">
            <a:avLst/>
          </a:prstGeom>
          <a:solidFill>
            <a:srgbClr val="1E3A7A"/>
          </a:solidFill>
          <a:ln w="12700">
            <a:solidFill>
              <a:srgbClr val="CADCFC"/>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9" name="Shape 6"/>
          <p:cNvSpPr/>
          <p:nvPr/>
        </p:nvSpPr>
        <p:spPr>
          <a:xfrm>
            <a:off x="5349240" y="841248"/>
            <a:ext cx="91440" cy="713232"/>
          </a:xfrm>
          <a:prstGeom prst="rect">
            <a:avLst/>
          </a:prstGeom>
          <a:solidFill>
            <a:srgbClr val="CADCFC"/>
          </a:solidFill>
          <a:ln/>
        </p:spPr>
        <p:txBody>
          <a:bodyPr/>
          <a:lstStyle/>
          <a:p>
            <a:endParaRPr lang="ko-KR" altLang="en-US"/>
          </a:p>
        </p:txBody>
      </p:sp>
      <p:sp>
        <p:nvSpPr>
          <p:cNvPr id="10" name="Text 7"/>
          <p:cNvSpPr/>
          <p:nvPr/>
        </p:nvSpPr>
        <p:spPr>
          <a:xfrm>
            <a:off x="5532120" y="896112"/>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Overview</a:t>
            </a:r>
            <a:endParaRPr lang="en-US" sz="1200" dirty="0"/>
          </a:p>
        </p:txBody>
      </p:sp>
      <p:sp>
        <p:nvSpPr>
          <p:cNvPr id="11" name="Text 8"/>
          <p:cNvSpPr/>
          <p:nvPr/>
        </p:nvSpPr>
        <p:spPr>
          <a:xfrm>
            <a:off x="5532120" y="1188720"/>
            <a:ext cx="3246120" cy="320040"/>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이 수업이 전체 커리큘럼에서 갖는 위치와 의의</a:t>
            </a:r>
            <a:endParaRPr lang="en-US" sz="1000" dirty="0"/>
          </a:p>
        </p:txBody>
      </p:sp>
      <p:sp>
        <p:nvSpPr>
          <p:cNvPr id="12" name="Shape 9"/>
          <p:cNvSpPr/>
          <p:nvPr/>
        </p:nvSpPr>
        <p:spPr>
          <a:xfrm>
            <a:off x="5349240" y="1636776"/>
            <a:ext cx="3520440" cy="713232"/>
          </a:xfrm>
          <a:prstGeom prst="rect">
            <a:avLst/>
          </a:prstGeom>
          <a:solidFill>
            <a:srgbClr val="1E3A7A"/>
          </a:solidFill>
          <a:ln w="12700">
            <a:solidFill>
              <a:srgbClr val="CADCFC"/>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13" name="Shape 10"/>
          <p:cNvSpPr/>
          <p:nvPr/>
        </p:nvSpPr>
        <p:spPr>
          <a:xfrm>
            <a:off x="5349240" y="1636776"/>
            <a:ext cx="91440" cy="713232"/>
          </a:xfrm>
          <a:prstGeom prst="rect">
            <a:avLst/>
          </a:prstGeom>
          <a:solidFill>
            <a:srgbClr val="CADCFC"/>
          </a:solidFill>
          <a:ln/>
        </p:spPr>
        <p:txBody>
          <a:bodyPr/>
          <a:lstStyle/>
          <a:p>
            <a:endParaRPr lang="ko-KR" altLang="en-US"/>
          </a:p>
        </p:txBody>
      </p:sp>
      <p:sp>
        <p:nvSpPr>
          <p:cNvPr id="14" name="Text 11"/>
          <p:cNvSpPr/>
          <p:nvPr/>
        </p:nvSpPr>
        <p:spPr>
          <a:xfrm>
            <a:off x="5532120" y="1691640"/>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통합 노트</a:t>
            </a:r>
            <a:endParaRPr lang="en-US" sz="1200" dirty="0"/>
          </a:p>
        </p:txBody>
      </p:sp>
      <p:sp>
        <p:nvSpPr>
          <p:cNvPr id="15" name="Text 12"/>
          <p:cNvSpPr/>
          <p:nvPr/>
        </p:nvSpPr>
        <p:spPr>
          <a:xfrm>
            <a:off x="5532120" y="1984248"/>
            <a:ext cx="3246120" cy="320040"/>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핵심 개념 설명 + 중요도 별점 (★★★★★~★)</a:t>
            </a:r>
            <a:endParaRPr lang="en-US" sz="1000" dirty="0"/>
          </a:p>
        </p:txBody>
      </p:sp>
      <p:sp>
        <p:nvSpPr>
          <p:cNvPr id="16" name="Shape 13"/>
          <p:cNvSpPr/>
          <p:nvPr/>
        </p:nvSpPr>
        <p:spPr>
          <a:xfrm>
            <a:off x="5349240" y="2432304"/>
            <a:ext cx="3520440" cy="713232"/>
          </a:xfrm>
          <a:prstGeom prst="rect">
            <a:avLst/>
          </a:prstGeom>
          <a:solidFill>
            <a:srgbClr val="1E3A7A"/>
          </a:solidFill>
          <a:ln w="12700">
            <a:solidFill>
              <a:srgbClr val="F39C12"/>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17" name="Shape 14"/>
          <p:cNvSpPr/>
          <p:nvPr/>
        </p:nvSpPr>
        <p:spPr>
          <a:xfrm>
            <a:off x="5349240" y="2432304"/>
            <a:ext cx="91440" cy="713232"/>
          </a:xfrm>
          <a:prstGeom prst="rect">
            <a:avLst/>
          </a:prstGeom>
          <a:solidFill>
            <a:srgbClr val="F39C12"/>
          </a:solidFill>
          <a:ln/>
        </p:spPr>
        <p:txBody>
          <a:bodyPr/>
          <a:lstStyle/>
          <a:p>
            <a:endParaRPr lang="ko-KR" altLang="en-US"/>
          </a:p>
        </p:txBody>
      </p:sp>
      <p:sp>
        <p:nvSpPr>
          <p:cNvPr id="18" name="Text 15"/>
          <p:cNvSpPr/>
          <p:nvPr/>
        </p:nvSpPr>
        <p:spPr>
          <a:xfrm>
            <a:off x="5532120" y="2487168"/>
            <a:ext cx="3246120" cy="274320"/>
          </a:xfrm>
          <a:prstGeom prst="rect">
            <a:avLst/>
          </a:prstGeom>
          <a:noFill/>
          <a:ln/>
        </p:spPr>
        <p:txBody>
          <a:bodyPr wrap="square" lIns="0" tIns="0" rIns="0" bIns="0" rtlCol="0" anchor="ctr"/>
          <a:lstStyle/>
          <a:p>
            <a:pPr marL="0" indent="0">
              <a:buNone/>
            </a:pPr>
            <a:r>
              <a:rPr lang="en-US" sz="1200" b="1" dirty="0">
                <a:solidFill>
                  <a:srgbClr val="F39C12"/>
                </a:solidFill>
                <a:latin typeface="Calibri" pitchFamily="34" charset="0"/>
                <a:ea typeface="Calibri" pitchFamily="34" charset="-122"/>
                <a:cs typeface="Calibri" pitchFamily="34" charset="-120"/>
              </a:rPr>
              <a:t>교수님 힌트</a:t>
            </a:r>
            <a:endParaRPr lang="en-US" sz="1200" dirty="0"/>
          </a:p>
        </p:txBody>
      </p:sp>
      <p:sp>
        <p:nvSpPr>
          <p:cNvPr id="19" name="Text 16"/>
          <p:cNvSpPr/>
          <p:nvPr/>
        </p:nvSpPr>
        <p:spPr>
          <a:xfrm>
            <a:off x="5532120" y="2779776"/>
            <a:ext cx="3246120" cy="320040"/>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시험 출제 가능성 높은 포인트, 강의 중 강조</a:t>
            </a:r>
            <a:endParaRPr lang="en-US" sz="1000" dirty="0"/>
          </a:p>
        </p:txBody>
      </p:sp>
      <p:sp>
        <p:nvSpPr>
          <p:cNvPr id="20" name="Shape 17"/>
          <p:cNvSpPr/>
          <p:nvPr/>
        </p:nvSpPr>
        <p:spPr>
          <a:xfrm>
            <a:off x="5349240" y="3227832"/>
            <a:ext cx="3520440" cy="713232"/>
          </a:xfrm>
          <a:prstGeom prst="rect">
            <a:avLst/>
          </a:prstGeom>
          <a:solidFill>
            <a:srgbClr val="1E3A7A"/>
          </a:solidFill>
          <a:ln w="12700">
            <a:solidFill>
              <a:srgbClr val="2ECC71"/>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1" name="Shape 18"/>
          <p:cNvSpPr/>
          <p:nvPr/>
        </p:nvSpPr>
        <p:spPr>
          <a:xfrm>
            <a:off x="5349240" y="3227832"/>
            <a:ext cx="91440" cy="713232"/>
          </a:xfrm>
          <a:prstGeom prst="rect">
            <a:avLst/>
          </a:prstGeom>
          <a:solidFill>
            <a:srgbClr val="2ECC71"/>
          </a:solidFill>
          <a:ln/>
        </p:spPr>
        <p:txBody>
          <a:bodyPr/>
          <a:lstStyle/>
          <a:p>
            <a:endParaRPr lang="ko-KR" altLang="en-US"/>
          </a:p>
        </p:txBody>
      </p:sp>
      <p:sp>
        <p:nvSpPr>
          <p:cNvPr id="22" name="Text 19"/>
          <p:cNvSpPr/>
          <p:nvPr/>
        </p:nvSpPr>
        <p:spPr>
          <a:xfrm>
            <a:off x="5532120" y="3282696"/>
            <a:ext cx="3246120" cy="274320"/>
          </a:xfrm>
          <a:prstGeom prst="rect">
            <a:avLst/>
          </a:prstGeom>
          <a:noFill/>
          <a:ln/>
        </p:spPr>
        <p:txBody>
          <a:bodyPr wrap="square" lIns="0" tIns="0" rIns="0" bIns="0" rtlCol="0" anchor="ctr"/>
          <a:lstStyle/>
          <a:p>
            <a:pPr marL="0" indent="0">
              <a:buNone/>
            </a:pPr>
            <a:r>
              <a:rPr lang="en-US" sz="1200" b="1" dirty="0">
                <a:solidFill>
                  <a:srgbClr val="2ECC71"/>
                </a:solidFill>
                <a:latin typeface="Calibri" pitchFamily="34" charset="0"/>
                <a:ea typeface="Calibri" pitchFamily="34" charset="-122"/>
                <a:cs typeface="Calibri" pitchFamily="34" charset="-120"/>
              </a:rPr>
              <a:t>핵심 암기 목록</a:t>
            </a:r>
            <a:endParaRPr lang="en-US" sz="1200" dirty="0"/>
          </a:p>
        </p:txBody>
      </p:sp>
      <p:sp>
        <p:nvSpPr>
          <p:cNvPr id="23" name="Text 20"/>
          <p:cNvSpPr/>
          <p:nvPr/>
        </p:nvSpPr>
        <p:spPr>
          <a:xfrm>
            <a:off x="5532120" y="3575304"/>
            <a:ext cx="3246120" cy="320040"/>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정의, 공식, 인명, 용어 압축 정리</a:t>
            </a:r>
            <a:endParaRPr lang="en-US" sz="1000" dirty="0"/>
          </a:p>
        </p:txBody>
      </p:sp>
      <p:sp>
        <p:nvSpPr>
          <p:cNvPr id="24" name="Shape 21"/>
          <p:cNvSpPr/>
          <p:nvPr/>
        </p:nvSpPr>
        <p:spPr>
          <a:xfrm>
            <a:off x="5349240" y="4023360"/>
            <a:ext cx="3520440" cy="713232"/>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5" name="Shape 22"/>
          <p:cNvSpPr/>
          <p:nvPr/>
        </p:nvSpPr>
        <p:spPr>
          <a:xfrm>
            <a:off x="5349240" y="4023360"/>
            <a:ext cx="91440" cy="713232"/>
          </a:xfrm>
          <a:prstGeom prst="rect">
            <a:avLst/>
          </a:prstGeom>
          <a:solidFill>
            <a:srgbClr val="4A90D9"/>
          </a:solidFill>
          <a:ln/>
        </p:spPr>
        <p:txBody>
          <a:bodyPr/>
          <a:lstStyle/>
          <a:p>
            <a:endParaRPr lang="ko-KR" altLang="en-US"/>
          </a:p>
        </p:txBody>
      </p:sp>
      <p:sp>
        <p:nvSpPr>
          <p:cNvPr id="26" name="Text 23"/>
          <p:cNvSpPr/>
          <p:nvPr/>
        </p:nvSpPr>
        <p:spPr>
          <a:xfrm>
            <a:off x="5532120" y="4078224"/>
            <a:ext cx="3246120" cy="274320"/>
          </a:xfrm>
          <a:prstGeom prst="rect">
            <a:avLst/>
          </a:prstGeom>
          <a:noFill/>
          <a:ln/>
        </p:spPr>
        <p:txBody>
          <a:bodyPr wrap="square" lIns="0" tIns="0" rIns="0" bIns="0" rtlCol="0" anchor="ctr"/>
          <a:lstStyle/>
          <a:p>
            <a:pPr marL="0" indent="0">
              <a:buNone/>
            </a:pPr>
            <a:r>
              <a:rPr lang="en-US" sz="1200" b="1" dirty="0">
                <a:solidFill>
                  <a:srgbClr val="4A90D9"/>
                </a:solidFill>
                <a:latin typeface="Calibri" pitchFamily="34" charset="0"/>
                <a:ea typeface="Calibri" pitchFamily="34" charset="-122"/>
                <a:cs typeface="Calibri" pitchFamily="34" charset="-120"/>
              </a:rPr>
              <a:t>셀프 시험</a:t>
            </a:r>
            <a:endParaRPr lang="en-US" sz="1200" dirty="0"/>
          </a:p>
        </p:txBody>
      </p:sp>
      <p:sp>
        <p:nvSpPr>
          <p:cNvPr id="27" name="Text 24"/>
          <p:cNvSpPr/>
          <p:nvPr/>
        </p:nvSpPr>
        <p:spPr>
          <a:xfrm>
            <a:off x="5532120" y="4370832"/>
            <a:ext cx="3246120" cy="320040"/>
          </a:xfrm>
          <a:prstGeom prst="rect">
            <a:avLst/>
          </a:prstGeom>
          <a:noFill/>
          <a:ln/>
        </p:spPr>
        <p:txBody>
          <a:bodyPr wrap="square" lIns="0" tIns="0" rIns="0" bIns="0" rtlCol="0" anchor="ctr"/>
          <a:lstStyle/>
          <a:p>
            <a:pPr marL="0" indent="0">
              <a:buNone/>
            </a:pPr>
            <a:r>
              <a:rPr lang="en-US" sz="1000" dirty="0">
                <a:solidFill>
                  <a:srgbClr val="A8BDD8"/>
                </a:solidFill>
                <a:latin typeface="Calibri" pitchFamily="34" charset="0"/>
                <a:ea typeface="Calibri" pitchFamily="34" charset="-122"/>
                <a:cs typeface="Calibri" pitchFamily="34" charset="-120"/>
              </a:rPr>
              <a:t>논술형 2문제 + 객관식 3문제 + 해설</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51E4F"/>
          </a:solidFill>
          <a:ln/>
        </p:spPr>
        <p:txBody>
          <a:bodyPr/>
          <a:lstStyle/>
          <a:p>
            <a:endParaRPr lang="ko-KR" altLang="en-US"/>
          </a:p>
        </p:txBody>
      </p:sp>
      <p:sp>
        <p:nvSpPr>
          <p:cNvPr id="3" name="Shape 1"/>
          <p:cNvSpPr/>
          <p:nvPr/>
        </p:nvSpPr>
        <p:spPr>
          <a:xfrm>
            <a:off x="0" y="0"/>
            <a:ext cx="164592" cy="5143500"/>
          </a:xfrm>
          <a:prstGeom prst="rect">
            <a:avLst/>
          </a:prstGeom>
          <a:solidFill>
            <a:srgbClr val="F39C12"/>
          </a:solidFill>
          <a:ln/>
        </p:spPr>
        <p:txBody>
          <a:bodyPr/>
          <a:lstStyle/>
          <a:p>
            <a:endParaRPr lang="ko-KR" altLang="en-US"/>
          </a:p>
        </p:txBody>
      </p:sp>
      <p:sp>
        <p:nvSpPr>
          <p:cNvPr id="4" name="Text 2"/>
          <p:cNvSpPr/>
          <p:nvPr/>
        </p:nvSpPr>
        <p:spPr>
          <a:xfrm>
            <a:off x="365760" y="73152"/>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STT 전략 변경: CLOVA → Gemini</a:t>
            </a:r>
            <a:endParaRPr lang="en-US" sz="2400" dirty="0"/>
          </a:p>
        </p:txBody>
      </p:sp>
      <p:sp>
        <p:nvSpPr>
          <p:cNvPr id="5" name="Text 3"/>
          <p:cNvSpPr/>
          <p:nvPr/>
        </p:nvSpPr>
        <p:spPr>
          <a:xfrm>
            <a:off x="365760" y="91440"/>
            <a:ext cx="8412480" cy="548640"/>
          </a:xfrm>
          <a:prstGeom prst="rect">
            <a:avLst/>
          </a:prstGeom>
          <a:noFill/>
          <a:ln/>
        </p:spPr>
        <p:txBody>
          <a:bodyPr wrap="square" lIns="0" tIns="0" rIns="0" bIns="0" rtlCol="0" anchor="ctr"/>
          <a:lstStyle/>
          <a:p>
            <a:pPr marL="0" indent="0" algn="r">
              <a:buNone/>
            </a:pPr>
            <a:r>
              <a:rPr lang="en-US" sz="1300" dirty="0">
                <a:solidFill>
                  <a:srgbClr val="F39C12"/>
                </a:solidFill>
              </a:rPr>
              <a:t>2차 발표 이후 변경된 핵심 설계 결정</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777240"/>
          <a:ext cx="8503920" cy="1463040"/>
        </p:xfrm>
        <a:graphic>
          <a:graphicData uri="http://schemas.openxmlformats.org/drawingml/2006/table">
            <a:tbl>
              <a:tblPr/>
              <a:tblGrid>
                <a:gridCol w="20116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29260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항목</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24306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2차 발표 계획 (BEFORE)</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5A202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3차 발표 현재 (AFTER)</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2ECC71"/>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STT 엔진</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CLOVA Speech API</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Gemini 멀티모달</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1"/>
                  </a:ext>
                </a:extLst>
              </a:tr>
              <a:tr h="29260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STT 비용</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분당 ₩20 (역마진 원인)</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LLM과 통합 과금</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2"/>
                  </a:ext>
                </a:extLst>
              </a:tr>
              <a:tr h="29260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외부 의존성</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CLOVA + Gemini (2개 API)</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Gemini 1개</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3"/>
                  </a:ext>
                </a:extLst>
              </a:tr>
              <a:tr h="29260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한국어 정확도</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90%+ (CLOVA 강점)</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Gemini 2.5-flash 수준</a:t>
                      </a:r>
                      <a:endParaRPr lang="en-US" sz="1100" dirty="0">
                        <a:latin typeface="Calibri" charset="0"/>
                        <a:ea typeface="Calibri" charset="0"/>
                        <a:cs typeface="Calibri" charset="0"/>
                      </a:endParaRPr>
                    </a:p>
                  </a:txBody>
                  <a:tcPr>
                    <a:lnL w="6350" cap="flat" cmpd="sng" algn="ctr">
                      <a:solidFill>
                        <a:srgbClr val="2A3A70"/>
                      </a:solidFill>
                      <a:prstDash val="solid"/>
                      <a:round/>
                      <a:headEnd type="none" w="med" len="med"/>
                      <a:tailEnd type="none" w="med" len="med"/>
                    </a:lnL>
                    <a:lnR w="6350" cap="flat" cmpd="sng" algn="ctr">
                      <a:solidFill>
                        <a:srgbClr val="2A3A70"/>
                      </a:solidFill>
                      <a:prstDash val="solid"/>
                      <a:round/>
                      <a:headEnd type="none" w="med" len="med"/>
                      <a:tailEnd type="none" w="med" len="med"/>
                    </a:lnR>
                    <a:lnT w="6350" cap="flat" cmpd="sng" algn="ctr">
                      <a:solidFill>
                        <a:srgbClr val="2A3A70"/>
                      </a:solidFill>
                      <a:prstDash val="solid"/>
                      <a:round/>
                      <a:headEnd type="none" w="med" len="med"/>
                      <a:tailEnd type="none" w="med" len="med"/>
                    </a:lnT>
                    <a:lnB w="6350" cap="flat" cmpd="sng" algn="ctr">
                      <a:solidFill>
                        <a:srgbClr val="2A3A70"/>
                      </a:solidFill>
                      <a:prstDash val="solid"/>
                      <a:round/>
                      <a:headEnd type="none" w="med" len="med"/>
                      <a:tailEnd type="none" w="med" len="med"/>
                    </a:lnB>
                    <a:solidFill>
                      <a:srgbClr val="1E3A7A"/>
                    </a:solidFill>
                  </a:tcPr>
                </a:tc>
                <a:extLst>
                  <a:ext uri="{0D108BD9-81ED-4DB2-BD59-A6C34878D82A}">
                    <a16:rowId xmlns:a16="http://schemas.microsoft.com/office/drawing/2014/main" val="10004"/>
                  </a:ext>
                </a:extLst>
              </a:tr>
            </a:tbl>
          </a:graphicData>
        </a:graphic>
      </p:graphicFrame>
      <p:sp>
        <p:nvSpPr>
          <p:cNvPr id="7" name="Text 4"/>
          <p:cNvSpPr/>
          <p:nvPr/>
        </p:nvSpPr>
        <p:spPr>
          <a:xfrm>
            <a:off x="320040" y="2331720"/>
            <a:ext cx="1828800" cy="347472"/>
          </a:xfrm>
          <a:prstGeom prst="rect">
            <a:avLst/>
          </a:prstGeom>
          <a:noFill/>
          <a:ln/>
        </p:spPr>
        <p:txBody>
          <a:bodyPr wrap="square" lIns="0" tIns="0" rIns="0" bIns="0" rtlCol="0" anchor="ctr"/>
          <a:lstStyle/>
          <a:p>
            <a:pPr marL="0" indent="0">
              <a:buNone/>
            </a:pPr>
            <a:r>
              <a:rPr lang="en-US" sz="1400" b="1" dirty="0">
                <a:solidFill>
                  <a:srgbClr val="CADCFC"/>
                </a:solidFill>
              </a:rPr>
              <a:t>변경 이유</a:t>
            </a:r>
            <a:endParaRPr lang="en-US" sz="1400" dirty="0"/>
          </a:p>
        </p:txBody>
      </p:sp>
      <p:sp>
        <p:nvSpPr>
          <p:cNvPr id="8" name="Shape 5"/>
          <p:cNvSpPr/>
          <p:nvPr/>
        </p:nvSpPr>
        <p:spPr>
          <a:xfrm>
            <a:off x="320040" y="2743200"/>
            <a:ext cx="2697480" cy="2103120"/>
          </a:xfrm>
          <a:prstGeom prst="rect">
            <a:avLst/>
          </a:prstGeom>
          <a:solidFill>
            <a:srgbClr val="1E3A7A"/>
          </a:solidFill>
          <a:ln w="12700">
            <a:solidFill>
              <a:srgbClr val="F39C12"/>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9" name="Shape 6"/>
          <p:cNvSpPr/>
          <p:nvPr/>
        </p:nvSpPr>
        <p:spPr>
          <a:xfrm>
            <a:off x="411480" y="2852928"/>
            <a:ext cx="384048" cy="384048"/>
          </a:xfrm>
          <a:prstGeom prst="ellipse">
            <a:avLst/>
          </a:prstGeom>
          <a:solidFill>
            <a:srgbClr val="F39C12"/>
          </a:solidFill>
          <a:ln/>
        </p:spPr>
        <p:txBody>
          <a:bodyPr/>
          <a:lstStyle/>
          <a:p>
            <a:endParaRPr lang="ko-KR" altLang="en-US"/>
          </a:p>
        </p:txBody>
      </p:sp>
      <p:sp>
        <p:nvSpPr>
          <p:cNvPr id="6" name="Text 7"/>
          <p:cNvSpPr/>
          <p:nvPr/>
        </p:nvSpPr>
        <p:spPr>
          <a:xfrm>
            <a:off x="411480" y="28529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1" name="Text 8"/>
          <p:cNvSpPr/>
          <p:nvPr/>
        </p:nvSpPr>
        <p:spPr>
          <a:xfrm>
            <a:off x="886968" y="2871216"/>
            <a:ext cx="2011680" cy="347472"/>
          </a:xfrm>
          <a:prstGeom prst="rect">
            <a:avLst/>
          </a:prstGeom>
          <a:noFill/>
          <a:ln/>
        </p:spPr>
        <p:txBody>
          <a:bodyPr wrap="square" lIns="0" tIns="0" rIns="0" bIns="0" rtlCol="0" anchor="ctr"/>
          <a:lstStyle/>
          <a:p>
            <a:pPr marL="0" indent="0">
              <a:buNone/>
            </a:pPr>
            <a:r>
              <a:rPr lang="en-US" sz="1200" b="1" dirty="0">
                <a:solidFill>
                  <a:srgbClr val="FFFFFF"/>
                </a:solidFill>
              </a:rPr>
              <a:t>비용 합리성</a:t>
            </a:r>
            <a:endParaRPr lang="en-US" sz="1200" dirty="0"/>
          </a:p>
        </p:txBody>
      </p:sp>
      <p:sp>
        <p:nvSpPr>
          <p:cNvPr id="12" name="Text 9"/>
          <p:cNvSpPr/>
          <p:nvPr/>
        </p:nvSpPr>
        <p:spPr>
          <a:xfrm>
            <a:off x="457200" y="3337560"/>
            <a:ext cx="2423160" cy="594360"/>
          </a:xfrm>
          <a:prstGeom prst="rect">
            <a:avLst/>
          </a:prstGeom>
          <a:noFill/>
          <a:ln/>
        </p:spPr>
        <p:txBody>
          <a:bodyPr wrap="square" lIns="0" tIns="0" rIns="0" bIns="0" rtlCol="0" anchor="ctr"/>
          <a:lstStyle/>
          <a:p>
            <a:pPr marL="342900" indent="-342900">
              <a:buSzPct val="100000"/>
              <a:buChar char="•"/>
            </a:pPr>
            <a:r>
              <a:rPr lang="en-US" sz="1000" dirty="0">
                <a:solidFill>
                  <a:srgbClr val="A8BDD8"/>
                </a:solidFill>
                <a:latin typeface="Calibri" pitchFamily="34" charset="0"/>
                <a:ea typeface="Calibri" pitchFamily="34" charset="-122"/>
                <a:cs typeface="Calibri" pitchFamily="34" charset="-120"/>
              </a:rPr>
              <a:t>CLOVA 무료 티어 소진 → 개발 중 실제 서비스 중단 발생</a:t>
            </a:r>
            <a:endParaRPr lang="en-US" sz="1000" dirty="0"/>
          </a:p>
        </p:txBody>
      </p:sp>
      <p:sp>
        <p:nvSpPr>
          <p:cNvPr id="13" name="Text 10"/>
          <p:cNvSpPr/>
          <p:nvPr/>
        </p:nvSpPr>
        <p:spPr>
          <a:xfrm>
            <a:off x="457200" y="3995928"/>
            <a:ext cx="2423160" cy="594360"/>
          </a:xfrm>
          <a:prstGeom prst="rect">
            <a:avLst/>
          </a:prstGeom>
          <a:noFill/>
          <a:ln/>
        </p:spPr>
        <p:txBody>
          <a:bodyPr wrap="square" lIns="0" tIns="0" rIns="0" bIns="0" rtlCol="0" anchor="ctr"/>
          <a:lstStyle/>
          <a:p>
            <a:pPr marL="342900" indent="-342900">
              <a:buSzPct val="100000"/>
              <a:buChar char="•"/>
            </a:pPr>
            <a:r>
              <a:rPr lang="en-US" sz="1000" dirty="0">
                <a:solidFill>
                  <a:srgbClr val="A8BDD8"/>
                </a:solidFill>
                <a:latin typeface="Calibri" pitchFamily="34" charset="0"/>
                <a:ea typeface="Calibri" pitchFamily="34" charset="-122"/>
                <a:cs typeface="Calibri" pitchFamily="34" charset="-120"/>
              </a:rPr>
              <a:t>Gemini는 LLM과 동일 API 키, STT 별도 비용 구조 제거</a:t>
            </a:r>
            <a:endParaRPr lang="en-US" sz="1000" dirty="0"/>
          </a:p>
        </p:txBody>
      </p:sp>
      <p:sp>
        <p:nvSpPr>
          <p:cNvPr id="14" name="Shape 11"/>
          <p:cNvSpPr/>
          <p:nvPr/>
        </p:nvSpPr>
        <p:spPr>
          <a:xfrm>
            <a:off x="3108960" y="2743200"/>
            <a:ext cx="2697480" cy="2103120"/>
          </a:xfrm>
          <a:prstGeom prst="rect">
            <a:avLst/>
          </a:prstGeom>
          <a:solidFill>
            <a:srgbClr val="1E3A7A"/>
          </a:solidFill>
          <a:ln w="12700">
            <a:solidFill>
              <a:srgbClr val="F39C12"/>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15" name="Shape 12"/>
          <p:cNvSpPr/>
          <p:nvPr/>
        </p:nvSpPr>
        <p:spPr>
          <a:xfrm>
            <a:off x="3200400" y="2852928"/>
            <a:ext cx="384048" cy="384048"/>
          </a:xfrm>
          <a:prstGeom prst="ellipse">
            <a:avLst/>
          </a:prstGeom>
          <a:solidFill>
            <a:srgbClr val="F39C12"/>
          </a:solidFill>
          <a:ln/>
        </p:spPr>
        <p:txBody>
          <a:bodyPr/>
          <a:lstStyle/>
          <a:p>
            <a:endParaRPr lang="ko-KR" altLang="en-US"/>
          </a:p>
        </p:txBody>
      </p:sp>
      <p:sp>
        <p:nvSpPr>
          <p:cNvPr id="16" name="Text 13"/>
          <p:cNvSpPr/>
          <p:nvPr/>
        </p:nvSpPr>
        <p:spPr>
          <a:xfrm>
            <a:off x="3200400" y="28529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7" name="Text 14"/>
          <p:cNvSpPr/>
          <p:nvPr/>
        </p:nvSpPr>
        <p:spPr>
          <a:xfrm>
            <a:off x="3675888" y="2871216"/>
            <a:ext cx="2011680" cy="347472"/>
          </a:xfrm>
          <a:prstGeom prst="rect">
            <a:avLst/>
          </a:prstGeom>
          <a:noFill/>
          <a:ln/>
        </p:spPr>
        <p:txBody>
          <a:bodyPr wrap="square" lIns="0" tIns="0" rIns="0" bIns="0" rtlCol="0" anchor="ctr"/>
          <a:lstStyle/>
          <a:p>
            <a:pPr marL="0" indent="0">
              <a:buNone/>
            </a:pPr>
            <a:r>
              <a:rPr lang="en-US" sz="1200" b="1" dirty="0">
                <a:solidFill>
                  <a:srgbClr val="FFFFFF"/>
                </a:solidFill>
              </a:rPr>
              <a:t>아키텍처 단순화</a:t>
            </a:r>
            <a:endParaRPr lang="en-US" sz="1200" dirty="0"/>
          </a:p>
        </p:txBody>
      </p:sp>
      <p:sp>
        <p:nvSpPr>
          <p:cNvPr id="18" name="Text 15"/>
          <p:cNvSpPr/>
          <p:nvPr/>
        </p:nvSpPr>
        <p:spPr>
          <a:xfrm>
            <a:off x="3246120" y="3337560"/>
            <a:ext cx="2423160" cy="594360"/>
          </a:xfrm>
          <a:prstGeom prst="rect">
            <a:avLst/>
          </a:prstGeom>
          <a:noFill/>
          <a:ln/>
        </p:spPr>
        <p:txBody>
          <a:bodyPr wrap="square" lIns="0" tIns="0" rIns="0" bIns="0" rtlCol="0" anchor="ctr"/>
          <a:lstStyle/>
          <a:p>
            <a:pPr marL="342900" indent="-342900">
              <a:buSzPct val="100000"/>
              <a:buChar char="•"/>
            </a:pPr>
            <a:r>
              <a:rPr lang="en-US" sz="1000" dirty="0">
                <a:solidFill>
                  <a:srgbClr val="A8BDD8"/>
                </a:solidFill>
                <a:latin typeface="Calibri" pitchFamily="34" charset="0"/>
                <a:ea typeface="Calibri" pitchFamily="34" charset="-122"/>
                <a:cs typeface="Calibri" pitchFamily="34" charset="-120"/>
              </a:rPr>
              <a:t>외부 STT API 제거 → 장애 지점 감소, 유지보수 단순화</a:t>
            </a:r>
            <a:endParaRPr lang="en-US" sz="1000" dirty="0"/>
          </a:p>
        </p:txBody>
      </p:sp>
      <p:sp>
        <p:nvSpPr>
          <p:cNvPr id="19" name="Text 16"/>
          <p:cNvSpPr/>
          <p:nvPr/>
        </p:nvSpPr>
        <p:spPr>
          <a:xfrm>
            <a:off x="3246120" y="3995928"/>
            <a:ext cx="2423160" cy="594360"/>
          </a:xfrm>
          <a:prstGeom prst="rect">
            <a:avLst/>
          </a:prstGeom>
          <a:noFill/>
          <a:ln/>
        </p:spPr>
        <p:txBody>
          <a:bodyPr wrap="square" lIns="0" tIns="0" rIns="0" bIns="0" rtlCol="0" anchor="ctr"/>
          <a:lstStyle/>
          <a:p>
            <a:pPr marL="342900" indent="-342900">
              <a:buSzPct val="100000"/>
              <a:buChar char="•"/>
            </a:pPr>
            <a:r>
              <a:rPr lang="en-US" sz="1000" dirty="0">
                <a:solidFill>
                  <a:srgbClr val="A8BDD8"/>
                </a:solidFill>
                <a:latin typeface="Calibri" pitchFamily="34" charset="0"/>
                <a:ea typeface="Calibri" pitchFamily="34" charset="-122"/>
                <a:cs typeface="Calibri" pitchFamily="34" charset="-120"/>
              </a:rPr>
              <a:t>음성 파일을 직접 Gemini에 전달 (멀티모달) → 변환 단계 없음</a:t>
            </a:r>
            <a:endParaRPr lang="en-US" sz="1000" dirty="0"/>
          </a:p>
        </p:txBody>
      </p:sp>
      <p:sp>
        <p:nvSpPr>
          <p:cNvPr id="20" name="Shape 17"/>
          <p:cNvSpPr/>
          <p:nvPr/>
        </p:nvSpPr>
        <p:spPr>
          <a:xfrm>
            <a:off x="5897880" y="2743200"/>
            <a:ext cx="2697480" cy="2103120"/>
          </a:xfrm>
          <a:prstGeom prst="rect">
            <a:avLst/>
          </a:prstGeom>
          <a:solidFill>
            <a:srgbClr val="1E3A7A"/>
          </a:solidFill>
          <a:ln w="12700">
            <a:solidFill>
              <a:srgbClr val="F39C12"/>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1" name="Shape 18"/>
          <p:cNvSpPr/>
          <p:nvPr/>
        </p:nvSpPr>
        <p:spPr>
          <a:xfrm>
            <a:off x="5989320" y="2852928"/>
            <a:ext cx="384048" cy="384048"/>
          </a:xfrm>
          <a:prstGeom prst="ellipse">
            <a:avLst/>
          </a:prstGeom>
          <a:solidFill>
            <a:srgbClr val="F39C12"/>
          </a:solidFill>
          <a:ln/>
        </p:spPr>
        <p:txBody>
          <a:bodyPr/>
          <a:lstStyle/>
          <a:p>
            <a:endParaRPr lang="ko-KR" altLang="en-US"/>
          </a:p>
        </p:txBody>
      </p:sp>
      <p:sp>
        <p:nvSpPr>
          <p:cNvPr id="22" name="Text 19"/>
          <p:cNvSpPr/>
          <p:nvPr/>
        </p:nvSpPr>
        <p:spPr>
          <a:xfrm>
            <a:off x="5989320" y="28529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3" name="Text 20"/>
          <p:cNvSpPr/>
          <p:nvPr/>
        </p:nvSpPr>
        <p:spPr>
          <a:xfrm>
            <a:off x="6464808" y="2871216"/>
            <a:ext cx="2011680" cy="347472"/>
          </a:xfrm>
          <a:prstGeom prst="rect">
            <a:avLst/>
          </a:prstGeom>
          <a:noFill/>
          <a:ln/>
        </p:spPr>
        <p:txBody>
          <a:bodyPr wrap="square" lIns="0" tIns="0" rIns="0" bIns="0" rtlCol="0" anchor="ctr"/>
          <a:lstStyle/>
          <a:p>
            <a:pPr marL="0" indent="0">
              <a:buNone/>
            </a:pPr>
            <a:r>
              <a:rPr lang="en-US" sz="1200" b="1" dirty="0">
                <a:solidFill>
                  <a:srgbClr val="FFFFFF"/>
                </a:solidFill>
              </a:rPr>
              <a:t>향후 오픈소스 전환 준비</a:t>
            </a:r>
            <a:endParaRPr lang="en-US" sz="1200" dirty="0"/>
          </a:p>
        </p:txBody>
      </p:sp>
      <p:sp>
        <p:nvSpPr>
          <p:cNvPr id="24" name="Text 21"/>
          <p:cNvSpPr/>
          <p:nvPr/>
        </p:nvSpPr>
        <p:spPr>
          <a:xfrm>
            <a:off x="6035040" y="3337560"/>
            <a:ext cx="2423160" cy="594360"/>
          </a:xfrm>
          <a:prstGeom prst="rect">
            <a:avLst/>
          </a:prstGeom>
          <a:noFill/>
          <a:ln/>
        </p:spPr>
        <p:txBody>
          <a:bodyPr wrap="square" lIns="0" tIns="0" rIns="0" bIns="0" rtlCol="0" anchor="ctr"/>
          <a:lstStyle/>
          <a:p>
            <a:pPr marL="342900" indent="-342900">
              <a:buSzPct val="100000"/>
              <a:buChar char="•"/>
            </a:pPr>
            <a:r>
              <a:rPr lang="en-US" sz="1000" dirty="0">
                <a:solidFill>
                  <a:srgbClr val="A8BDD8"/>
                </a:solidFill>
                <a:latin typeface="Calibri" pitchFamily="34" charset="0"/>
                <a:ea typeface="Calibri" pitchFamily="34" charset="-122"/>
                <a:cs typeface="Calibri" pitchFamily="34" charset="-120"/>
              </a:rPr>
              <a:t>현재: Gemini STT (프로토타입) → 사업화: Whisper 자체 서버 배포</a:t>
            </a:r>
            <a:endParaRPr lang="en-US" sz="1000" dirty="0"/>
          </a:p>
        </p:txBody>
      </p:sp>
      <p:sp>
        <p:nvSpPr>
          <p:cNvPr id="25" name="Text 22"/>
          <p:cNvSpPr/>
          <p:nvPr/>
        </p:nvSpPr>
        <p:spPr>
          <a:xfrm>
            <a:off x="6035040" y="3995928"/>
            <a:ext cx="2423160" cy="594360"/>
          </a:xfrm>
          <a:prstGeom prst="rect">
            <a:avLst/>
          </a:prstGeom>
          <a:noFill/>
          <a:ln/>
        </p:spPr>
        <p:txBody>
          <a:bodyPr wrap="square" lIns="0" tIns="0" rIns="0" bIns="0" rtlCol="0" anchor="ctr"/>
          <a:lstStyle/>
          <a:p>
            <a:pPr marL="342900" indent="-342900">
              <a:buSzPct val="100000"/>
              <a:buChar char="•"/>
            </a:pPr>
            <a:r>
              <a:rPr lang="en-US" sz="1000" dirty="0">
                <a:solidFill>
                  <a:srgbClr val="A8BDD8"/>
                </a:solidFill>
                <a:latin typeface="Calibri" pitchFamily="34" charset="0"/>
                <a:ea typeface="Calibri" pitchFamily="34" charset="-122"/>
                <a:cs typeface="Calibri" pitchFamily="34" charset="-120"/>
              </a:rPr>
              <a:t>STT 비용 완전 제거 + 음성 데이터 외부 미전송 (보안/개인정보)</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51E4F"/>
          </a:solidFill>
          <a:ln/>
        </p:spPr>
        <p:txBody>
          <a:bodyPr/>
          <a:lstStyle/>
          <a:p>
            <a:endParaRPr lang="ko-KR" altLang="en-US"/>
          </a:p>
        </p:txBody>
      </p:sp>
      <p:sp>
        <p:nvSpPr>
          <p:cNvPr id="3" name="Shape 1"/>
          <p:cNvSpPr/>
          <p:nvPr/>
        </p:nvSpPr>
        <p:spPr>
          <a:xfrm>
            <a:off x="0" y="0"/>
            <a:ext cx="164592" cy="5143500"/>
          </a:xfrm>
          <a:prstGeom prst="rect">
            <a:avLst/>
          </a:prstGeom>
          <a:solidFill>
            <a:srgbClr val="CADCFC"/>
          </a:solidFill>
          <a:ln/>
        </p:spPr>
        <p:txBody>
          <a:bodyPr/>
          <a:lstStyle/>
          <a:p>
            <a:endParaRPr lang="ko-KR" altLang="en-US"/>
          </a:p>
        </p:txBody>
      </p:sp>
      <p:sp>
        <p:nvSpPr>
          <p:cNvPr id="4" name="Text 2"/>
          <p:cNvSpPr/>
          <p:nvPr/>
        </p:nvSpPr>
        <p:spPr>
          <a:xfrm>
            <a:off x="365760" y="73152"/>
            <a:ext cx="841248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"Gemini 직접 쓰면 되지 않나?" — 저희의 답</a:t>
            </a:r>
            <a:endParaRPr lang="en-US" sz="2200" dirty="0"/>
          </a:p>
        </p:txBody>
      </p:sp>
      <p:sp>
        <p:nvSpPr>
          <p:cNvPr id="5" name="Shape 3"/>
          <p:cNvSpPr/>
          <p:nvPr/>
        </p:nvSpPr>
        <p:spPr>
          <a:xfrm>
            <a:off x="274320" y="804672"/>
            <a:ext cx="4160520" cy="1993392"/>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6" name="Shape 4"/>
          <p:cNvSpPr/>
          <p:nvPr/>
        </p:nvSpPr>
        <p:spPr>
          <a:xfrm>
            <a:off x="274320" y="804672"/>
            <a:ext cx="109728" cy="1993392"/>
          </a:xfrm>
          <a:prstGeom prst="rect">
            <a:avLst/>
          </a:prstGeom>
          <a:solidFill>
            <a:srgbClr val="4A90D9"/>
          </a:solidFill>
          <a:ln/>
        </p:spPr>
        <p:txBody>
          <a:bodyPr/>
          <a:lstStyle/>
          <a:p>
            <a:endParaRPr lang="ko-KR" altLang="en-US"/>
          </a:p>
        </p:txBody>
      </p:sp>
      <p:sp>
        <p:nvSpPr>
          <p:cNvPr id="7" name="Shape 5"/>
          <p:cNvSpPr/>
          <p:nvPr/>
        </p:nvSpPr>
        <p:spPr>
          <a:xfrm>
            <a:off x="475488" y="914400"/>
            <a:ext cx="347472" cy="347472"/>
          </a:xfrm>
          <a:prstGeom prst="ellipse">
            <a:avLst/>
          </a:prstGeom>
          <a:solidFill>
            <a:srgbClr val="4A90D9"/>
          </a:solidFill>
          <a:ln/>
        </p:spPr>
        <p:txBody>
          <a:bodyPr/>
          <a:lstStyle/>
          <a:p>
            <a:endParaRPr lang="ko-KR" altLang="en-US"/>
          </a:p>
        </p:txBody>
      </p:sp>
      <p:sp>
        <p:nvSpPr>
          <p:cNvPr id="8" name="Text 6"/>
          <p:cNvSpPr/>
          <p:nvPr/>
        </p:nvSpPr>
        <p:spPr>
          <a:xfrm>
            <a:off x="475488" y="914400"/>
            <a:ext cx="347472" cy="347472"/>
          </a:xfrm>
          <a:prstGeom prst="rect">
            <a:avLst/>
          </a:prstGeom>
          <a:noFill/>
          <a:ln/>
        </p:spPr>
        <p:txBody>
          <a:bodyPr wrap="square" lIns="0" tIns="0" rIns="0" bIns="0" rtlCol="0" anchor="ctr"/>
          <a:lstStyle/>
          <a:p>
            <a:pPr marL="0" indent="0" algn="ctr">
              <a:buNone/>
            </a:pPr>
            <a:r>
              <a:rPr lang="en-US" sz="1200" b="1" dirty="0">
                <a:solidFill>
                  <a:srgbClr val="1E2761"/>
                </a:solidFill>
              </a:rPr>
              <a:t>1</a:t>
            </a:r>
            <a:endParaRPr lang="en-US" sz="1200" dirty="0"/>
          </a:p>
        </p:txBody>
      </p:sp>
      <p:sp>
        <p:nvSpPr>
          <p:cNvPr id="9" name="Text 7"/>
          <p:cNvSpPr/>
          <p:nvPr/>
        </p:nvSpPr>
        <p:spPr>
          <a:xfrm>
            <a:off x="914400" y="896112"/>
            <a:ext cx="3383280" cy="365760"/>
          </a:xfrm>
          <a:prstGeom prst="rect">
            <a:avLst/>
          </a:prstGeom>
          <a:noFill/>
          <a:ln/>
        </p:spPr>
        <p:txBody>
          <a:bodyPr wrap="square" lIns="0" tIns="0" rIns="0" bIns="0" rtlCol="0" anchor="ctr"/>
          <a:lstStyle/>
          <a:p>
            <a:pPr marL="0" indent="0">
              <a:buNone/>
            </a:pPr>
            <a:r>
              <a:rPr lang="en-US" sz="1300" b="1" dirty="0">
                <a:solidFill>
                  <a:srgbClr val="4A90D9"/>
                </a:solidFill>
              </a:rPr>
              <a:t>원클릭 녹음 통합 </a:t>
            </a:r>
            <a:endParaRPr lang="en-US" sz="1300" dirty="0"/>
          </a:p>
        </p:txBody>
      </p:sp>
      <p:sp>
        <p:nvSpPr>
          <p:cNvPr id="10" name="Text 8"/>
          <p:cNvSpPr/>
          <p:nvPr/>
        </p:nvSpPr>
        <p:spPr>
          <a:xfrm>
            <a:off x="914400" y="1216152"/>
            <a:ext cx="3383280" cy="256032"/>
          </a:xfrm>
          <a:prstGeom prst="rect">
            <a:avLst/>
          </a:prstGeom>
          <a:noFill/>
          <a:ln/>
        </p:spPr>
        <p:txBody>
          <a:bodyPr wrap="square" lIns="0" tIns="0" rIns="0" bIns="0" rtlCol="0" anchor="ctr"/>
          <a:lstStyle/>
          <a:p>
            <a:pPr marL="0" indent="0">
              <a:buNone/>
            </a:pPr>
            <a:r>
              <a:rPr lang="en-US" sz="1000" dirty="0">
                <a:solidFill>
                  <a:srgbClr val="A8BDD8"/>
                </a:solidFill>
              </a:rPr>
              <a:t>(예정)</a:t>
            </a:r>
            <a:endParaRPr lang="en-US" sz="1000" dirty="0"/>
          </a:p>
        </p:txBody>
      </p:sp>
      <p:sp>
        <p:nvSpPr>
          <p:cNvPr id="11" name="Text 9"/>
          <p:cNvSpPr/>
          <p:nvPr/>
        </p:nvSpPr>
        <p:spPr>
          <a:xfrm>
            <a:off x="475488" y="1508760"/>
            <a:ext cx="3840480" cy="530352"/>
          </a:xfrm>
          <a:prstGeom prst="rect">
            <a:avLst/>
          </a:prstGeom>
          <a:noFill/>
          <a:ln/>
        </p:spPr>
        <p:txBody>
          <a:bodyPr wrap="square" lIns="0" tIns="0" rIns="0" bIns="0" rtlCol="0" anchor="ctr"/>
          <a:lstStyle/>
          <a:p>
            <a:pPr marL="0" indent="0">
              <a:buNone/>
            </a:pPr>
            <a:r>
              <a:rPr lang="en-US" sz="1000" b="1" dirty="0">
                <a:solidFill>
                  <a:srgbClr val="FF7070"/>
                </a:solidFill>
                <a:latin typeface="Calibri" pitchFamily="34" charset="0"/>
                <a:ea typeface="Calibri" pitchFamily="34" charset="-122"/>
                <a:cs typeface="Calibri" pitchFamily="34" charset="-120"/>
              </a:rPr>
              <a:t>Before: </a:t>
            </a:r>
            <a:r>
              <a:rPr lang="en-US" sz="1000" dirty="0">
                <a:solidFill>
                  <a:srgbClr val="A8BDD8"/>
                </a:solidFill>
                <a:latin typeface="Calibri" pitchFamily="34" charset="0"/>
                <a:ea typeface="Calibri" pitchFamily="34" charset="-122"/>
                <a:cs typeface="Calibri" pitchFamily="34" charset="-120"/>
              </a:rPr>
              <a:t>수업 중 별도 앱 녹음 → 파일 저장 → 업로드 → 기다림</a:t>
            </a:r>
            <a:endParaRPr lang="en-US" sz="1000" dirty="0"/>
          </a:p>
        </p:txBody>
      </p:sp>
      <p:sp>
        <p:nvSpPr>
          <p:cNvPr id="12" name="Text 10"/>
          <p:cNvSpPr/>
          <p:nvPr/>
        </p:nvSpPr>
        <p:spPr>
          <a:xfrm>
            <a:off x="475488" y="2066544"/>
            <a:ext cx="3840480" cy="594360"/>
          </a:xfrm>
          <a:prstGeom prst="rect">
            <a:avLst/>
          </a:prstGeom>
          <a:noFill/>
          <a:ln/>
        </p:spPr>
        <p:txBody>
          <a:bodyPr wrap="square" lIns="0" tIns="0" rIns="0" bIns="0" rtlCol="0" anchor="ctr"/>
          <a:lstStyle/>
          <a:p>
            <a:pPr marL="0" indent="0">
              <a:buNone/>
            </a:pPr>
            <a:r>
              <a:rPr lang="en-US" sz="1000" b="1" dirty="0">
                <a:solidFill>
                  <a:srgbClr val="4A90D9"/>
                </a:solidFill>
                <a:latin typeface="Calibri" pitchFamily="34" charset="0"/>
                <a:ea typeface="Calibri" pitchFamily="34" charset="-122"/>
                <a:cs typeface="Calibri" pitchFamily="34" charset="-120"/>
              </a:rPr>
              <a:t>After: </a:t>
            </a:r>
            <a:r>
              <a:rPr lang="en-US" sz="1000" dirty="0">
                <a:solidFill>
                  <a:srgbClr val="FFFFFF"/>
                </a:solidFill>
                <a:latin typeface="Calibri" pitchFamily="34" charset="0"/>
                <a:ea typeface="Calibri" pitchFamily="34" charset="-122"/>
                <a:cs typeface="Calibri" pitchFamily="34" charset="-120"/>
              </a:rPr>
              <a:t>앱 열기 → 녹음 시작 → 수업 끝 → '생성' 버튼 → 완료</a:t>
            </a:r>
            <a:endParaRPr lang="en-US" sz="1000" dirty="0"/>
          </a:p>
        </p:txBody>
      </p:sp>
      <p:sp>
        <p:nvSpPr>
          <p:cNvPr id="13" name="Shape 11"/>
          <p:cNvSpPr/>
          <p:nvPr/>
        </p:nvSpPr>
        <p:spPr>
          <a:xfrm>
            <a:off x="4526280" y="804672"/>
            <a:ext cx="4160520" cy="1993392"/>
          </a:xfrm>
          <a:prstGeom prst="rect">
            <a:avLst/>
          </a:prstGeom>
          <a:solidFill>
            <a:srgbClr val="1E3A7A"/>
          </a:solidFill>
          <a:ln w="12700">
            <a:solidFill>
              <a:srgbClr val="2ECC71"/>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14" name="Shape 12"/>
          <p:cNvSpPr/>
          <p:nvPr/>
        </p:nvSpPr>
        <p:spPr>
          <a:xfrm>
            <a:off x="4526280" y="804672"/>
            <a:ext cx="109728" cy="1993392"/>
          </a:xfrm>
          <a:prstGeom prst="rect">
            <a:avLst/>
          </a:prstGeom>
          <a:solidFill>
            <a:srgbClr val="2ECC71"/>
          </a:solidFill>
          <a:ln/>
        </p:spPr>
        <p:txBody>
          <a:bodyPr/>
          <a:lstStyle/>
          <a:p>
            <a:endParaRPr lang="ko-KR" altLang="en-US"/>
          </a:p>
        </p:txBody>
      </p:sp>
      <p:sp>
        <p:nvSpPr>
          <p:cNvPr id="15" name="Shape 13"/>
          <p:cNvSpPr/>
          <p:nvPr/>
        </p:nvSpPr>
        <p:spPr>
          <a:xfrm>
            <a:off x="4727448" y="914400"/>
            <a:ext cx="347472" cy="347472"/>
          </a:xfrm>
          <a:prstGeom prst="ellipse">
            <a:avLst/>
          </a:prstGeom>
          <a:solidFill>
            <a:srgbClr val="2ECC71"/>
          </a:solidFill>
          <a:ln/>
        </p:spPr>
        <p:txBody>
          <a:bodyPr/>
          <a:lstStyle/>
          <a:p>
            <a:endParaRPr lang="ko-KR" altLang="en-US"/>
          </a:p>
        </p:txBody>
      </p:sp>
      <p:sp>
        <p:nvSpPr>
          <p:cNvPr id="16" name="Text 14"/>
          <p:cNvSpPr/>
          <p:nvPr/>
        </p:nvSpPr>
        <p:spPr>
          <a:xfrm>
            <a:off x="4727448" y="914400"/>
            <a:ext cx="347472" cy="347472"/>
          </a:xfrm>
          <a:prstGeom prst="rect">
            <a:avLst/>
          </a:prstGeom>
          <a:noFill/>
          <a:ln/>
        </p:spPr>
        <p:txBody>
          <a:bodyPr wrap="square" lIns="0" tIns="0" rIns="0" bIns="0" rtlCol="0" anchor="ctr"/>
          <a:lstStyle/>
          <a:p>
            <a:pPr marL="0" indent="0" algn="ctr">
              <a:buNone/>
            </a:pPr>
            <a:r>
              <a:rPr lang="en-US" sz="1200" b="1" dirty="0">
                <a:solidFill>
                  <a:srgbClr val="1E2761"/>
                </a:solidFill>
              </a:rPr>
              <a:t>2</a:t>
            </a:r>
            <a:endParaRPr lang="en-US" sz="1200" dirty="0"/>
          </a:p>
        </p:txBody>
      </p:sp>
      <p:sp>
        <p:nvSpPr>
          <p:cNvPr id="17" name="Text 15"/>
          <p:cNvSpPr/>
          <p:nvPr/>
        </p:nvSpPr>
        <p:spPr>
          <a:xfrm>
            <a:off x="5166360" y="896112"/>
            <a:ext cx="3383280" cy="365760"/>
          </a:xfrm>
          <a:prstGeom prst="rect">
            <a:avLst/>
          </a:prstGeom>
          <a:noFill/>
          <a:ln/>
        </p:spPr>
        <p:txBody>
          <a:bodyPr wrap="square" lIns="0" tIns="0" rIns="0" bIns="0" rtlCol="0" anchor="ctr"/>
          <a:lstStyle/>
          <a:p>
            <a:pPr marL="0" indent="0">
              <a:buNone/>
            </a:pPr>
            <a:r>
              <a:rPr lang="en-US" sz="1300" b="1" dirty="0">
                <a:solidFill>
                  <a:srgbClr val="2ECC71"/>
                </a:solidFill>
              </a:rPr>
              <a:t>강의계획서 기반 맥락 </a:t>
            </a:r>
            <a:endParaRPr lang="en-US" sz="1300" dirty="0"/>
          </a:p>
        </p:txBody>
      </p:sp>
      <p:sp>
        <p:nvSpPr>
          <p:cNvPr id="18" name="Text 16"/>
          <p:cNvSpPr/>
          <p:nvPr/>
        </p:nvSpPr>
        <p:spPr>
          <a:xfrm>
            <a:off x="5166360" y="1216152"/>
            <a:ext cx="3383280" cy="256032"/>
          </a:xfrm>
          <a:prstGeom prst="rect">
            <a:avLst/>
          </a:prstGeom>
          <a:noFill/>
          <a:ln/>
        </p:spPr>
        <p:txBody>
          <a:bodyPr wrap="square" lIns="0" tIns="0" rIns="0" bIns="0" rtlCol="0" anchor="ctr"/>
          <a:lstStyle/>
          <a:p>
            <a:pPr marL="0" indent="0">
              <a:buNone/>
            </a:pPr>
            <a:r>
              <a:rPr lang="en-US" sz="1000" dirty="0">
                <a:solidFill>
                  <a:srgbClr val="A8BDD8"/>
                </a:solidFill>
              </a:rPr>
              <a:t>자동 주입</a:t>
            </a:r>
            <a:endParaRPr lang="en-US" sz="1000" dirty="0"/>
          </a:p>
        </p:txBody>
      </p:sp>
      <p:sp>
        <p:nvSpPr>
          <p:cNvPr id="19" name="Text 17"/>
          <p:cNvSpPr/>
          <p:nvPr/>
        </p:nvSpPr>
        <p:spPr>
          <a:xfrm>
            <a:off x="4727448" y="1508760"/>
            <a:ext cx="3840480" cy="530352"/>
          </a:xfrm>
          <a:prstGeom prst="rect">
            <a:avLst/>
          </a:prstGeom>
          <a:noFill/>
          <a:ln/>
        </p:spPr>
        <p:txBody>
          <a:bodyPr wrap="square" lIns="0" tIns="0" rIns="0" bIns="0" rtlCol="0" anchor="ctr"/>
          <a:lstStyle/>
          <a:p>
            <a:pPr marL="0" indent="0">
              <a:buNone/>
            </a:pPr>
            <a:r>
              <a:rPr lang="en-US" sz="1000" b="1" dirty="0">
                <a:solidFill>
                  <a:srgbClr val="FF7070"/>
                </a:solidFill>
                <a:latin typeface="Calibri" pitchFamily="34" charset="0"/>
                <a:ea typeface="Calibri" pitchFamily="34" charset="-122"/>
                <a:cs typeface="Calibri" pitchFamily="34" charset="-120"/>
              </a:rPr>
              <a:t>Before: </a:t>
            </a:r>
            <a:r>
              <a:rPr lang="en-US" sz="1000" dirty="0">
                <a:solidFill>
                  <a:srgbClr val="A8BDD8"/>
                </a:solidFill>
                <a:latin typeface="Calibri" pitchFamily="34" charset="0"/>
                <a:ea typeface="Calibri" pitchFamily="34" charset="-122"/>
                <a:cs typeface="Calibri" pitchFamily="34" charset="-120"/>
              </a:rPr>
              <a:t>매번 프롬프트에 강의 배경 직접 설명 필요</a:t>
            </a:r>
            <a:endParaRPr lang="en-US" sz="1000" dirty="0"/>
          </a:p>
        </p:txBody>
      </p:sp>
      <p:sp>
        <p:nvSpPr>
          <p:cNvPr id="20" name="Text 18"/>
          <p:cNvSpPr/>
          <p:nvPr/>
        </p:nvSpPr>
        <p:spPr>
          <a:xfrm>
            <a:off x="4727448" y="2066544"/>
            <a:ext cx="3840480" cy="594360"/>
          </a:xfrm>
          <a:prstGeom prst="rect">
            <a:avLst/>
          </a:prstGeom>
          <a:noFill/>
          <a:ln/>
        </p:spPr>
        <p:txBody>
          <a:bodyPr wrap="square" lIns="0" tIns="0" rIns="0" bIns="0" rtlCol="0" anchor="ctr"/>
          <a:lstStyle/>
          <a:p>
            <a:pPr marL="0" indent="0">
              <a:buNone/>
            </a:pPr>
            <a:r>
              <a:rPr lang="en-US" sz="1000" b="1" dirty="0">
                <a:solidFill>
                  <a:srgbClr val="2ECC71"/>
                </a:solidFill>
                <a:latin typeface="Calibri" pitchFamily="34" charset="0"/>
                <a:ea typeface="Calibri" pitchFamily="34" charset="-122"/>
                <a:cs typeface="Calibri" pitchFamily="34" charset="-120"/>
              </a:rPr>
              <a:t>After: </a:t>
            </a:r>
            <a:r>
              <a:rPr lang="en-US" sz="1000" dirty="0">
                <a:solidFill>
                  <a:srgbClr val="FFFFFF"/>
                </a:solidFill>
                <a:latin typeface="Calibri" pitchFamily="34" charset="0"/>
                <a:ea typeface="Calibri" pitchFamily="34" charset="-122"/>
                <a:cs typeface="Calibri" pitchFamily="34" charset="-120"/>
              </a:rPr>
              <a:t>학기 초 1회 업로드 → 이후 매주 자동으로 맥락 포함</a:t>
            </a:r>
            <a:endParaRPr lang="en-US" sz="1000" dirty="0"/>
          </a:p>
        </p:txBody>
      </p:sp>
      <p:sp>
        <p:nvSpPr>
          <p:cNvPr id="21" name="Shape 19"/>
          <p:cNvSpPr/>
          <p:nvPr/>
        </p:nvSpPr>
        <p:spPr>
          <a:xfrm>
            <a:off x="274320" y="2889504"/>
            <a:ext cx="4160520" cy="1993392"/>
          </a:xfrm>
          <a:prstGeom prst="rect">
            <a:avLst/>
          </a:prstGeom>
          <a:solidFill>
            <a:srgbClr val="1E3A7A"/>
          </a:solidFill>
          <a:ln w="12700">
            <a:solidFill>
              <a:srgbClr val="F39C12"/>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2" name="Shape 20"/>
          <p:cNvSpPr/>
          <p:nvPr/>
        </p:nvSpPr>
        <p:spPr>
          <a:xfrm>
            <a:off x="274320" y="2889504"/>
            <a:ext cx="109728" cy="1993392"/>
          </a:xfrm>
          <a:prstGeom prst="rect">
            <a:avLst/>
          </a:prstGeom>
          <a:solidFill>
            <a:srgbClr val="F39C12"/>
          </a:solidFill>
          <a:ln/>
        </p:spPr>
        <p:txBody>
          <a:bodyPr/>
          <a:lstStyle/>
          <a:p>
            <a:endParaRPr lang="ko-KR" altLang="en-US"/>
          </a:p>
        </p:txBody>
      </p:sp>
      <p:sp>
        <p:nvSpPr>
          <p:cNvPr id="23" name="Shape 21"/>
          <p:cNvSpPr/>
          <p:nvPr/>
        </p:nvSpPr>
        <p:spPr>
          <a:xfrm>
            <a:off x="475488" y="2999232"/>
            <a:ext cx="347472" cy="347472"/>
          </a:xfrm>
          <a:prstGeom prst="ellipse">
            <a:avLst/>
          </a:prstGeom>
          <a:solidFill>
            <a:srgbClr val="F39C12"/>
          </a:solidFill>
          <a:ln/>
        </p:spPr>
        <p:txBody>
          <a:bodyPr/>
          <a:lstStyle/>
          <a:p>
            <a:endParaRPr lang="ko-KR" altLang="en-US"/>
          </a:p>
        </p:txBody>
      </p:sp>
      <p:sp>
        <p:nvSpPr>
          <p:cNvPr id="24" name="Text 22"/>
          <p:cNvSpPr/>
          <p:nvPr/>
        </p:nvSpPr>
        <p:spPr>
          <a:xfrm>
            <a:off x="475488" y="2999232"/>
            <a:ext cx="347472" cy="347472"/>
          </a:xfrm>
          <a:prstGeom prst="rect">
            <a:avLst/>
          </a:prstGeom>
          <a:noFill/>
          <a:ln/>
        </p:spPr>
        <p:txBody>
          <a:bodyPr wrap="square" lIns="0" tIns="0" rIns="0" bIns="0" rtlCol="0" anchor="ctr"/>
          <a:lstStyle/>
          <a:p>
            <a:pPr marL="0" indent="0" algn="ctr">
              <a:buNone/>
            </a:pPr>
            <a:r>
              <a:rPr lang="en-US" sz="1200" b="1" dirty="0">
                <a:solidFill>
                  <a:srgbClr val="1E2761"/>
                </a:solidFill>
              </a:rPr>
              <a:t>3</a:t>
            </a:r>
            <a:endParaRPr lang="en-US" sz="1200" dirty="0"/>
          </a:p>
        </p:txBody>
      </p:sp>
      <p:sp>
        <p:nvSpPr>
          <p:cNvPr id="25" name="Text 23"/>
          <p:cNvSpPr/>
          <p:nvPr/>
        </p:nvSpPr>
        <p:spPr>
          <a:xfrm>
            <a:off x="914400" y="2980944"/>
            <a:ext cx="3383280" cy="365760"/>
          </a:xfrm>
          <a:prstGeom prst="rect">
            <a:avLst/>
          </a:prstGeom>
          <a:noFill/>
          <a:ln/>
        </p:spPr>
        <p:txBody>
          <a:bodyPr wrap="square" lIns="0" tIns="0" rIns="0" bIns="0" rtlCol="0" anchor="ctr"/>
          <a:lstStyle/>
          <a:p>
            <a:pPr marL="0" indent="0">
              <a:buNone/>
            </a:pPr>
            <a:r>
              <a:rPr lang="en-US" sz="1300" b="1" dirty="0">
                <a:solidFill>
                  <a:srgbClr val="F39C12"/>
                </a:solidFill>
              </a:rPr>
              <a:t>데이터 프라이버시 </a:t>
            </a:r>
            <a:endParaRPr lang="en-US" sz="1300" dirty="0"/>
          </a:p>
        </p:txBody>
      </p:sp>
      <p:sp>
        <p:nvSpPr>
          <p:cNvPr id="26" name="Text 24"/>
          <p:cNvSpPr/>
          <p:nvPr/>
        </p:nvSpPr>
        <p:spPr>
          <a:xfrm>
            <a:off x="914400" y="3300984"/>
            <a:ext cx="3383280" cy="256032"/>
          </a:xfrm>
          <a:prstGeom prst="rect">
            <a:avLst/>
          </a:prstGeom>
          <a:noFill/>
          <a:ln/>
        </p:spPr>
        <p:txBody>
          <a:bodyPr wrap="square" lIns="0" tIns="0" rIns="0" bIns="0" rtlCol="0" anchor="ctr"/>
          <a:lstStyle/>
          <a:p>
            <a:pPr marL="0" indent="0">
              <a:buNone/>
            </a:pPr>
            <a:r>
              <a:rPr lang="en-US" sz="1000" dirty="0">
                <a:solidFill>
                  <a:srgbClr val="A8BDD8"/>
                </a:solidFill>
              </a:rPr>
              <a:t>경로 제공</a:t>
            </a:r>
            <a:endParaRPr lang="en-US" sz="1000" dirty="0"/>
          </a:p>
        </p:txBody>
      </p:sp>
      <p:sp>
        <p:nvSpPr>
          <p:cNvPr id="27" name="Text 25"/>
          <p:cNvSpPr/>
          <p:nvPr/>
        </p:nvSpPr>
        <p:spPr>
          <a:xfrm>
            <a:off x="475488" y="3593592"/>
            <a:ext cx="3840480" cy="530352"/>
          </a:xfrm>
          <a:prstGeom prst="rect">
            <a:avLst/>
          </a:prstGeom>
          <a:noFill/>
          <a:ln/>
        </p:spPr>
        <p:txBody>
          <a:bodyPr wrap="square" lIns="0" tIns="0" rIns="0" bIns="0" rtlCol="0" anchor="ctr"/>
          <a:lstStyle/>
          <a:p>
            <a:pPr marL="0" indent="0">
              <a:buNone/>
            </a:pPr>
            <a:r>
              <a:rPr lang="en-US" sz="1000" b="1" dirty="0">
                <a:solidFill>
                  <a:srgbClr val="FF7070"/>
                </a:solidFill>
                <a:latin typeface="Calibri" pitchFamily="34" charset="0"/>
                <a:ea typeface="Calibri" pitchFamily="34" charset="-122"/>
                <a:cs typeface="Calibri" pitchFamily="34" charset="-120"/>
              </a:rPr>
              <a:t>Before: </a:t>
            </a:r>
            <a:r>
              <a:rPr lang="en-US" sz="1000" dirty="0">
                <a:solidFill>
                  <a:srgbClr val="A8BDD8"/>
                </a:solidFill>
                <a:latin typeface="Calibri" pitchFamily="34" charset="0"/>
                <a:ea typeface="Calibri" pitchFamily="34" charset="-122"/>
                <a:cs typeface="Calibri" pitchFamily="34" charset="-120"/>
              </a:rPr>
              <a:t>음성 → Gemini 서버 (Google 처리)</a:t>
            </a:r>
            <a:endParaRPr lang="en-US" sz="1000" dirty="0"/>
          </a:p>
        </p:txBody>
      </p:sp>
      <p:sp>
        <p:nvSpPr>
          <p:cNvPr id="28" name="Text 26"/>
          <p:cNvSpPr/>
          <p:nvPr/>
        </p:nvSpPr>
        <p:spPr>
          <a:xfrm>
            <a:off x="475488" y="4151376"/>
            <a:ext cx="3840480" cy="594360"/>
          </a:xfrm>
          <a:prstGeom prst="rect">
            <a:avLst/>
          </a:prstGeom>
          <a:noFill/>
          <a:ln/>
        </p:spPr>
        <p:txBody>
          <a:bodyPr wrap="square" lIns="0" tIns="0" rIns="0" bIns="0" rtlCol="0" anchor="ctr"/>
          <a:lstStyle/>
          <a:p>
            <a:pPr marL="0" indent="0">
              <a:buNone/>
            </a:pPr>
            <a:r>
              <a:rPr lang="en-US" sz="1000" b="1" dirty="0">
                <a:solidFill>
                  <a:srgbClr val="F39C12"/>
                </a:solidFill>
                <a:latin typeface="Calibri" pitchFamily="34" charset="0"/>
                <a:ea typeface="Calibri" pitchFamily="34" charset="-122"/>
                <a:cs typeface="Calibri" pitchFamily="34" charset="-120"/>
              </a:rPr>
              <a:t>After: </a:t>
            </a:r>
            <a:r>
              <a:rPr lang="en-US" sz="1000" dirty="0">
                <a:solidFill>
                  <a:srgbClr val="FFFFFF"/>
                </a:solidFill>
                <a:latin typeface="Calibri" pitchFamily="34" charset="0"/>
                <a:ea typeface="Calibri" pitchFamily="34" charset="-122"/>
                <a:cs typeface="Calibri" pitchFamily="34" charset="-120"/>
              </a:rPr>
              <a:t>음성 → 렉처노트 서버 → Whisper → Gemini는 텍스트만</a:t>
            </a:r>
            <a:endParaRPr lang="en-US" sz="1000" dirty="0"/>
          </a:p>
        </p:txBody>
      </p:sp>
      <p:sp>
        <p:nvSpPr>
          <p:cNvPr id="29" name="Shape 27"/>
          <p:cNvSpPr/>
          <p:nvPr/>
        </p:nvSpPr>
        <p:spPr>
          <a:xfrm>
            <a:off x="4526280" y="2889504"/>
            <a:ext cx="4160520" cy="1993392"/>
          </a:xfrm>
          <a:prstGeom prst="rect">
            <a:avLst/>
          </a:prstGeom>
          <a:solidFill>
            <a:srgbClr val="1E3A7A"/>
          </a:solidFill>
          <a:ln w="12700">
            <a:solidFill>
              <a:srgbClr val="CADCFC"/>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30" name="Shape 28"/>
          <p:cNvSpPr/>
          <p:nvPr/>
        </p:nvSpPr>
        <p:spPr>
          <a:xfrm>
            <a:off x="4526280" y="2889504"/>
            <a:ext cx="109728" cy="1993392"/>
          </a:xfrm>
          <a:prstGeom prst="rect">
            <a:avLst/>
          </a:prstGeom>
          <a:solidFill>
            <a:srgbClr val="CADCFC"/>
          </a:solidFill>
          <a:ln/>
        </p:spPr>
        <p:txBody>
          <a:bodyPr/>
          <a:lstStyle/>
          <a:p>
            <a:endParaRPr lang="ko-KR" altLang="en-US"/>
          </a:p>
        </p:txBody>
      </p:sp>
      <p:sp>
        <p:nvSpPr>
          <p:cNvPr id="31" name="Shape 29"/>
          <p:cNvSpPr/>
          <p:nvPr/>
        </p:nvSpPr>
        <p:spPr>
          <a:xfrm>
            <a:off x="4727448" y="2999232"/>
            <a:ext cx="347472" cy="347472"/>
          </a:xfrm>
          <a:prstGeom prst="ellipse">
            <a:avLst/>
          </a:prstGeom>
          <a:solidFill>
            <a:srgbClr val="CADCFC"/>
          </a:solidFill>
          <a:ln/>
        </p:spPr>
        <p:txBody>
          <a:bodyPr/>
          <a:lstStyle/>
          <a:p>
            <a:endParaRPr lang="ko-KR" altLang="en-US"/>
          </a:p>
        </p:txBody>
      </p:sp>
      <p:sp>
        <p:nvSpPr>
          <p:cNvPr id="32" name="Text 30"/>
          <p:cNvSpPr/>
          <p:nvPr/>
        </p:nvSpPr>
        <p:spPr>
          <a:xfrm>
            <a:off x="4727448" y="2999232"/>
            <a:ext cx="347472" cy="347472"/>
          </a:xfrm>
          <a:prstGeom prst="rect">
            <a:avLst/>
          </a:prstGeom>
          <a:noFill/>
          <a:ln/>
        </p:spPr>
        <p:txBody>
          <a:bodyPr wrap="square" lIns="0" tIns="0" rIns="0" bIns="0" rtlCol="0" anchor="ctr"/>
          <a:lstStyle/>
          <a:p>
            <a:pPr marL="0" indent="0" algn="ctr">
              <a:buNone/>
            </a:pPr>
            <a:r>
              <a:rPr lang="en-US" sz="1200" b="1" dirty="0">
                <a:solidFill>
                  <a:srgbClr val="1E2761"/>
                </a:solidFill>
              </a:rPr>
              <a:t>4</a:t>
            </a:r>
            <a:endParaRPr lang="en-US" sz="1200" dirty="0"/>
          </a:p>
        </p:txBody>
      </p:sp>
      <p:sp>
        <p:nvSpPr>
          <p:cNvPr id="33" name="Text 31"/>
          <p:cNvSpPr/>
          <p:nvPr/>
        </p:nvSpPr>
        <p:spPr>
          <a:xfrm>
            <a:off x="5166360" y="2980944"/>
            <a:ext cx="3383280" cy="365760"/>
          </a:xfrm>
          <a:prstGeom prst="rect">
            <a:avLst/>
          </a:prstGeom>
          <a:noFill/>
          <a:ln/>
        </p:spPr>
        <p:txBody>
          <a:bodyPr wrap="square" lIns="0" tIns="0" rIns="0" bIns="0" rtlCol="0" anchor="ctr"/>
          <a:lstStyle/>
          <a:p>
            <a:pPr marL="0" indent="0">
              <a:buNone/>
            </a:pPr>
            <a:r>
              <a:rPr lang="en-US" sz="1300" b="1" dirty="0">
                <a:solidFill>
                  <a:srgbClr val="CADCFC"/>
                </a:solidFill>
              </a:rPr>
              <a:t>한국 대학 시험 구조 </a:t>
            </a:r>
            <a:endParaRPr lang="en-US" sz="1300" dirty="0"/>
          </a:p>
        </p:txBody>
      </p:sp>
      <p:sp>
        <p:nvSpPr>
          <p:cNvPr id="34" name="Text 32"/>
          <p:cNvSpPr/>
          <p:nvPr/>
        </p:nvSpPr>
        <p:spPr>
          <a:xfrm>
            <a:off x="5166360" y="3300984"/>
            <a:ext cx="3383280" cy="256032"/>
          </a:xfrm>
          <a:prstGeom prst="rect">
            <a:avLst/>
          </a:prstGeom>
          <a:noFill/>
          <a:ln/>
        </p:spPr>
        <p:txBody>
          <a:bodyPr wrap="square" lIns="0" tIns="0" rIns="0" bIns="0" rtlCol="0" anchor="ctr"/>
          <a:lstStyle/>
          <a:p>
            <a:pPr marL="0" indent="0">
              <a:buNone/>
            </a:pPr>
            <a:r>
              <a:rPr lang="en-US" sz="1000" dirty="0">
                <a:solidFill>
                  <a:srgbClr val="A8BDD8"/>
                </a:solidFill>
              </a:rPr>
              <a:t>최적화</a:t>
            </a:r>
            <a:endParaRPr lang="en-US" sz="1000" dirty="0"/>
          </a:p>
        </p:txBody>
      </p:sp>
      <p:sp>
        <p:nvSpPr>
          <p:cNvPr id="35" name="Text 33"/>
          <p:cNvSpPr/>
          <p:nvPr/>
        </p:nvSpPr>
        <p:spPr>
          <a:xfrm>
            <a:off x="4727448" y="3593592"/>
            <a:ext cx="3840480" cy="530352"/>
          </a:xfrm>
          <a:prstGeom prst="rect">
            <a:avLst/>
          </a:prstGeom>
          <a:noFill/>
          <a:ln/>
        </p:spPr>
        <p:txBody>
          <a:bodyPr wrap="square" lIns="0" tIns="0" rIns="0" bIns="0" rtlCol="0" anchor="ctr"/>
          <a:lstStyle/>
          <a:p>
            <a:pPr marL="0" indent="0">
              <a:buNone/>
            </a:pPr>
            <a:r>
              <a:rPr lang="en-US" sz="1000" b="1" dirty="0">
                <a:solidFill>
                  <a:srgbClr val="FF7070"/>
                </a:solidFill>
                <a:latin typeface="Calibri" pitchFamily="34" charset="0"/>
                <a:ea typeface="Calibri" pitchFamily="34" charset="-122"/>
                <a:cs typeface="Calibri" pitchFamily="34" charset="-120"/>
              </a:rPr>
              <a:t>Before: </a:t>
            </a:r>
            <a:r>
              <a:rPr lang="en-US" sz="1000" dirty="0">
                <a:solidFill>
                  <a:srgbClr val="A8BDD8"/>
                </a:solidFill>
                <a:latin typeface="Calibri" pitchFamily="34" charset="0"/>
                <a:ea typeface="Calibri" pitchFamily="34" charset="-122"/>
                <a:cs typeface="Calibri" pitchFamily="34" charset="-120"/>
              </a:rPr>
              <a:t>일반 AI 요약: 내용 정리</a:t>
            </a:r>
            <a:endParaRPr lang="en-US" sz="1000" dirty="0"/>
          </a:p>
        </p:txBody>
      </p:sp>
      <p:sp>
        <p:nvSpPr>
          <p:cNvPr id="36" name="Text 34"/>
          <p:cNvSpPr/>
          <p:nvPr/>
        </p:nvSpPr>
        <p:spPr>
          <a:xfrm>
            <a:off x="4727448" y="4151376"/>
            <a:ext cx="3840480" cy="594360"/>
          </a:xfrm>
          <a:prstGeom prst="rect">
            <a:avLst/>
          </a:prstGeom>
          <a:noFill/>
          <a:ln/>
        </p:spPr>
        <p:txBody>
          <a:bodyPr wrap="square" lIns="0" tIns="0" rIns="0" bIns="0" rtlCol="0" anchor="ctr"/>
          <a:lstStyle/>
          <a:p>
            <a:pPr marL="0" indent="0">
              <a:buNone/>
            </a:pPr>
            <a:r>
              <a:rPr lang="en-US" sz="1000" b="1" dirty="0">
                <a:solidFill>
                  <a:srgbClr val="CADCFC"/>
                </a:solidFill>
                <a:latin typeface="Calibri" pitchFamily="34" charset="0"/>
                <a:ea typeface="Calibri" pitchFamily="34" charset="-122"/>
                <a:cs typeface="Calibri" pitchFamily="34" charset="-120"/>
              </a:rPr>
              <a:t>After: </a:t>
            </a:r>
            <a:r>
              <a:rPr lang="en-US" sz="1000" dirty="0">
                <a:solidFill>
                  <a:srgbClr val="FFFFFF"/>
                </a:solidFill>
                <a:latin typeface="Calibri" pitchFamily="34" charset="0"/>
                <a:ea typeface="Calibri" pitchFamily="34" charset="-122"/>
                <a:cs typeface="Calibri" pitchFamily="34" charset="-120"/>
              </a:rPr>
              <a:t>[교수님 힌트] + [중요도 별점] + [셀프 시험 문제]</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51E4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A90D9"/>
          </a:solidFill>
          <a:ln/>
        </p:spPr>
        <p:txBody>
          <a:bodyPr/>
          <a:lstStyle/>
          <a:p>
            <a:endParaRPr lang="ko-KR" altLang="en-US"/>
          </a:p>
        </p:txBody>
      </p:sp>
      <p:sp>
        <p:nvSpPr>
          <p:cNvPr id="3" name="Shape 1"/>
          <p:cNvSpPr/>
          <p:nvPr/>
        </p:nvSpPr>
        <p:spPr>
          <a:xfrm>
            <a:off x="6858000" y="-731520"/>
            <a:ext cx="3657600" cy="3657600"/>
          </a:xfrm>
          <a:prstGeom prst="ellipse">
            <a:avLst/>
          </a:prstGeom>
          <a:solidFill>
            <a:srgbClr val="4A90D9">
              <a:alpha val="12000"/>
            </a:srgbClr>
          </a:solidFill>
          <a:ln/>
        </p:spPr>
        <p:txBody>
          <a:bodyPr/>
          <a:lstStyle/>
          <a:p>
            <a:endParaRPr lang="ko-KR" altLang="en-US"/>
          </a:p>
        </p:txBody>
      </p:sp>
      <p:sp>
        <p:nvSpPr>
          <p:cNvPr id="4" name="Shape 2"/>
          <p:cNvSpPr/>
          <p:nvPr/>
        </p:nvSpPr>
        <p:spPr>
          <a:xfrm>
            <a:off x="7315200" y="3200400"/>
            <a:ext cx="2286000" cy="2286000"/>
          </a:xfrm>
          <a:prstGeom prst="ellipse">
            <a:avLst/>
          </a:prstGeom>
          <a:solidFill>
            <a:srgbClr val="CADCFC">
              <a:alpha val="10000"/>
            </a:srgbClr>
          </a:solidFill>
          <a:ln/>
        </p:spPr>
        <p:txBody>
          <a:bodyPr/>
          <a:lstStyle/>
          <a:p>
            <a:endParaRPr lang="ko-KR" altLang="en-US"/>
          </a:p>
        </p:txBody>
      </p:sp>
      <p:sp>
        <p:nvSpPr>
          <p:cNvPr id="5" name="Text 3"/>
          <p:cNvSpPr/>
          <p:nvPr/>
        </p:nvSpPr>
        <p:spPr>
          <a:xfrm>
            <a:off x="457200" y="228600"/>
            <a:ext cx="5486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다음 단계</a:t>
            </a:r>
            <a:endParaRPr lang="en-US" sz="3200" dirty="0"/>
          </a:p>
        </p:txBody>
      </p:sp>
      <p:sp>
        <p:nvSpPr>
          <p:cNvPr id="6" name="Text 4"/>
          <p:cNvSpPr/>
          <p:nvPr/>
        </p:nvSpPr>
        <p:spPr>
          <a:xfrm>
            <a:off x="457200" y="804672"/>
            <a:ext cx="5486400" cy="41148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알파 빌드를 향해</a:t>
            </a:r>
            <a:endParaRPr lang="en-US" sz="1800" dirty="0"/>
          </a:p>
        </p:txBody>
      </p:sp>
      <p:sp>
        <p:nvSpPr>
          <p:cNvPr id="7" name="Shape 5"/>
          <p:cNvSpPr/>
          <p:nvPr/>
        </p:nvSpPr>
        <p:spPr>
          <a:xfrm>
            <a:off x="365760" y="1325880"/>
            <a:ext cx="2606040" cy="2834640"/>
          </a:xfrm>
          <a:prstGeom prst="rect">
            <a:avLst/>
          </a:prstGeom>
          <a:solidFill>
            <a:srgbClr val="1E3A7A"/>
          </a:solidFill>
          <a:ln w="12700">
            <a:solidFill>
              <a:srgbClr val="4A90D9"/>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8" name="Shape 6"/>
          <p:cNvSpPr/>
          <p:nvPr/>
        </p:nvSpPr>
        <p:spPr>
          <a:xfrm>
            <a:off x="365760" y="1325880"/>
            <a:ext cx="2606040" cy="502920"/>
          </a:xfrm>
          <a:prstGeom prst="rect">
            <a:avLst/>
          </a:prstGeom>
          <a:solidFill>
            <a:srgbClr val="4A90D9"/>
          </a:solidFill>
          <a:ln/>
        </p:spPr>
        <p:txBody>
          <a:bodyPr/>
          <a:lstStyle/>
          <a:p>
            <a:endParaRPr lang="ko-KR" altLang="en-US"/>
          </a:p>
        </p:txBody>
      </p:sp>
      <p:sp>
        <p:nvSpPr>
          <p:cNvPr id="9" name="Text 7"/>
          <p:cNvSpPr/>
          <p:nvPr/>
        </p:nvSpPr>
        <p:spPr>
          <a:xfrm>
            <a:off x="502920" y="1362456"/>
            <a:ext cx="1097280" cy="438912"/>
          </a:xfrm>
          <a:prstGeom prst="rect">
            <a:avLst/>
          </a:prstGeom>
          <a:noFill/>
          <a:ln/>
        </p:spPr>
        <p:txBody>
          <a:bodyPr wrap="square" lIns="0" tIns="0" rIns="0" bIns="0" rtlCol="0" anchor="ctr"/>
          <a:lstStyle/>
          <a:p>
            <a:pPr marL="0" indent="0">
              <a:buNone/>
            </a:pPr>
            <a:r>
              <a:rPr lang="en-US" sz="1200" b="1" dirty="0">
                <a:solidFill>
                  <a:srgbClr val="FFFFFF"/>
                </a:solidFill>
              </a:rPr>
              <a:t>8주차</a:t>
            </a:r>
            <a:endParaRPr lang="en-US" sz="1200" dirty="0"/>
          </a:p>
        </p:txBody>
      </p:sp>
      <p:sp>
        <p:nvSpPr>
          <p:cNvPr id="10" name="Text 8"/>
          <p:cNvSpPr/>
          <p:nvPr/>
        </p:nvSpPr>
        <p:spPr>
          <a:xfrm>
            <a:off x="1463040" y="1362456"/>
            <a:ext cx="1417320" cy="438912"/>
          </a:xfrm>
          <a:prstGeom prst="rect">
            <a:avLst/>
          </a:prstGeom>
          <a:noFill/>
          <a:ln/>
        </p:spPr>
        <p:txBody>
          <a:bodyPr wrap="square" lIns="0" tIns="0" rIns="0" bIns="0" rtlCol="0" anchor="ctr"/>
          <a:lstStyle/>
          <a:p>
            <a:pPr marL="0" indent="0" algn="r">
              <a:buNone/>
            </a:pPr>
            <a:r>
              <a:rPr lang="en-US" sz="1300" b="1" dirty="0">
                <a:solidFill>
                  <a:srgbClr val="1E2761"/>
                </a:solidFill>
              </a:rPr>
              <a:t>알파 빌드</a:t>
            </a:r>
            <a:endParaRPr lang="en-US" sz="1300" dirty="0"/>
          </a:p>
        </p:txBody>
      </p:sp>
      <p:sp>
        <p:nvSpPr>
          <p:cNvPr id="11" name="Text 9"/>
          <p:cNvSpPr/>
          <p:nvPr/>
        </p:nvSpPr>
        <p:spPr>
          <a:xfrm>
            <a:off x="475488" y="1920240"/>
            <a:ext cx="2377440" cy="658368"/>
          </a:xfrm>
          <a:prstGeom prst="rect">
            <a:avLst/>
          </a:prstGeom>
          <a:noFill/>
          <a:ln/>
        </p:spPr>
        <p:txBody>
          <a:bodyPr wrap="square" lIns="0" tIns="0" rIns="0" bIns="0"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웹 </a:t>
            </a:r>
            <a:r>
              <a:rPr lang="en-US" sz="1000" dirty="0" err="1">
                <a:solidFill>
                  <a:srgbClr val="FFFFFF"/>
                </a:solidFill>
                <a:latin typeface="Calibri" pitchFamily="34" charset="0"/>
                <a:ea typeface="Calibri" pitchFamily="34" charset="-122"/>
                <a:cs typeface="Calibri" pitchFamily="34" charset="-120"/>
              </a:rPr>
              <a:t>프론트엔드</a:t>
            </a:r>
            <a:r>
              <a:rPr lang="en-US" sz="1000" dirty="0">
                <a:solidFill>
                  <a:srgbClr val="FFFFFF"/>
                </a:solidFill>
                <a:latin typeface="Calibri" pitchFamily="34" charset="0"/>
                <a:ea typeface="Calibri" pitchFamily="34" charset="-122"/>
                <a:cs typeface="Calibri" pitchFamily="34" charset="-120"/>
              </a:rPr>
              <a:t> </a:t>
            </a:r>
            <a:r>
              <a:rPr lang="en-US" sz="1000" dirty="0" err="1">
                <a:solidFill>
                  <a:srgbClr val="FFFFFF"/>
                </a:solidFill>
                <a:latin typeface="Calibri" pitchFamily="34" charset="0"/>
                <a:ea typeface="Calibri" pitchFamily="34" charset="-122"/>
                <a:cs typeface="Calibri" pitchFamily="34" charset="-120"/>
              </a:rPr>
              <a:t>개발</a:t>
            </a:r>
            <a:br>
              <a:rPr lang="en-US" sz="1000" dirty="0">
                <a:solidFill>
                  <a:srgbClr val="FFFFFF"/>
                </a:solidFill>
                <a:latin typeface="Calibri" pitchFamily="34" charset="0"/>
                <a:ea typeface="Calibri" pitchFamily="34" charset="-122"/>
                <a:cs typeface="Calibri" pitchFamily="34" charset="-120"/>
              </a:rPr>
            </a:br>
            <a:r>
              <a:rPr lang="en-US" sz="1000" dirty="0" err="1">
                <a:solidFill>
                  <a:srgbClr val="FFFFFF"/>
                </a:solidFill>
                <a:latin typeface="Calibri" pitchFamily="34" charset="0"/>
                <a:ea typeface="Calibri" pitchFamily="34" charset="-122"/>
                <a:cs typeface="Calibri" pitchFamily="34" charset="-120"/>
              </a:rPr>
              <a:t>코드</a:t>
            </a:r>
            <a:r>
              <a:rPr lang="en-US" sz="1000" dirty="0">
                <a:solidFill>
                  <a:srgbClr val="FFFFFF"/>
                </a:solidFill>
                <a:latin typeface="Calibri" pitchFamily="34" charset="0"/>
                <a:ea typeface="Calibri" pitchFamily="34" charset="-122"/>
                <a:cs typeface="Calibri" pitchFamily="34" charset="-120"/>
              </a:rPr>
              <a:t> </a:t>
            </a:r>
            <a:r>
              <a:rPr lang="en-US" sz="1000" dirty="0" err="1">
                <a:solidFill>
                  <a:srgbClr val="FFFFFF"/>
                </a:solidFill>
                <a:latin typeface="Calibri" pitchFamily="34" charset="0"/>
                <a:ea typeface="Calibri" pitchFamily="34" charset="-122"/>
                <a:cs typeface="Calibri" pitchFamily="34" charset="-120"/>
              </a:rPr>
              <a:t>없이</a:t>
            </a:r>
            <a:r>
              <a:rPr lang="en-US" sz="1000" dirty="0">
                <a:solidFill>
                  <a:srgbClr val="FFFFFF"/>
                </a:solidFill>
                <a:latin typeface="Calibri" pitchFamily="34" charset="0"/>
                <a:ea typeface="Calibri" pitchFamily="34" charset="-122"/>
                <a:cs typeface="Calibri" pitchFamily="34" charset="-120"/>
              </a:rPr>
              <a:t> </a:t>
            </a:r>
            <a:r>
              <a:rPr lang="en-US" sz="1000" dirty="0" err="1">
                <a:solidFill>
                  <a:srgbClr val="FFFFFF"/>
                </a:solidFill>
                <a:latin typeface="Calibri" pitchFamily="34" charset="0"/>
                <a:ea typeface="Calibri" pitchFamily="34" charset="-122"/>
                <a:cs typeface="Calibri" pitchFamily="34" charset="-120"/>
              </a:rPr>
              <a:t>사용</a:t>
            </a:r>
            <a:r>
              <a:rPr lang="en-US" sz="1000" dirty="0">
                <a:solidFill>
                  <a:srgbClr val="FFFFFF"/>
                </a:solidFill>
                <a:latin typeface="Calibri" pitchFamily="34" charset="0"/>
                <a:ea typeface="Calibri" pitchFamily="34" charset="-122"/>
                <a:cs typeface="Calibri" pitchFamily="34" charset="-120"/>
              </a:rPr>
              <a:t> 가능한 UI</a:t>
            </a:r>
            <a:endParaRPr lang="en-US" sz="1000" dirty="0"/>
          </a:p>
        </p:txBody>
      </p:sp>
      <p:sp>
        <p:nvSpPr>
          <p:cNvPr id="12" name="Text 10"/>
          <p:cNvSpPr/>
          <p:nvPr/>
        </p:nvSpPr>
        <p:spPr>
          <a:xfrm>
            <a:off x="475488" y="2615184"/>
            <a:ext cx="2377440" cy="658368"/>
          </a:xfrm>
          <a:prstGeom prst="rect">
            <a:avLst/>
          </a:prstGeom>
          <a:noFill/>
          <a:ln/>
        </p:spPr>
        <p:txBody>
          <a:bodyPr wrap="square" lIns="0" tIns="0" rIns="0" bIns="0"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녹음 </a:t>
            </a:r>
            <a:r>
              <a:rPr lang="en-US" sz="1000" dirty="0" err="1">
                <a:solidFill>
                  <a:srgbClr val="FFFFFF"/>
                </a:solidFill>
                <a:latin typeface="Calibri" pitchFamily="34" charset="0"/>
                <a:ea typeface="Calibri" pitchFamily="34" charset="-122"/>
                <a:cs typeface="Calibri" pitchFamily="34" charset="-120"/>
              </a:rPr>
              <a:t>기능</a:t>
            </a:r>
            <a:r>
              <a:rPr lang="en-US" sz="1000" dirty="0">
                <a:solidFill>
                  <a:srgbClr val="FFFFFF"/>
                </a:solidFill>
                <a:latin typeface="Calibri" pitchFamily="34" charset="0"/>
                <a:ea typeface="Calibri" pitchFamily="34" charset="-122"/>
                <a:cs typeface="Calibri" pitchFamily="34" charset="-120"/>
              </a:rPr>
              <a:t> </a:t>
            </a:r>
            <a:r>
              <a:rPr lang="en-US" sz="1000" dirty="0" err="1">
                <a:solidFill>
                  <a:srgbClr val="FFFFFF"/>
                </a:solidFill>
                <a:latin typeface="Calibri" pitchFamily="34" charset="0"/>
                <a:ea typeface="Calibri" pitchFamily="34" charset="-122"/>
                <a:cs typeface="Calibri" pitchFamily="34" charset="-120"/>
              </a:rPr>
              <a:t>통합</a:t>
            </a:r>
            <a:br>
              <a:rPr lang="en-US" sz="1000" dirty="0">
                <a:solidFill>
                  <a:srgbClr val="FFFFFF"/>
                </a:solidFill>
                <a:latin typeface="Calibri" pitchFamily="34" charset="0"/>
                <a:ea typeface="Calibri" pitchFamily="34" charset="-122"/>
                <a:cs typeface="Calibri" pitchFamily="34" charset="-120"/>
              </a:rPr>
            </a:br>
            <a:r>
              <a:rPr lang="en-US" sz="1000" dirty="0">
                <a:solidFill>
                  <a:srgbClr val="FFFFFF"/>
                </a:solidFill>
                <a:latin typeface="Calibri" pitchFamily="34" charset="0"/>
                <a:ea typeface="Calibri" pitchFamily="34" charset="-122"/>
                <a:cs typeface="Calibri" pitchFamily="34" charset="-120"/>
              </a:rPr>
              <a:t>앱 내 직접 녹음 → 자동 업로드</a:t>
            </a:r>
            <a:endParaRPr lang="en-US" sz="1000" dirty="0"/>
          </a:p>
        </p:txBody>
      </p:sp>
      <p:sp>
        <p:nvSpPr>
          <p:cNvPr id="13" name="Text 11"/>
          <p:cNvSpPr/>
          <p:nvPr/>
        </p:nvSpPr>
        <p:spPr>
          <a:xfrm>
            <a:off x="475488" y="3310128"/>
            <a:ext cx="2377440" cy="658368"/>
          </a:xfrm>
          <a:prstGeom prst="rect">
            <a:avLst/>
          </a:prstGeom>
          <a:noFill/>
          <a:ln/>
        </p:spPr>
        <p:txBody>
          <a:bodyPr wrap="square" lIns="0" tIns="0" rIns="0" bIns="0"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팀원 </a:t>
            </a:r>
            <a:r>
              <a:rPr lang="en-US" sz="1000" dirty="0" err="1">
                <a:solidFill>
                  <a:srgbClr val="FFFFFF"/>
                </a:solidFill>
                <a:latin typeface="Calibri" pitchFamily="34" charset="0"/>
                <a:ea typeface="Calibri" pitchFamily="34" charset="-122"/>
                <a:cs typeface="Calibri" pitchFamily="34" charset="-120"/>
              </a:rPr>
              <a:t>자체</a:t>
            </a:r>
            <a:r>
              <a:rPr lang="en-US" sz="1000" dirty="0">
                <a:solidFill>
                  <a:srgbClr val="FFFFFF"/>
                </a:solidFill>
                <a:latin typeface="Calibri" pitchFamily="34" charset="0"/>
                <a:ea typeface="Calibri" pitchFamily="34" charset="-122"/>
                <a:cs typeface="Calibri" pitchFamily="34" charset="-120"/>
              </a:rPr>
              <a:t> </a:t>
            </a:r>
            <a:r>
              <a:rPr lang="en-US" sz="1000" dirty="0" err="1">
                <a:solidFill>
                  <a:srgbClr val="FFFFFF"/>
                </a:solidFill>
                <a:latin typeface="Calibri" pitchFamily="34" charset="0"/>
                <a:ea typeface="Calibri" pitchFamily="34" charset="-122"/>
                <a:cs typeface="Calibri" pitchFamily="34" charset="-120"/>
              </a:rPr>
              <a:t>테스트</a:t>
            </a:r>
            <a:br>
              <a:rPr lang="en-US" sz="1000" dirty="0">
                <a:solidFill>
                  <a:srgbClr val="FFFFFF"/>
                </a:solidFill>
                <a:latin typeface="Calibri" pitchFamily="34" charset="0"/>
                <a:ea typeface="Calibri" pitchFamily="34" charset="-122"/>
                <a:cs typeface="Calibri" pitchFamily="34" charset="-120"/>
              </a:rPr>
            </a:br>
            <a:r>
              <a:rPr lang="en-US" sz="1000" dirty="0" err="1">
                <a:solidFill>
                  <a:srgbClr val="FFFFFF"/>
                </a:solidFill>
                <a:latin typeface="Calibri" pitchFamily="34" charset="0"/>
                <a:ea typeface="Calibri" pitchFamily="34" charset="-122"/>
                <a:cs typeface="Calibri" pitchFamily="34" charset="-120"/>
              </a:rPr>
              <a:t>실제</a:t>
            </a:r>
            <a:r>
              <a:rPr lang="en-US" sz="1000" dirty="0">
                <a:solidFill>
                  <a:srgbClr val="FFFFFF"/>
                </a:solidFill>
                <a:latin typeface="Calibri" pitchFamily="34" charset="0"/>
                <a:ea typeface="Calibri" pitchFamily="34" charset="-122"/>
                <a:cs typeface="Calibri" pitchFamily="34" charset="-120"/>
              </a:rPr>
              <a:t> 수업 적용 피드백 수집</a:t>
            </a:r>
            <a:endParaRPr lang="en-US" sz="1000" dirty="0"/>
          </a:p>
        </p:txBody>
      </p:sp>
      <p:sp>
        <p:nvSpPr>
          <p:cNvPr id="14" name="Shape 12"/>
          <p:cNvSpPr/>
          <p:nvPr/>
        </p:nvSpPr>
        <p:spPr>
          <a:xfrm>
            <a:off x="3154680" y="1325880"/>
            <a:ext cx="2606040" cy="2834640"/>
          </a:xfrm>
          <a:prstGeom prst="rect">
            <a:avLst/>
          </a:prstGeom>
          <a:solidFill>
            <a:srgbClr val="1E3A7A"/>
          </a:solidFill>
          <a:ln w="12700">
            <a:solidFill>
              <a:srgbClr val="2ECC71"/>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15" name="Shape 13"/>
          <p:cNvSpPr/>
          <p:nvPr/>
        </p:nvSpPr>
        <p:spPr>
          <a:xfrm>
            <a:off x="3154680" y="1325880"/>
            <a:ext cx="2606040" cy="502920"/>
          </a:xfrm>
          <a:prstGeom prst="rect">
            <a:avLst/>
          </a:prstGeom>
          <a:solidFill>
            <a:srgbClr val="2ECC71"/>
          </a:solidFill>
          <a:ln/>
        </p:spPr>
        <p:txBody>
          <a:bodyPr/>
          <a:lstStyle/>
          <a:p>
            <a:endParaRPr lang="ko-KR" altLang="en-US"/>
          </a:p>
        </p:txBody>
      </p:sp>
      <p:sp>
        <p:nvSpPr>
          <p:cNvPr id="16" name="Text 14"/>
          <p:cNvSpPr/>
          <p:nvPr/>
        </p:nvSpPr>
        <p:spPr>
          <a:xfrm>
            <a:off x="3291840" y="1362456"/>
            <a:ext cx="1097280" cy="438912"/>
          </a:xfrm>
          <a:prstGeom prst="rect">
            <a:avLst/>
          </a:prstGeom>
          <a:noFill/>
          <a:ln/>
        </p:spPr>
        <p:txBody>
          <a:bodyPr wrap="square" lIns="0" tIns="0" rIns="0" bIns="0" rtlCol="0" anchor="ctr"/>
          <a:lstStyle/>
          <a:p>
            <a:pPr marL="0" indent="0">
              <a:buNone/>
            </a:pPr>
            <a:r>
              <a:rPr lang="en-US" sz="1200" b="1" dirty="0">
                <a:solidFill>
                  <a:srgbClr val="FFFFFF"/>
                </a:solidFill>
              </a:rPr>
              <a:t>10주차</a:t>
            </a:r>
            <a:endParaRPr lang="en-US" sz="1200" dirty="0"/>
          </a:p>
        </p:txBody>
      </p:sp>
      <p:sp>
        <p:nvSpPr>
          <p:cNvPr id="17" name="Text 15"/>
          <p:cNvSpPr/>
          <p:nvPr/>
        </p:nvSpPr>
        <p:spPr>
          <a:xfrm>
            <a:off x="4251960" y="1362456"/>
            <a:ext cx="1417320" cy="438912"/>
          </a:xfrm>
          <a:prstGeom prst="rect">
            <a:avLst/>
          </a:prstGeom>
          <a:noFill/>
          <a:ln/>
        </p:spPr>
        <p:txBody>
          <a:bodyPr wrap="square" lIns="0" tIns="0" rIns="0" bIns="0" rtlCol="0" anchor="ctr"/>
          <a:lstStyle/>
          <a:p>
            <a:pPr marL="0" indent="0" algn="r">
              <a:buNone/>
            </a:pPr>
            <a:r>
              <a:rPr lang="en-US" sz="1300" b="1" dirty="0">
                <a:solidFill>
                  <a:srgbClr val="1E2761"/>
                </a:solidFill>
              </a:rPr>
              <a:t>베타 테스트</a:t>
            </a:r>
            <a:endParaRPr lang="en-US" sz="1300" dirty="0"/>
          </a:p>
        </p:txBody>
      </p:sp>
      <p:sp>
        <p:nvSpPr>
          <p:cNvPr id="18" name="Text 16"/>
          <p:cNvSpPr/>
          <p:nvPr/>
        </p:nvSpPr>
        <p:spPr>
          <a:xfrm>
            <a:off x="3264408" y="1920240"/>
            <a:ext cx="2377440" cy="658368"/>
          </a:xfrm>
          <a:prstGeom prst="rect">
            <a:avLst/>
          </a:prstGeom>
          <a:noFill/>
          <a:ln/>
        </p:spPr>
        <p:txBody>
          <a:bodyPr wrap="square" lIns="0" tIns="0" rIns="0" bIns="0"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외부 사용자 테스트 (지인 5-10명)</a:t>
            </a:r>
            <a:endParaRPr lang="en-US" sz="1000" dirty="0"/>
          </a:p>
        </p:txBody>
      </p:sp>
      <p:sp>
        <p:nvSpPr>
          <p:cNvPr id="19" name="Text 17"/>
          <p:cNvSpPr/>
          <p:nvPr/>
        </p:nvSpPr>
        <p:spPr>
          <a:xfrm>
            <a:off x="3264408" y="2615184"/>
            <a:ext cx="2377440" cy="658368"/>
          </a:xfrm>
          <a:prstGeom prst="rect">
            <a:avLst/>
          </a:prstGeom>
          <a:noFill/>
          <a:ln/>
        </p:spPr>
        <p:txBody>
          <a:bodyPr wrap="square" lIns="0" tIns="0" rIns="0" bIns="0"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사용성 개선 및 오류 수정</a:t>
            </a:r>
            <a:endParaRPr lang="en-US" sz="1000" dirty="0"/>
          </a:p>
        </p:txBody>
      </p:sp>
      <p:sp>
        <p:nvSpPr>
          <p:cNvPr id="20" name="Text 18"/>
          <p:cNvSpPr/>
          <p:nvPr/>
        </p:nvSpPr>
        <p:spPr>
          <a:xfrm>
            <a:off x="3264408" y="3310128"/>
            <a:ext cx="2377440" cy="658368"/>
          </a:xfrm>
          <a:prstGeom prst="rect">
            <a:avLst/>
          </a:prstGeom>
          <a:noFill/>
          <a:ln/>
        </p:spPr>
        <p:txBody>
          <a:bodyPr wrap="square" lIns="0" tIns="0" rIns="0" bIns="0"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Whisper 오픈소스 전환 검토</a:t>
            </a:r>
            <a:endParaRPr lang="en-US" sz="1000" dirty="0"/>
          </a:p>
        </p:txBody>
      </p:sp>
      <p:sp>
        <p:nvSpPr>
          <p:cNvPr id="21" name="Shape 19"/>
          <p:cNvSpPr/>
          <p:nvPr/>
        </p:nvSpPr>
        <p:spPr>
          <a:xfrm>
            <a:off x="5943600" y="1325880"/>
            <a:ext cx="2606040" cy="2834640"/>
          </a:xfrm>
          <a:prstGeom prst="rect">
            <a:avLst/>
          </a:prstGeom>
          <a:solidFill>
            <a:srgbClr val="1E3A7A"/>
          </a:solidFill>
          <a:ln w="12700">
            <a:solidFill>
              <a:srgbClr val="F39C12"/>
            </a:solidFill>
            <a:prstDash val="solid"/>
          </a:ln>
          <a:effectLst>
            <a:outerShdw blurRad="101600" dist="38100" dir="8100000" algn="bl" rotWithShape="0">
              <a:srgbClr val="000000">
                <a:alpha val="25000"/>
              </a:srgbClr>
            </a:outerShdw>
          </a:effectLst>
        </p:spPr>
        <p:txBody>
          <a:bodyPr/>
          <a:lstStyle/>
          <a:p>
            <a:endParaRPr lang="ko-KR" altLang="en-US"/>
          </a:p>
        </p:txBody>
      </p:sp>
      <p:sp>
        <p:nvSpPr>
          <p:cNvPr id="22" name="Shape 20"/>
          <p:cNvSpPr/>
          <p:nvPr/>
        </p:nvSpPr>
        <p:spPr>
          <a:xfrm>
            <a:off x="5943600" y="1325880"/>
            <a:ext cx="2606040" cy="502920"/>
          </a:xfrm>
          <a:prstGeom prst="rect">
            <a:avLst/>
          </a:prstGeom>
          <a:solidFill>
            <a:srgbClr val="F39C12"/>
          </a:solidFill>
          <a:ln/>
        </p:spPr>
        <p:txBody>
          <a:bodyPr/>
          <a:lstStyle/>
          <a:p>
            <a:endParaRPr lang="ko-KR" altLang="en-US"/>
          </a:p>
        </p:txBody>
      </p:sp>
      <p:sp>
        <p:nvSpPr>
          <p:cNvPr id="23" name="Text 21"/>
          <p:cNvSpPr/>
          <p:nvPr/>
        </p:nvSpPr>
        <p:spPr>
          <a:xfrm>
            <a:off x="6080760" y="1362456"/>
            <a:ext cx="1097280" cy="438912"/>
          </a:xfrm>
          <a:prstGeom prst="rect">
            <a:avLst/>
          </a:prstGeom>
          <a:noFill/>
          <a:ln/>
        </p:spPr>
        <p:txBody>
          <a:bodyPr wrap="square" lIns="0" tIns="0" rIns="0" bIns="0" rtlCol="0" anchor="ctr"/>
          <a:lstStyle/>
          <a:p>
            <a:pPr marL="0" indent="0">
              <a:buNone/>
            </a:pPr>
            <a:r>
              <a:rPr lang="en-US" sz="1200" b="1" dirty="0">
                <a:solidFill>
                  <a:srgbClr val="FFFFFF"/>
                </a:solidFill>
              </a:rPr>
              <a:t>13주차</a:t>
            </a:r>
            <a:endParaRPr lang="en-US" sz="1200" dirty="0"/>
          </a:p>
        </p:txBody>
      </p:sp>
      <p:sp>
        <p:nvSpPr>
          <p:cNvPr id="24" name="Text 22"/>
          <p:cNvSpPr/>
          <p:nvPr/>
        </p:nvSpPr>
        <p:spPr>
          <a:xfrm>
            <a:off x="7040880" y="1362456"/>
            <a:ext cx="1417320" cy="438912"/>
          </a:xfrm>
          <a:prstGeom prst="rect">
            <a:avLst/>
          </a:prstGeom>
          <a:noFill/>
          <a:ln/>
        </p:spPr>
        <p:txBody>
          <a:bodyPr wrap="square" lIns="0" tIns="0" rIns="0" bIns="0" rtlCol="0" anchor="ctr"/>
          <a:lstStyle/>
          <a:p>
            <a:pPr marL="0" indent="0" algn="r">
              <a:buNone/>
            </a:pPr>
            <a:r>
              <a:rPr lang="en-US" sz="1300" b="1" dirty="0">
                <a:solidFill>
                  <a:srgbClr val="1E2761"/>
                </a:solidFill>
              </a:rPr>
              <a:t>최종 발표</a:t>
            </a:r>
            <a:endParaRPr lang="en-US" sz="1300" dirty="0"/>
          </a:p>
        </p:txBody>
      </p:sp>
      <p:sp>
        <p:nvSpPr>
          <p:cNvPr id="25" name="Text 23"/>
          <p:cNvSpPr/>
          <p:nvPr/>
        </p:nvSpPr>
        <p:spPr>
          <a:xfrm>
            <a:off x="6053328" y="1920240"/>
            <a:ext cx="2377440" cy="658368"/>
          </a:xfrm>
          <a:prstGeom prst="rect">
            <a:avLst/>
          </a:prstGeom>
          <a:noFill/>
          <a:ln/>
        </p:spPr>
        <p:txBody>
          <a:bodyPr wrap="square" lIns="0" tIns="0" rIns="0" bIns="0"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서비스 런칭 로드맵 발표</a:t>
            </a:r>
            <a:endParaRPr lang="en-US" sz="1000" dirty="0"/>
          </a:p>
        </p:txBody>
      </p:sp>
      <p:sp>
        <p:nvSpPr>
          <p:cNvPr id="26" name="Text 24"/>
          <p:cNvSpPr/>
          <p:nvPr/>
        </p:nvSpPr>
        <p:spPr>
          <a:xfrm>
            <a:off x="6053328" y="2615184"/>
            <a:ext cx="2377440" cy="658368"/>
          </a:xfrm>
          <a:prstGeom prst="rect">
            <a:avLst/>
          </a:prstGeom>
          <a:noFill/>
          <a:ln/>
        </p:spPr>
        <p:txBody>
          <a:bodyPr wrap="square" lIns="0" tIns="0" rIns="0" bIns="0"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수익 구조 재검증 (역마진 해소 계획 포함)</a:t>
            </a:r>
            <a:endParaRPr lang="en-US" sz="1000" dirty="0"/>
          </a:p>
        </p:txBody>
      </p:sp>
      <p:sp>
        <p:nvSpPr>
          <p:cNvPr id="27" name="Shape 25"/>
          <p:cNvSpPr/>
          <p:nvPr/>
        </p:nvSpPr>
        <p:spPr>
          <a:xfrm>
            <a:off x="0" y="4434840"/>
            <a:ext cx="9144000" cy="708660"/>
          </a:xfrm>
          <a:prstGeom prst="rect">
            <a:avLst/>
          </a:prstGeom>
          <a:solidFill>
            <a:srgbClr val="4A90D9"/>
          </a:solidFill>
          <a:ln/>
        </p:spPr>
        <p:txBody>
          <a:bodyPr/>
          <a:lstStyle/>
          <a:p>
            <a:endParaRPr lang="ko-KR" altLang="en-US"/>
          </a:p>
        </p:txBody>
      </p:sp>
      <p:sp>
        <p:nvSpPr>
          <p:cNvPr id="28" name="Text 26"/>
          <p:cNvSpPr/>
          <p:nvPr/>
        </p:nvSpPr>
        <p:spPr>
          <a:xfrm>
            <a:off x="457200" y="4462272"/>
            <a:ext cx="8229600" cy="59436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이상으로 렉처노트 3차 발표를 마치겠습니다. 감사합니다.  |  경영전략 9팀</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2035</Words>
  <Application>Microsoft Office PowerPoint</Application>
  <PresentationFormat>화면 슬라이드 쇼(16:9)</PresentationFormat>
  <Paragraphs>271</Paragraphs>
  <Slides>13</Slides>
  <Notes>13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13</vt:i4>
      </vt:variant>
    </vt:vector>
  </HeadingPairs>
  <TitlesOfParts>
    <vt:vector size="16" baseType="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렉처노트 3차 발표</dc:title>
  <dc:subject>PptxGenJS Presentation</dc:subject>
  <dc:creator>경영전략 9팀</dc:creator>
  <cp:lastModifiedBy>Moira Wide</cp:lastModifiedBy>
  <cp:revision>4</cp:revision>
  <dcterms:created xsi:type="dcterms:W3CDTF">2026-04-27T10:43:41Z</dcterms:created>
  <dcterms:modified xsi:type="dcterms:W3CDTF">2026-04-29T03:21:27Z</dcterms:modified>
</cp:coreProperties>
</file>